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d09e67de44130" /><Relationship Type="http://schemas.openxmlformats.org/officeDocument/2006/relationships/extended-properties" Target="/docProps/app.xml" Id="R450a5b42735147e4" /><Relationship Type="http://schemas.openxmlformats.org/officeDocument/2006/relationships/officeDocument" Target="/ppt/presentation.xml" Id="R30aa46594e9c4a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a9cf3183c4b88"/>
  </p:sldMasterIdLst>
  <p:notesMasterIdLst>
    <p:notesMasterId xmlns:r="http://schemas.openxmlformats.org/officeDocument/2006/relationships" r:id="Rcb3e994b50154a7a"/>
  </p:notesMasterIdLst>
  <p:sldIdLst>
    <p:sldId xmlns:r="http://schemas.openxmlformats.org/officeDocument/2006/relationships" id="256" r:id="Rd385237e365a4ab1"/>
    <p:sldId xmlns:r="http://schemas.openxmlformats.org/officeDocument/2006/relationships" id="257" r:id="R5ae36f57c17a4533"/>
    <p:sldId xmlns:r="http://schemas.openxmlformats.org/officeDocument/2006/relationships" id="258" r:id="Rfca9048bc1604fb9"/>
    <p:sldId xmlns:r="http://schemas.openxmlformats.org/officeDocument/2006/relationships" id="259" r:id="R89e9eb89167f4e45"/>
    <p:sldId xmlns:r="http://schemas.openxmlformats.org/officeDocument/2006/relationships" id="260" r:id="Rbfaa85df5b1441ef"/>
    <p:sldId xmlns:r="http://schemas.openxmlformats.org/officeDocument/2006/relationships" id="261" r:id="Rc2d9bc0f63554333"/>
    <p:sldId xmlns:r="http://schemas.openxmlformats.org/officeDocument/2006/relationships" id="262" r:id="Re7487eebb7ab4848"/>
    <p:sldId xmlns:r="http://schemas.openxmlformats.org/officeDocument/2006/relationships" id="263" r:id="R2f04d4108a9d425c"/>
    <p:sldId xmlns:r="http://schemas.openxmlformats.org/officeDocument/2006/relationships" id="264" r:id="Rb3c6c58d1ac048bb"/>
    <p:sldId xmlns:r="http://schemas.openxmlformats.org/officeDocument/2006/relationships" id="265" r:id="Rd0c72e44748c452c"/>
    <p:sldId xmlns:r="http://schemas.openxmlformats.org/officeDocument/2006/relationships" id="266" r:id="R1b3d0ddd0f5446c9"/>
    <p:sldId xmlns:r="http://schemas.openxmlformats.org/officeDocument/2006/relationships" id="267" r:id="Rf8aa45e1ef914251"/>
    <p:sldId xmlns:r="http://schemas.openxmlformats.org/officeDocument/2006/relationships" id="268" r:id="Ref42495e01824793"/>
    <p:sldId xmlns:r="http://schemas.openxmlformats.org/officeDocument/2006/relationships" id="269" r:id="R922b2ac1b8994a4e"/>
    <p:sldId xmlns:r="http://schemas.openxmlformats.org/officeDocument/2006/relationships" id="270" r:id="Rbc3013776f174bf5"/>
    <p:sldId xmlns:r="http://schemas.openxmlformats.org/officeDocument/2006/relationships" id="271" r:id="R07617d5f1de3415b"/>
    <p:sldId xmlns:r="http://schemas.openxmlformats.org/officeDocument/2006/relationships" id="272" r:id="Rfa8a7fba9a7d4b15"/>
    <p:sldId xmlns:r="http://schemas.openxmlformats.org/officeDocument/2006/relationships" id="273" r:id="Rf6807b039c9342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9b38f5f6e4a21" /><Relationship Type="http://schemas.openxmlformats.org/officeDocument/2006/relationships/slideMaster" Target="/ppt/slideMasters/slideMaster1.xml" Id="R30aa9cf3183c4b88" /><Relationship Type="http://schemas.openxmlformats.org/officeDocument/2006/relationships/notesMaster" Target="/ppt/notesMasters/notesMaster1.xml" Id="Rcb3e994b50154a7a" /><Relationship Type="http://schemas.openxmlformats.org/officeDocument/2006/relationships/presProps" Target="/ppt/presProps.xml" Id="R5040deeedee14b56" /><Relationship Type="http://schemas.openxmlformats.org/officeDocument/2006/relationships/tableStyles" Target="/ppt/tableStyles.xml" Id="R51f5873bd9f14f2c" /><Relationship Type="http://schemas.openxmlformats.org/officeDocument/2006/relationships/slide" Target="/ppt/slides/slide1.xml" Id="Rd385237e365a4ab1" /><Relationship Type="http://schemas.openxmlformats.org/officeDocument/2006/relationships/slide" Target="/ppt/slides/slide2.xml" Id="R5ae36f57c17a4533" /><Relationship Type="http://schemas.openxmlformats.org/officeDocument/2006/relationships/slide" Target="/ppt/slides/slide3.xml" Id="Rfca9048bc1604fb9" /><Relationship Type="http://schemas.openxmlformats.org/officeDocument/2006/relationships/slide" Target="/ppt/slides/slide4.xml" Id="R89e9eb89167f4e45" /><Relationship Type="http://schemas.openxmlformats.org/officeDocument/2006/relationships/slide" Target="/ppt/slides/slide5.xml" Id="Rbfaa85df5b1441ef" /><Relationship Type="http://schemas.openxmlformats.org/officeDocument/2006/relationships/slide" Target="/ppt/slides/slide6.xml" Id="Rc2d9bc0f63554333" /><Relationship Type="http://schemas.openxmlformats.org/officeDocument/2006/relationships/slide" Target="/ppt/slides/slide7.xml" Id="Re7487eebb7ab4848" /><Relationship Type="http://schemas.openxmlformats.org/officeDocument/2006/relationships/slide" Target="/ppt/slides/slide8.xml" Id="R2f04d4108a9d425c" /><Relationship Type="http://schemas.openxmlformats.org/officeDocument/2006/relationships/slide" Target="/ppt/slides/slide9.xml" Id="Rb3c6c58d1ac048bb" /><Relationship Type="http://schemas.openxmlformats.org/officeDocument/2006/relationships/slide" Target="/ppt/slides/slide10.xml" Id="Rd0c72e44748c452c" /><Relationship Type="http://schemas.openxmlformats.org/officeDocument/2006/relationships/slide" Target="/ppt/slides/slide11.xml" Id="R1b3d0ddd0f5446c9" /><Relationship Type="http://schemas.openxmlformats.org/officeDocument/2006/relationships/slide" Target="/ppt/slides/slide12.xml" Id="Rf8aa45e1ef914251" /><Relationship Type="http://schemas.openxmlformats.org/officeDocument/2006/relationships/slide" Target="/ppt/slides/slide13.xml" Id="Ref42495e01824793" /><Relationship Type="http://schemas.openxmlformats.org/officeDocument/2006/relationships/slide" Target="/ppt/slides/slide14.xml" Id="R922b2ac1b8994a4e" /><Relationship Type="http://schemas.openxmlformats.org/officeDocument/2006/relationships/slide" Target="/ppt/slides/slide15.xml" Id="Rbc3013776f174bf5" /><Relationship Type="http://schemas.openxmlformats.org/officeDocument/2006/relationships/slide" Target="/ppt/slides/slide16.xml" Id="R07617d5f1de3415b" /><Relationship Type="http://schemas.openxmlformats.org/officeDocument/2006/relationships/slide" Target="/ppt/slides/slide17.xml" Id="Rfa8a7fba9a7d4b15" /><Relationship Type="http://schemas.openxmlformats.org/officeDocument/2006/relationships/slide" Target="/ppt/slides/slide18.xml" Id="Rf6807b039c9342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c4aba1acd43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7e6d9dcf44841" /><Relationship Type="http://schemas.openxmlformats.org/officeDocument/2006/relationships/notesMaster" Target="/ppt/notesMasters/notesMaster1.xml" Id="Ra1899b0df94b44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ad25119e94851" /><Relationship Type="http://schemas.openxmlformats.org/officeDocument/2006/relationships/notesMaster" Target="/ppt/notesMasters/notesMaster1.xml" Id="Ra566abf4eec945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4c241c0ee426c" /><Relationship Type="http://schemas.openxmlformats.org/officeDocument/2006/relationships/notesMaster" Target="/ppt/notesMasters/notesMaster1.xml" Id="R2d6f8bd12db148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99ec7b58f64433" /><Relationship Type="http://schemas.openxmlformats.org/officeDocument/2006/relationships/notesMaster" Target="/ppt/notesMasters/notesMaster1.xml" Id="R4601766d8e78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e2f49cc4934904" /><Relationship Type="http://schemas.openxmlformats.org/officeDocument/2006/relationships/notesMaster" Target="/ppt/notesMasters/notesMaster1.xml" Id="Ra3968a4bd551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de3d400daa4bc7" /><Relationship Type="http://schemas.openxmlformats.org/officeDocument/2006/relationships/notesMaster" Target="/ppt/notesMasters/notesMaster1.xml" Id="R2f3511f5bf5747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f1e57cfab8456a" /><Relationship Type="http://schemas.openxmlformats.org/officeDocument/2006/relationships/notesMaster" Target="/ppt/notesMasters/notesMaster1.xml" Id="R084818d91aaa47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78b466812c4d2d" /><Relationship Type="http://schemas.openxmlformats.org/officeDocument/2006/relationships/notesMaster" Target="/ppt/notesMasters/notesMaster1.xml" Id="R5c29fc660ef249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b2278a8d894496" /><Relationship Type="http://schemas.openxmlformats.org/officeDocument/2006/relationships/notesMaster" Target="/ppt/notesMasters/notesMaster1.xml" Id="Ra55870c92be949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6fd8bd19b54dba" /><Relationship Type="http://schemas.openxmlformats.org/officeDocument/2006/relationships/notesMaster" Target="/ppt/notesMasters/notesMaster1.xml" Id="R0efb362f160541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da3b4537564e7b" /><Relationship Type="http://schemas.openxmlformats.org/officeDocument/2006/relationships/notesMaster" Target="/ppt/notesMasters/notesMaster1.xml" Id="R75c232f4837a49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4c98b8fb454839" /><Relationship Type="http://schemas.openxmlformats.org/officeDocument/2006/relationships/notesMaster" Target="/ppt/notesMasters/notesMaster1.xml" Id="Ra5bfb01fc8474c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dc6832ba6c4685" /><Relationship Type="http://schemas.openxmlformats.org/officeDocument/2006/relationships/notesMaster" Target="/ppt/notesMasters/notesMaster1.xml" Id="R48a67214f77b41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a2ffb2c0cc41b9" /><Relationship Type="http://schemas.openxmlformats.org/officeDocument/2006/relationships/notesMaster" Target="/ppt/notesMasters/notesMaster1.xml" Id="Rb7d1cf16114a46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4ec0d4a10343cb" /><Relationship Type="http://schemas.openxmlformats.org/officeDocument/2006/relationships/notesMaster" Target="/ppt/notesMasters/notesMaster1.xml" Id="R8eac4110b3c742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4a3d8136fb463d" /><Relationship Type="http://schemas.openxmlformats.org/officeDocument/2006/relationships/notesMaster" Target="/ppt/notesMasters/notesMaster1.xml" Id="R5e1de127bd2e4b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24faeaaa3c439b" /><Relationship Type="http://schemas.openxmlformats.org/officeDocument/2006/relationships/notesMaster" Target="/ppt/notesMasters/notesMaster1.xml" Id="R0b560e50614c48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c783bc75cb4fa2" /><Relationship Type="http://schemas.openxmlformats.org/officeDocument/2006/relationships/notesMaster" Target="/ppt/notesMasters/notesMaster1.xml" Id="R3984a1c1858640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top.v, main_controller.v, fnd_controller.v, tick_generator.v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Basys3-Master_orginal.xdc:7-8, 27, 31-73; main_controller.v:93-102, 113-117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top.v:3-56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main_controller.v:51-68, 109-117; fnd_controller.v:74-86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main_controller.v:22-25, 72-105. 별도 enum FSM은 없으며 r_stopwatch_mode, r_stopwatch_running, r_animation_active 조합으로 상태가 표현됨.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main_controller.v:28-42, 51-68, 93-102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main_controller_tb.v:3-89; test.bat 실행 결과 PASS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main_controller_tb.v:41-89. 아래는 testbench 시나리오를 요약한 해석도이며, 실제 오실로스코프 캡처가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top_timing_summary_routed.rpt:142-147, 219-221; top_utilization_placed.rpt:35,38; top_timing_summary_routed.rpt:44,70,90-101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btn_debounce.v:39-64; fnd_controller.v:58-67; timing report warnings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보드 영상은 제공되지 않아 삽입하지 않음. 촬영 후 이 슬라이드의 QR/썸네일 영역에 교체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FPGA 타이밍 개념. 프로젝트의 100 MHz constraint는 XDC:8, timing report의 setup/hold 결과는 slide 10 참고.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연결: btn_debounce.v에는 debouncer는 있으나 2-FF synchronizer가 없음. 개선 방향 설명용.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조합 논리 개념. 프로젝트 개선 시 display control과 clock enable 경로에 적용.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 FPGA 배선·타이밍 개념. 프로젝트에서는 100 MHz clk이 여러 모듈을 구동함.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소스 코드·testbench·implementation report 분석 결과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1d530ff8f42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fd8a6248547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849a8404e43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17461f1044e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876a3117942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c02ec96a5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5A42C8-0018-49B0-9980-584FB7A71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8D138D-6DA1-400B-BE6D-27DAF21C3D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1F2E58-D47B-40FE-84B4-60C3BFE77A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2AB632-77A7-4ECA-BE30-F46395FC3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DB00EC-A709-4165-B7DB-9F99DDBD9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CA68FB-5C36-42CD-A1E1-2B5268E50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68E668-8835-4993-BB33-316F491A5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B00ED5-4B39-40E6-BA44-336ECB509A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C2871D-3F3D-42D5-B43C-B44178263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C6324B-0281-42C5-AFF8-E6BC5FFEE8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f2999f76145dc" /><Relationship Type="http://schemas.openxmlformats.org/officeDocument/2006/relationships/slideLayout" Target="/ppt/slideLayouts/slideLayout1.xml" Id="R89241553ccfc4a27" /><Relationship Type="http://schemas.openxmlformats.org/officeDocument/2006/relationships/slideLayout" Target="/ppt/slideLayouts/slideLayout2.xml" Id="Rbd047b3d54cc407f" /><Relationship Type="http://schemas.openxmlformats.org/officeDocument/2006/relationships/slideLayout" Target="/ppt/slideLayouts/slideLayout3.xml" Id="R6a8feaf1424f414a" /><Relationship Type="http://schemas.openxmlformats.org/officeDocument/2006/relationships/slideLayout" Target="/ppt/slideLayouts/slideLayout4.xml" Id="R14dbeac975bd45d5" /><Relationship Type="http://schemas.openxmlformats.org/officeDocument/2006/relationships/slideLayout" Target="/ppt/slideLayouts/slideLayout5.xml" Id="R5174183a4a0d451c" /><Relationship Type="http://schemas.openxmlformats.org/officeDocument/2006/relationships/slideLayout" Target="/ppt/slideLayouts/slideLayout6.xml" Id="Rf0153a0f9e94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41553ccfc4a27"/>
    <p:sldLayoutId xmlns:r="http://schemas.openxmlformats.org/officeDocument/2006/relationships" id="2147483650" r:id="Rbd047b3d54cc407f"/>
    <p:sldLayoutId xmlns:r="http://schemas.openxmlformats.org/officeDocument/2006/relationships" id="2147483651" r:id="R6a8feaf1424f414a"/>
    <p:sldLayoutId xmlns:r="http://schemas.openxmlformats.org/officeDocument/2006/relationships" id="2147483652" r:id="R14dbeac975bd45d5"/>
    <p:sldLayoutId xmlns:r="http://schemas.openxmlformats.org/officeDocument/2006/relationships" id="2147483653" r:id="R5174183a4a0d451c"/>
    <p:sldLayoutId xmlns:r="http://schemas.openxmlformats.org/officeDocument/2006/relationships" id="2147483654" r:id="Rf0153a0f9e94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915c82c52484e" /><Relationship Type="http://schemas.openxmlformats.org/officeDocument/2006/relationships/notesSlide" Target="/ppt/notesSlides/notesSlide1.xml" Id="R5fc408a1c1ba4f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b2d13a51734820" /><Relationship Type="http://schemas.openxmlformats.org/officeDocument/2006/relationships/notesSlide" Target="/ppt/notesSlides/notesSlide2.xml" Id="R42ea4678bd5f46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715692eae4b04" /><Relationship Type="http://schemas.openxmlformats.org/officeDocument/2006/relationships/notesSlide" Target="/ppt/notesSlides/notesSlide3.xml" Id="R8d68b7b0b5614c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449accbe540dd" /><Relationship Type="http://schemas.openxmlformats.org/officeDocument/2006/relationships/notesSlide" Target="/ppt/notesSlides/notesSlide4.xml" Id="Rddea99ad822940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baef70d914653" /><Relationship Type="http://schemas.openxmlformats.org/officeDocument/2006/relationships/notesSlide" Target="/ppt/notesSlides/notesSlide5.xml" Id="Ra1afae354f4442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b17658c884162" /><Relationship Type="http://schemas.openxmlformats.org/officeDocument/2006/relationships/notesSlide" Target="/ppt/notesSlides/notesSlide6.xml" Id="Rce5e739abc2a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d09afb8c24a98" /><Relationship Type="http://schemas.openxmlformats.org/officeDocument/2006/relationships/notesSlide" Target="/ppt/notesSlides/notesSlide7.xml" Id="Ref48b5f4680643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e85a50e794fb6" /><Relationship Type="http://schemas.openxmlformats.org/officeDocument/2006/relationships/notesSlide" Target="/ppt/notesSlides/notesSlide8.xml" Id="R2bd57931ce104d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632ad53f54dd0" /><Relationship Type="http://schemas.openxmlformats.org/officeDocument/2006/relationships/notesSlide" Target="/ppt/notesSlides/notesSlide9.xml" Id="R69123705b20849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782cd92e24383" /><Relationship Type="http://schemas.openxmlformats.org/officeDocument/2006/relationships/notesSlide" Target="/ppt/notesSlides/notesSlide10.xml" Id="R8e78e8c67bea40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26f10d26948c1" /><Relationship Type="http://schemas.openxmlformats.org/officeDocument/2006/relationships/notesSlide" Target="/ppt/notesSlides/notesSlide11.xml" Id="R85441898899940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e7cd41dda432f" /><Relationship Type="http://schemas.openxmlformats.org/officeDocument/2006/relationships/notesSlide" Target="/ppt/notesSlides/notesSlide12.xml" Id="R8a92e3f61e3b4a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12145ed504652" /><Relationship Type="http://schemas.openxmlformats.org/officeDocument/2006/relationships/notesSlide" Target="/ppt/notesSlides/notesSlide13.xml" Id="R77fecedf5c4d4d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248087e3f44e8" /><Relationship Type="http://schemas.openxmlformats.org/officeDocument/2006/relationships/notesSlide" Target="/ppt/notesSlides/notesSlide14.xml" Id="R04133948a0eb4c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d35ec899747a2" /><Relationship Type="http://schemas.openxmlformats.org/officeDocument/2006/relationships/notesSlide" Target="/ppt/notesSlides/notesSlide15.xml" Id="R788a6463291a43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b071eaaae49ed" /><Relationship Type="http://schemas.openxmlformats.org/officeDocument/2006/relationships/notesSlide" Target="/ppt/notesSlides/notesSlide16.xml" Id="Rd2086e8688384c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f64a6ecd746bd" /><Relationship Type="http://schemas.openxmlformats.org/officeDocument/2006/relationships/notesSlide" Target="/ppt/notesSlides/notesSlide17.xml" Id="Raae4422e68b94b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89aeb2bc14ce9" /><Relationship Type="http://schemas.openxmlformats.org/officeDocument/2006/relationships/notesSlide" Target="/ppt/notesSlides/notesSlide18.xml" Id="R83a3ad55e877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DB660-4BB8-40F4-B56B-D75E4436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9FB3C8"/>
                </a:solidFill>
              </a:defRPr>
            </a:defPPr>
            <a:lvl1pPr algn="l">
              <a:defRPr sz="1500" b="1">
                <a:solidFill>
                  <a:srgbClr val="9FB3C8"/>
                </a:solidFill>
              </a:defRPr>
            </a:lvl1pPr>
            <a:lvl2pPr algn="l">
              <a:defRPr sz="1500" b="1">
                <a:solidFill>
                  <a:srgbClr val="9FB3C8"/>
                </a:solidFill>
              </a:defRPr>
            </a:lvl2pPr>
            <a:lvl3pPr algn="l">
              <a:defRPr sz="1500" b="1">
                <a:solidFill>
                  <a:srgbClr val="9FB3C8"/>
                </a:solidFill>
              </a:defRPr>
            </a:lvl3pPr>
            <a:lvl4pPr algn="l">
              <a:defRPr sz="1500" b="1">
                <a:solidFill>
                  <a:srgbClr val="9FB3C8"/>
                </a:solidFill>
              </a:defRPr>
            </a:lvl4pPr>
            <a:lvl5pPr algn="l">
              <a:defRPr sz="1500" b="1">
                <a:solidFill>
                  <a:srgbClr val="9FB3C8"/>
                </a:solidFill>
              </a:defRPr>
            </a:lvl5pPr>
            <a:lvl6pPr algn="l">
              <a:defRPr sz="1500" b="1">
                <a:solidFill>
                  <a:srgbClr val="9FB3C8"/>
                </a:solidFill>
              </a:defRPr>
            </a:lvl6pPr>
            <a:lvl7pPr algn="l">
              <a:defRPr sz="1500" b="1">
                <a:solidFill>
                  <a:srgbClr val="9FB3C8"/>
                </a:solidFill>
              </a:defRPr>
            </a:lvl7pPr>
            <a:lvl8pPr algn="l">
              <a:defRPr sz="1500" b="1">
                <a:solidFill>
                  <a:srgbClr val="9FB3C8"/>
                </a:solidFill>
              </a:defRPr>
            </a:lvl8pPr>
            <a:lvl9pPr algn="l">
              <a:defRPr sz="1500" b="1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9FB3C8"/>
                </a:solidFill>
              </a:defRPr>
            </a:pPr>
            <a:r>
              <a:rPr sz="1500" b="1">
                <a:solidFill>
                  <a:srgbClr val="9FB3C8"/>
                </a:solidFill>
              </a:rPr>
              <a:t>BASYS3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44B10-42A5-4A60-B42F-F056F3B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분·초 시계 및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스톱워치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0DBD-74BC-4E09-A94B-9B7C7AF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9E2EC"/>
                </a:solidFill>
              </a:defRPr>
            </a:defPPr>
            <a:lvl1pPr algn="l">
              <a:defRPr sz="1725" b="0">
                <a:solidFill>
                  <a:srgbClr val="D9E2EC"/>
                </a:solidFill>
              </a:defRPr>
            </a:lvl1pPr>
            <a:lvl2pPr algn="l">
              <a:defRPr sz="1725" b="0">
                <a:solidFill>
                  <a:srgbClr val="D9E2EC"/>
                </a:solidFill>
              </a:defRPr>
            </a:lvl2pPr>
            <a:lvl3pPr algn="l">
              <a:defRPr sz="1725" b="0">
                <a:solidFill>
                  <a:srgbClr val="D9E2EC"/>
                </a:solidFill>
              </a:defRPr>
            </a:lvl3pPr>
            <a:lvl4pPr algn="l">
              <a:defRPr sz="1725" b="0">
                <a:solidFill>
                  <a:srgbClr val="D9E2EC"/>
                </a:solidFill>
              </a:defRPr>
            </a:lvl4pPr>
            <a:lvl5pPr algn="l">
              <a:defRPr sz="1725" b="0">
                <a:solidFill>
                  <a:srgbClr val="D9E2EC"/>
                </a:solidFill>
              </a:defRPr>
            </a:lvl5pPr>
            <a:lvl6pPr algn="l">
              <a:defRPr sz="1725" b="0">
                <a:solidFill>
                  <a:srgbClr val="D9E2EC"/>
                </a:solidFill>
              </a:defRPr>
            </a:lvl6pPr>
            <a:lvl7pPr algn="l">
              <a:defRPr sz="1725" b="0">
                <a:solidFill>
                  <a:srgbClr val="D9E2EC"/>
                </a:solidFill>
              </a:defRPr>
            </a:lvl7pPr>
            <a:lvl8pPr algn="l">
              <a:defRPr sz="1725" b="0">
                <a:solidFill>
                  <a:srgbClr val="D9E2EC"/>
                </a:solidFill>
              </a:defRPr>
            </a:lvl8pPr>
            <a:lvl9pPr algn="l">
              <a:defRPr sz="1725" b="0">
                <a:solidFill>
                  <a:srgbClr val="D9E2EC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9E2EC"/>
                </a:solidFill>
              </a:defRPr>
            </a:pPr>
            <a:r>
              <a:rPr sz="1725" b="0">
                <a:solidFill>
                  <a:srgbClr val="D9E2EC"/>
                </a:solidFill>
              </a:rPr>
              <a:t>Verilog 기반 디지털 시스템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4964D-1FDA-45AD-9436-D0ABCC06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FB3C8"/>
                </a:solidFill>
              </a:defRPr>
            </a:defPPr>
            <a:lvl1pPr algn="l">
              <a:defRPr sz="1275" b="0">
                <a:solidFill>
                  <a:srgbClr val="9FB3C8"/>
                </a:solidFill>
              </a:defRPr>
            </a:lvl1pPr>
            <a:lvl2pPr algn="l">
              <a:defRPr sz="1275" b="0">
                <a:solidFill>
                  <a:srgbClr val="9FB3C8"/>
                </a:solidFill>
              </a:defRPr>
            </a:lvl2pPr>
            <a:lvl3pPr algn="l">
              <a:defRPr sz="1275" b="0">
                <a:solidFill>
                  <a:srgbClr val="9FB3C8"/>
                </a:solidFill>
              </a:defRPr>
            </a:lvl3pPr>
            <a:lvl4pPr algn="l">
              <a:defRPr sz="1275" b="0">
                <a:solidFill>
                  <a:srgbClr val="9FB3C8"/>
                </a:solidFill>
              </a:defRPr>
            </a:lvl4pPr>
            <a:lvl5pPr algn="l">
              <a:defRPr sz="1275" b="0">
                <a:solidFill>
                  <a:srgbClr val="9FB3C8"/>
                </a:solidFill>
              </a:defRPr>
            </a:lvl5pPr>
            <a:lvl6pPr algn="l">
              <a:defRPr sz="1275" b="0">
                <a:solidFill>
                  <a:srgbClr val="9FB3C8"/>
                </a:solidFill>
              </a:defRPr>
            </a:lvl6pPr>
            <a:lvl7pPr algn="l">
              <a:defRPr sz="1275" b="0">
                <a:solidFill>
                  <a:srgbClr val="9FB3C8"/>
                </a:solidFill>
              </a:defRPr>
            </a:lvl7pPr>
            <a:lvl8pPr algn="l">
              <a:defRPr sz="1275" b="0">
                <a:solidFill>
                  <a:srgbClr val="9FB3C8"/>
                </a:solidFill>
              </a:defRPr>
            </a:lvl8pPr>
            <a:lvl9pPr algn="l">
              <a:defRPr sz="1275" b="0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FB3C8"/>
                </a:solidFill>
              </a:defRPr>
            </a:pPr>
            <a:r>
              <a:rPr sz="1275" b="0">
                <a:solidFill>
                  <a:srgbClr val="9FB3C8"/>
                </a:solidFill>
              </a:rPr>
              <a:t>과목명  |  이름  |  발표일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D94B6-A2E4-4723-A116-7E38F7C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E2904-C732-4AF7-82BC-16EF5435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4762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76EFF-BEEE-4488-88B5-E44F553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9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8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D2EB3-0C4C-4EFA-83EE-036FF45B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71675"/>
            <a:ext cx="4762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7C5E9-58CE-4914-AFFE-C227B4F5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B3922-A0A9-4E31-8368-787F92B5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71675"/>
            <a:ext cx="4762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1E83F-E3E2-44BC-8AD6-70862C07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98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59D53-803C-4B0A-884E-795053AE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762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8E1FF-A474-494F-A73D-D50F1956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095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</a:defRPr>
            </a:defPPr>
            <a:lvl1pPr algn="ctr">
              <a:defRPr sz="2550" b="1">
                <a:solidFill>
                  <a:srgbClr val="FFFFFF"/>
                </a:solidFill>
              </a:defRPr>
            </a:lvl1pPr>
            <a:lvl2pPr algn="ctr">
              <a:defRPr sz="2550" b="1">
                <a:solidFill>
                  <a:srgbClr val="FFFFFF"/>
                </a:solidFill>
              </a:defRPr>
            </a:lvl2pPr>
            <a:lvl3pPr algn="ctr">
              <a:defRPr sz="2550" b="1">
                <a:solidFill>
                  <a:srgbClr val="FFFFFF"/>
                </a:solidFill>
              </a:defRPr>
            </a:lvl3pPr>
            <a:lvl4pPr algn="ctr">
              <a:defRPr sz="2550" b="1">
                <a:solidFill>
                  <a:srgbClr val="FFFFFF"/>
                </a:solidFill>
              </a:defRPr>
            </a:lvl4pPr>
            <a:lvl5pPr algn="ctr">
              <a:defRPr sz="2550" b="1">
                <a:solidFill>
                  <a:srgbClr val="FFFFFF"/>
                </a:solidFill>
              </a:defRPr>
            </a:lvl5pPr>
            <a:lvl6pPr algn="ctr">
              <a:defRPr sz="2550" b="1">
                <a:solidFill>
                  <a:srgbClr val="FFFFFF"/>
                </a:solidFill>
              </a:defRPr>
            </a:lvl6pPr>
            <a:lvl7pPr algn="ctr">
              <a:defRPr sz="2550" b="1">
                <a:solidFill>
                  <a:srgbClr val="FFFFFF"/>
                </a:solidFill>
              </a:defRPr>
            </a:lvl7pPr>
            <a:lvl8pPr algn="ctr">
              <a:defRPr sz="2550" b="1">
                <a:solidFill>
                  <a:srgbClr val="FFFFFF"/>
                </a:solidFill>
              </a:defRPr>
            </a:lvl8pPr>
            <a:lvl9pPr algn="ctr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MM:SS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B566C-B3B6-443F-B194-201CFF7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9FB3C8"/>
                </a:solidFill>
              </a:defRPr>
            </a:defPPr>
            <a:lvl1pPr algn="ctr">
              <a:defRPr sz="1200" b="0">
                <a:solidFill>
                  <a:srgbClr val="9FB3C8"/>
                </a:solidFill>
              </a:defRPr>
            </a:lvl1pPr>
            <a:lvl2pPr algn="ctr">
              <a:defRPr sz="1200" b="0">
                <a:solidFill>
                  <a:srgbClr val="9FB3C8"/>
                </a:solidFill>
              </a:defRPr>
            </a:lvl2pPr>
            <a:lvl3pPr algn="ctr">
              <a:defRPr sz="1200" b="0">
                <a:solidFill>
                  <a:srgbClr val="9FB3C8"/>
                </a:solidFill>
              </a:defRPr>
            </a:lvl3pPr>
            <a:lvl4pPr algn="ctr">
              <a:defRPr sz="1200" b="0">
                <a:solidFill>
                  <a:srgbClr val="9FB3C8"/>
                </a:solidFill>
              </a:defRPr>
            </a:lvl4pPr>
            <a:lvl5pPr algn="ctr">
              <a:defRPr sz="1200" b="0">
                <a:solidFill>
                  <a:srgbClr val="9FB3C8"/>
                </a:solidFill>
              </a:defRPr>
            </a:lvl5pPr>
            <a:lvl6pPr algn="ctr">
              <a:defRPr sz="1200" b="0">
                <a:solidFill>
                  <a:srgbClr val="9FB3C8"/>
                </a:solidFill>
              </a:defRPr>
            </a:lvl6pPr>
            <a:lvl7pPr algn="ctr">
              <a:defRPr sz="1200" b="0">
                <a:solidFill>
                  <a:srgbClr val="9FB3C8"/>
                </a:solidFill>
              </a:defRPr>
            </a:lvl7pPr>
            <a:lvl8pPr algn="ctr">
              <a:defRPr sz="1200" b="0">
                <a:solidFill>
                  <a:srgbClr val="9FB3C8"/>
                </a:solidFill>
              </a:defRPr>
            </a:lvl8pPr>
            <a:lvl9pPr algn="ctr">
              <a:defRPr sz="1200" b="0">
                <a:solidFill>
                  <a:srgbClr val="9FB3C8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9FB3C8"/>
                </a:solidFill>
              </a:defRPr>
            </a:pPr>
            <a:r>
              <a:rPr sz="1200" b="0">
                <a:solidFill>
                  <a:srgbClr val="9FB3C8"/>
                </a:solidFill>
              </a:rPr>
              <a:t>100 MHz clock / 7-segment LED</a:t>
            </a:r>
          </a:p>
        </p:txBody>
      </p:sp>
    </p:spTree>
    <p:extLst>
      <p:ext uri="{BB962C8B-B14F-4D97-AF65-F5344CB8AC3E}">
        <p14:creationId xmlns:p14="http://schemas.microsoft.com/office/powerpoint/2010/main" val="1776628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95EF6-9C8B-43A7-BD55-A630E4FA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90196-A524-4FA2-BA0B-A557DB6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5333A-9E01-4859-A02F-66A8E63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4089-2D9A-497D-B41C-DF83C0D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445C-2D70-4657-835E-2AE342B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677B8"/>
                </a:solidFill>
              </a:defRPr>
            </a:defPPr>
            <a:lvl1pPr algn="l">
              <a:defRPr sz="1650" b="1">
                <a:solidFill>
                  <a:srgbClr val="1677B8"/>
                </a:solidFill>
              </a:defRPr>
            </a:lvl1pPr>
            <a:lvl2pPr algn="l">
              <a:defRPr sz="1650" b="1">
                <a:solidFill>
                  <a:srgbClr val="1677B8"/>
                </a:solidFill>
              </a:defRPr>
            </a:lvl2pPr>
            <a:lvl3pPr algn="l">
              <a:defRPr sz="1650" b="1">
                <a:solidFill>
                  <a:srgbClr val="1677B8"/>
                </a:solidFill>
              </a:defRPr>
            </a:lvl3pPr>
            <a:lvl4pPr algn="l">
              <a:defRPr sz="1650" b="1">
                <a:solidFill>
                  <a:srgbClr val="1677B8"/>
                </a:solidFill>
              </a:defRPr>
            </a:lvl4pPr>
            <a:lvl5pPr algn="l">
              <a:defRPr sz="1650" b="1">
                <a:solidFill>
                  <a:srgbClr val="1677B8"/>
                </a:solidFill>
              </a:defRPr>
            </a:lvl5pPr>
            <a:lvl6pPr algn="l">
              <a:defRPr sz="1650" b="1">
                <a:solidFill>
                  <a:srgbClr val="1677B8"/>
                </a:solidFill>
              </a:defRPr>
            </a:lvl6pPr>
            <a:lvl7pPr algn="l">
              <a:defRPr sz="1650" b="1">
                <a:solidFill>
                  <a:srgbClr val="1677B8"/>
                </a:solidFill>
              </a:defRPr>
            </a:lvl7pPr>
            <a:lvl8pPr algn="l">
              <a:defRPr sz="1650" b="1">
                <a:solidFill>
                  <a:srgbClr val="1677B8"/>
                </a:solidFill>
              </a:defRPr>
            </a:lvl8pPr>
            <a:lvl9pPr algn="l">
              <a:defRPr sz="165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7B8"/>
                </a:solidFill>
              </a:defRPr>
            </a:pPr>
            <a:r>
              <a:rPr sz="1650" b="1">
                <a:solidFill>
                  <a:srgbClr val="1677B8"/>
                </a:solidFill>
              </a:rPr>
              <a:t>목표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9C9F6-FDC9-4482-A506-DCE5DBE1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243B53"/>
                </a:solidFill>
              </a:defRPr>
            </a:defPPr>
            <a:lvl1pPr algn="l">
              <a:defRPr sz="1725" b="1">
                <a:solidFill>
                  <a:srgbClr val="243B53"/>
                </a:solidFill>
              </a:defRPr>
            </a:lvl1pPr>
            <a:lvl2pPr algn="l">
              <a:defRPr sz="1725" b="1">
                <a:solidFill>
                  <a:srgbClr val="243B53"/>
                </a:solidFill>
              </a:defRPr>
            </a:lvl2pPr>
            <a:lvl3pPr algn="l">
              <a:defRPr sz="1725" b="1">
                <a:solidFill>
                  <a:srgbClr val="243B53"/>
                </a:solidFill>
              </a:defRPr>
            </a:lvl3pPr>
            <a:lvl4pPr algn="l">
              <a:defRPr sz="1725" b="1">
                <a:solidFill>
                  <a:srgbClr val="243B53"/>
                </a:solidFill>
              </a:defRPr>
            </a:lvl4pPr>
            <a:lvl5pPr algn="l">
              <a:defRPr sz="1725" b="1">
                <a:solidFill>
                  <a:srgbClr val="243B53"/>
                </a:solidFill>
              </a:defRPr>
            </a:lvl5pPr>
            <a:lvl6pPr algn="l">
              <a:defRPr sz="1725" b="1">
                <a:solidFill>
                  <a:srgbClr val="243B53"/>
                </a:solidFill>
              </a:defRPr>
            </a:lvl6pPr>
            <a:lvl7pPr algn="l">
              <a:defRPr sz="1725" b="1">
                <a:solidFill>
                  <a:srgbClr val="243B53"/>
                </a:solidFill>
              </a:defRPr>
            </a:lvl7pPr>
            <a:lvl8pPr algn="l">
              <a:defRPr sz="1725" b="1">
                <a:solidFill>
                  <a:srgbClr val="243B53"/>
                </a:solidFill>
              </a:defRPr>
            </a:lvl8pPr>
            <a:lvl9pPr algn="l">
              <a:defRPr sz="17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BASYS3의 버튼과 7-segment LED를 이용해 시계와 스톱워치를 한 시스템으로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E2EE0-EED8-4867-B134-2659CD8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분·초 시계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F62F2-D71F-4F52-A9C9-99D00F21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00:00부터 59:59까지 반복 카운트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DABF-2F1F-4AAE-8A38-2E6190AC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412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스톱워치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3131E-EF69-4DDF-80EE-2B9A565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57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모드 전환 후 시작·정지·초기화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A47FC-40F5-4094-81F5-B3FC371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표시 제어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15EC2-DA62-4F62-92C4-5F280A35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862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4자리 FND를 1 ms 단위로 스캔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0892C-F682-4ADF-912B-48BE5D78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5287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E335C-ADDE-490E-BF92-E5C35C18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862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가속 클록 Testbench와 timing report 확인</a:t>
            </a:r>
          </a:p>
        </p:txBody>
      </p:sp>
    </p:spTree>
    <p:extLst>
      <p:ext uri="{BB962C8B-B14F-4D97-AF65-F5344CB8AC3E}">
        <p14:creationId xmlns:p14="http://schemas.microsoft.com/office/powerpoint/2010/main" val="1181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72409-8D65-4D10-AE45-7CEEFDA5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구현 환경과 사용자 조작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83FC7-4F3B-49F1-9822-98DB3C6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54512-BF08-4C4C-ABB8-4FE605BE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F7183-B856-46E2-99E4-FA0B8745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EA43F-1CCE-427A-A98C-0907A174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2857500" cy="3352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A1902-6BA8-4D75-86C1-4D16EB33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102A43"/>
                </a:solidFill>
              </a:defRPr>
            </a:defPPr>
            <a:lvl1pPr algn="ctr">
              <a:defRPr sz="2700" b="1">
                <a:solidFill>
                  <a:srgbClr val="102A43"/>
                </a:solidFill>
              </a:defRPr>
            </a:lvl1pPr>
            <a:lvl2pPr algn="ctr">
              <a:defRPr sz="2700" b="1">
                <a:solidFill>
                  <a:srgbClr val="102A43"/>
                </a:solidFill>
              </a:defRPr>
            </a:lvl2pPr>
            <a:lvl3pPr algn="ctr">
              <a:defRPr sz="2700" b="1">
                <a:solidFill>
                  <a:srgbClr val="102A43"/>
                </a:solidFill>
              </a:defRPr>
            </a:lvl3pPr>
            <a:lvl4pPr algn="ctr">
              <a:defRPr sz="2700" b="1">
                <a:solidFill>
                  <a:srgbClr val="102A43"/>
                </a:solidFill>
              </a:defRPr>
            </a:lvl4pPr>
            <a:lvl5pPr algn="ctr">
              <a:defRPr sz="2700" b="1">
                <a:solidFill>
                  <a:srgbClr val="102A43"/>
                </a:solidFill>
              </a:defRPr>
            </a:lvl5pPr>
            <a:lvl6pPr algn="ctr">
              <a:defRPr sz="2700" b="1">
                <a:solidFill>
                  <a:srgbClr val="102A43"/>
                </a:solidFill>
              </a:defRPr>
            </a:lvl6pPr>
            <a:lvl7pPr algn="ctr">
              <a:defRPr sz="2700" b="1">
                <a:solidFill>
                  <a:srgbClr val="102A43"/>
                </a:solidFill>
              </a:defRPr>
            </a:lvl7pPr>
            <a:lvl8pPr algn="ctr">
              <a:defRPr sz="2700" b="1">
                <a:solidFill>
                  <a:srgbClr val="102A43"/>
                </a:solidFill>
              </a:defRPr>
            </a:lvl8pPr>
            <a:lvl9pPr algn="ctr"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Basys3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08CBC-ED7A-4A56-A8DD-85CBB6B3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43125"/>
            <a:ext cx="2333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243B53"/>
                </a:solidFill>
              </a:defRPr>
            </a:defPPr>
            <a:lvl1pPr algn="ctr">
              <a:defRPr sz="1350" b="0">
                <a:solidFill>
                  <a:srgbClr val="243B53"/>
                </a:solidFill>
              </a:defRPr>
            </a:lvl1pPr>
            <a:lvl2pPr algn="ctr">
              <a:defRPr sz="1350" b="0">
                <a:solidFill>
                  <a:srgbClr val="243B53"/>
                </a:solidFill>
              </a:defRPr>
            </a:lvl2pPr>
            <a:lvl3pPr algn="ctr">
              <a:defRPr sz="1350" b="0">
                <a:solidFill>
                  <a:srgbClr val="243B53"/>
                </a:solidFill>
              </a:defRPr>
            </a:lvl3pPr>
            <a:lvl4pPr algn="ctr">
              <a:defRPr sz="1350" b="0">
                <a:solidFill>
                  <a:srgbClr val="243B53"/>
                </a:solidFill>
              </a:defRPr>
            </a:lvl4pPr>
            <a:lvl5pPr algn="ctr">
              <a:defRPr sz="1350" b="0">
                <a:solidFill>
                  <a:srgbClr val="243B53"/>
                </a:solidFill>
              </a:defRPr>
            </a:lvl5pPr>
            <a:lvl6pPr algn="ctr">
              <a:defRPr sz="1350" b="0">
                <a:solidFill>
                  <a:srgbClr val="243B53"/>
                </a:solidFill>
              </a:defRPr>
            </a:lvl6pPr>
            <a:lvl7pPr algn="ctr">
              <a:defRPr sz="1350" b="0">
                <a:solidFill>
                  <a:srgbClr val="243B53"/>
                </a:solidFill>
              </a:defRPr>
            </a:lvl7pPr>
            <a:lvl8pPr algn="ctr">
              <a:defRPr sz="1350" b="0">
                <a:solidFill>
                  <a:srgbClr val="243B53"/>
                </a:solidFill>
              </a:defRPr>
            </a:lvl8pPr>
            <a:lvl9pPr algn="ctr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100 MHz system clock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reset: 독립 reset 포트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4자리 7-segment LED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LED[0]: stopwatch mode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LED[1]: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3F8DE-9965-4E9E-9938-2734954A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3827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BTN 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2BA4D-8CBD-4B21-8B5A-F8A4E7A1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2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시계 / 스톱워치 모드 전환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3E55D-1A0D-4116-BFB5-B69B1C66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0507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BTN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1A14-5078-44D5-A416-877F5BE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90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스톱워치 00:00 초기화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6191B-A04A-4BB0-83C7-FA0E98C7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71875"/>
            <a:ext cx="1219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BTN 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C9D88-0696-474F-A52F-E32E09F0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57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스톱워치 시작·정지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C67C-EA26-4CE4-91C3-AE145444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53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68131"/>
                </a:solidFill>
              </a:defRPr>
            </a:defPPr>
            <a:lvl1pPr algn="l">
              <a:defRPr sz="1500" b="1">
                <a:solidFill>
                  <a:srgbClr val="E68131"/>
                </a:solidFill>
              </a:defRPr>
            </a:lvl1pPr>
            <a:lvl2pPr algn="l">
              <a:defRPr sz="1500" b="1">
                <a:solidFill>
                  <a:srgbClr val="E68131"/>
                </a:solidFill>
              </a:defRPr>
            </a:lvl2pPr>
            <a:lvl3pPr algn="l">
              <a:defRPr sz="1500" b="1">
                <a:solidFill>
                  <a:srgbClr val="E68131"/>
                </a:solidFill>
              </a:defRPr>
            </a:lvl3pPr>
            <a:lvl4pPr algn="l">
              <a:defRPr sz="1500" b="1">
                <a:solidFill>
                  <a:srgbClr val="E68131"/>
                </a:solidFill>
              </a:defRPr>
            </a:lvl4pPr>
            <a:lvl5pPr algn="l">
              <a:defRPr sz="1500" b="1">
                <a:solidFill>
                  <a:srgbClr val="E68131"/>
                </a:solidFill>
              </a:defRPr>
            </a:lvl5pPr>
            <a:lvl6pPr algn="l">
              <a:defRPr sz="1500" b="1">
                <a:solidFill>
                  <a:srgbClr val="E68131"/>
                </a:solidFill>
              </a:defRPr>
            </a:lvl6pPr>
            <a:lvl7pPr algn="l">
              <a:defRPr sz="1500" b="1">
                <a:solidFill>
                  <a:srgbClr val="E68131"/>
                </a:solidFill>
              </a:defRPr>
            </a:lvl7pPr>
            <a:lvl8pPr algn="l">
              <a:defRPr sz="1500" b="1">
                <a:solidFill>
                  <a:srgbClr val="E68131"/>
                </a:solidFill>
              </a:defRPr>
            </a:lvl8pPr>
            <a:lvl9pPr algn="l">
              <a:defRPr sz="1500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68131"/>
                </a:solidFill>
              </a:defRPr>
            </a:pPr>
            <a:r>
              <a:rPr sz="1500" b="1">
                <a:solidFill>
                  <a:srgbClr val="E68131"/>
                </a:solidFill>
              </a:rPr>
              <a:t>표시 형식: MM:SS</a:t>
            </a:r>
          </a:p>
        </p:txBody>
      </p:sp>
    </p:spTree>
    <p:extLst>
      <p:ext uri="{BB962C8B-B14F-4D97-AF65-F5344CB8AC3E}">
        <p14:creationId xmlns:p14="http://schemas.microsoft.com/office/powerpoint/2010/main" val="1398713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1BF5E-B0D2-42B8-B45B-E595803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전체 Block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3F5F-2075-4B1F-9711-97AB34CE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2BF9-4A62-4370-90F4-C1E01F76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34EA9-FB65-4FA9-8C71-5207D8E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8EEB5-7E63-4211-8799-DCDCBDB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BTN[2:0]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34F83-473D-4787-98CF-3D27AD8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</a:defRPr>
            </a:defPPr>
            <a:lvl1pPr algn="ctr">
              <a:defRPr sz="1050" b="0">
                <a:solidFill>
                  <a:srgbClr val="627D98"/>
                </a:solidFill>
              </a:defRPr>
            </a:lvl1pPr>
            <a:lvl2pPr algn="ctr">
              <a:defRPr sz="1050" b="0">
                <a:solidFill>
                  <a:srgbClr val="627D98"/>
                </a:solidFill>
              </a:defRPr>
            </a:lvl2pPr>
            <a:lvl3pPr algn="ctr">
              <a:defRPr sz="1050" b="0">
                <a:solidFill>
                  <a:srgbClr val="627D98"/>
                </a:solidFill>
              </a:defRPr>
            </a:lvl3pPr>
            <a:lvl4pPr algn="ctr">
              <a:defRPr sz="1050" b="0">
                <a:solidFill>
                  <a:srgbClr val="627D98"/>
                </a:solidFill>
              </a:defRPr>
            </a:lvl4pPr>
            <a:lvl5pPr algn="ctr">
              <a:defRPr sz="1050" b="0">
                <a:solidFill>
                  <a:srgbClr val="627D98"/>
                </a:solidFill>
              </a:defRPr>
            </a:lvl5pPr>
            <a:lvl6pPr algn="ctr">
              <a:defRPr sz="1050" b="0">
                <a:solidFill>
                  <a:srgbClr val="627D98"/>
                </a:solidFill>
              </a:defRPr>
            </a:lvl6pPr>
            <a:lvl7pPr algn="ctr">
              <a:defRPr sz="1050" b="0">
                <a:solidFill>
                  <a:srgbClr val="627D98"/>
                </a:solidFill>
              </a:defRPr>
            </a:lvl7pPr>
            <a:lvl8pPr algn="ctr">
              <a:defRPr sz="1050" b="0">
                <a:solidFill>
                  <a:srgbClr val="627D98"/>
                </a:solidFill>
              </a:defRPr>
            </a:lvl8pPr>
            <a:lvl9pPr algn="ctr">
              <a:defRPr sz="10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비동기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57AE2-5D4F-4CB1-A9B7-009F9975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479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2A3A4-7F16-4BE9-9FEA-D49021FE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717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btn_debouncer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F287C-24A0-4509-A971-053B543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</a:defRPr>
            </a:defPPr>
            <a:lvl1pPr algn="ctr">
              <a:defRPr sz="1050" b="0">
                <a:solidFill>
                  <a:srgbClr val="627D98"/>
                </a:solidFill>
              </a:defRPr>
            </a:lvl1pPr>
            <a:lvl2pPr algn="ctr">
              <a:defRPr sz="1050" b="0">
                <a:solidFill>
                  <a:srgbClr val="627D98"/>
                </a:solidFill>
              </a:defRPr>
            </a:lvl2pPr>
            <a:lvl3pPr algn="ctr">
              <a:defRPr sz="1050" b="0">
                <a:solidFill>
                  <a:srgbClr val="627D98"/>
                </a:solidFill>
              </a:defRPr>
            </a:lvl3pPr>
            <a:lvl4pPr algn="ctr">
              <a:defRPr sz="1050" b="0">
                <a:solidFill>
                  <a:srgbClr val="627D98"/>
                </a:solidFill>
              </a:defRPr>
            </a:lvl4pPr>
            <a:lvl5pPr algn="ctr">
              <a:defRPr sz="1050" b="0">
                <a:solidFill>
                  <a:srgbClr val="627D98"/>
                </a:solidFill>
              </a:defRPr>
            </a:lvl5pPr>
            <a:lvl6pPr algn="ctr">
              <a:defRPr sz="1050" b="0">
                <a:solidFill>
                  <a:srgbClr val="627D98"/>
                </a:solidFill>
              </a:defRPr>
            </a:lvl6pPr>
            <a:lvl7pPr algn="ctr">
              <a:defRPr sz="1050" b="0">
                <a:solidFill>
                  <a:srgbClr val="627D98"/>
                </a:solidFill>
              </a:defRPr>
            </a:lvl7pPr>
            <a:lvl8pPr algn="ctr">
              <a:defRPr sz="1050" b="0">
                <a:solidFill>
                  <a:srgbClr val="627D98"/>
                </a:solidFill>
              </a:defRPr>
            </a:lvl8pPr>
            <a:lvl9pPr algn="ctr">
              <a:defRPr sz="10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약 10 ms 안정화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CCD16-AE75-4F0E-AC10-8673663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479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B3A3-8195-48BE-9A5C-A0BA167F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main_controller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7B6C7-5FF6-4C06-8C44-E23CED57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</a:defRPr>
            </a:defPPr>
            <a:lvl1pPr algn="ctr">
              <a:defRPr sz="1050" b="0">
                <a:solidFill>
                  <a:srgbClr val="627D98"/>
                </a:solidFill>
              </a:defRPr>
            </a:lvl1pPr>
            <a:lvl2pPr algn="ctr">
              <a:defRPr sz="1050" b="0">
                <a:solidFill>
                  <a:srgbClr val="627D98"/>
                </a:solidFill>
              </a:defRPr>
            </a:lvl2pPr>
            <a:lvl3pPr algn="ctr">
              <a:defRPr sz="1050" b="0">
                <a:solidFill>
                  <a:srgbClr val="627D98"/>
                </a:solidFill>
              </a:defRPr>
            </a:lvl3pPr>
            <a:lvl4pPr algn="ctr">
              <a:defRPr sz="1050" b="0">
                <a:solidFill>
                  <a:srgbClr val="627D98"/>
                </a:solidFill>
              </a:defRPr>
            </a:lvl4pPr>
            <a:lvl5pPr algn="ctr">
              <a:defRPr sz="1050" b="0">
                <a:solidFill>
                  <a:srgbClr val="627D98"/>
                </a:solidFill>
              </a:defRPr>
            </a:lvl5pPr>
            <a:lvl6pPr algn="ctr">
              <a:defRPr sz="1050" b="0">
                <a:solidFill>
                  <a:srgbClr val="627D98"/>
                </a:solidFill>
              </a:defRPr>
            </a:lvl6pPr>
            <a:lvl7pPr algn="ctr">
              <a:defRPr sz="1050" b="0">
                <a:solidFill>
                  <a:srgbClr val="627D98"/>
                </a:solidFill>
              </a:defRPr>
            </a:lvl7pPr>
            <a:lvl8pPr algn="ctr">
              <a:defRPr sz="1050" b="0">
                <a:solidFill>
                  <a:srgbClr val="627D98"/>
                </a:solidFill>
              </a:defRPr>
            </a:lvl8pPr>
            <a:lvl9pPr algn="ctr">
              <a:defRPr sz="10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시간·모드 제어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719B5-FD15-4A03-A00B-B6D8EF90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479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BADD0-AAB3-45C4-93F9-B73A645E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fnd_controller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3C729-E74E-4655-906B-416ABA9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</a:defRPr>
            </a:defPPr>
            <a:lvl1pPr algn="ctr">
              <a:defRPr sz="1050" b="0">
                <a:solidFill>
                  <a:srgbClr val="627D98"/>
                </a:solidFill>
              </a:defRPr>
            </a:lvl1pPr>
            <a:lvl2pPr algn="ctr">
              <a:defRPr sz="1050" b="0">
                <a:solidFill>
                  <a:srgbClr val="627D98"/>
                </a:solidFill>
              </a:defRPr>
            </a:lvl2pPr>
            <a:lvl3pPr algn="ctr">
              <a:defRPr sz="1050" b="0">
                <a:solidFill>
                  <a:srgbClr val="627D98"/>
                </a:solidFill>
              </a:defRPr>
            </a:lvl3pPr>
            <a:lvl4pPr algn="ctr">
              <a:defRPr sz="1050" b="0">
                <a:solidFill>
                  <a:srgbClr val="627D98"/>
                </a:solidFill>
              </a:defRPr>
            </a:lvl4pPr>
            <a:lvl5pPr algn="ctr">
              <a:defRPr sz="1050" b="0">
                <a:solidFill>
                  <a:srgbClr val="627D98"/>
                </a:solidFill>
              </a:defRPr>
            </a:lvl5pPr>
            <a:lvl6pPr algn="ctr">
              <a:defRPr sz="1050" b="0">
                <a:solidFill>
                  <a:srgbClr val="627D98"/>
                </a:solidFill>
              </a:defRPr>
            </a:lvl6pPr>
            <a:lvl7pPr algn="ctr">
              <a:defRPr sz="1050" b="0">
                <a:solidFill>
                  <a:srgbClr val="627D98"/>
                </a:solidFill>
              </a:defRPr>
            </a:lvl7pPr>
            <a:lvl8pPr algn="ctr">
              <a:defRPr sz="1050" b="0">
                <a:solidFill>
                  <a:srgbClr val="627D98"/>
                </a:solidFill>
              </a:defRPr>
            </a:lvl8pPr>
            <a:lvl9pPr algn="ctr">
              <a:defRPr sz="10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BCD·자리 스캔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58C87-7F28-401A-A273-E6A7C7E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6BF2C-7151-449E-8922-4E2EFDF3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7-segment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6CF95-7E0F-48B5-BBC5-D4CAF05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627D98"/>
                </a:solidFill>
              </a:defRPr>
            </a:defPPr>
            <a:lvl1pPr algn="ctr">
              <a:defRPr sz="1050" b="0">
                <a:solidFill>
                  <a:srgbClr val="627D98"/>
                </a:solidFill>
              </a:defRPr>
            </a:lvl1pPr>
            <a:lvl2pPr algn="ctr">
              <a:defRPr sz="1050" b="0">
                <a:solidFill>
                  <a:srgbClr val="627D98"/>
                </a:solidFill>
              </a:defRPr>
            </a:lvl2pPr>
            <a:lvl3pPr algn="ctr">
              <a:defRPr sz="1050" b="0">
                <a:solidFill>
                  <a:srgbClr val="627D98"/>
                </a:solidFill>
              </a:defRPr>
            </a:lvl3pPr>
            <a:lvl4pPr algn="ctr">
              <a:defRPr sz="1050" b="0">
                <a:solidFill>
                  <a:srgbClr val="627D98"/>
                </a:solidFill>
              </a:defRPr>
            </a:lvl4pPr>
            <a:lvl5pPr algn="ctr">
              <a:defRPr sz="1050" b="0">
                <a:solidFill>
                  <a:srgbClr val="627D98"/>
                </a:solidFill>
              </a:defRPr>
            </a:lvl5pPr>
            <a:lvl6pPr algn="ctr">
              <a:defRPr sz="1050" b="0">
                <a:solidFill>
                  <a:srgbClr val="627D98"/>
                </a:solidFill>
              </a:defRPr>
            </a:lvl6pPr>
            <a:lvl7pPr algn="ctr">
              <a:defRPr sz="1050" b="0">
                <a:solidFill>
                  <a:srgbClr val="627D98"/>
                </a:solidFill>
              </a:defRPr>
            </a:lvl7pPr>
            <a:lvl8pPr algn="ctr">
              <a:defRPr sz="1050" b="0">
                <a:solidFill>
                  <a:srgbClr val="627D98"/>
                </a:solidFill>
              </a:defRPr>
            </a:lvl8pPr>
            <a:lvl9pPr algn="ctr">
              <a:defRPr sz="10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MM:SS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D3E11-A608-4414-8245-6734F89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716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EEBC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100 MHz clk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73201-8F5E-4001-AC49-2052786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240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81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40CD1-C3F9-4773-A6B8-B46AACC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66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68131"/>
                </a:solidFill>
              </a:defRPr>
            </a:defPPr>
            <a:lvl1pPr algn="l">
              <a:defRPr sz="1200" b="1">
                <a:solidFill>
                  <a:srgbClr val="E68131"/>
                </a:solidFill>
              </a:defRPr>
            </a:lvl1pPr>
            <a:lvl2pPr algn="l">
              <a:defRPr sz="1200" b="1">
                <a:solidFill>
                  <a:srgbClr val="E68131"/>
                </a:solidFill>
              </a:defRPr>
            </a:lvl2pPr>
            <a:lvl3pPr algn="l">
              <a:defRPr sz="1200" b="1">
                <a:solidFill>
                  <a:srgbClr val="E68131"/>
                </a:solidFill>
              </a:defRPr>
            </a:lvl3pPr>
            <a:lvl4pPr algn="l">
              <a:defRPr sz="1200" b="1">
                <a:solidFill>
                  <a:srgbClr val="E68131"/>
                </a:solidFill>
              </a:defRPr>
            </a:lvl4pPr>
            <a:lvl5pPr algn="l">
              <a:defRPr sz="1200" b="1">
                <a:solidFill>
                  <a:srgbClr val="E68131"/>
                </a:solidFill>
              </a:defRPr>
            </a:lvl5pPr>
            <a:lvl6pPr algn="l">
              <a:defRPr sz="1200" b="1">
                <a:solidFill>
                  <a:srgbClr val="E68131"/>
                </a:solidFill>
              </a:defRPr>
            </a:lvl6pPr>
            <a:lvl7pPr algn="l">
              <a:defRPr sz="1200" b="1">
                <a:solidFill>
                  <a:srgbClr val="E68131"/>
                </a:solidFill>
              </a:defRPr>
            </a:lvl7pPr>
            <a:lvl8pPr algn="l">
              <a:defRPr sz="1200" b="1">
                <a:solidFill>
                  <a:srgbClr val="E68131"/>
                </a:solidFill>
              </a:defRPr>
            </a:lvl8pPr>
            <a:lvl9pPr algn="l">
              <a:defRPr sz="1200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68131"/>
                </a:solidFill>
              </a:defRPr>
            </a:pPr>
            <a:r>
              <a:rPr sz="1200" b="1">
                <a:solidFill>
                  <a:srgbClr val="E68131"/>
                </a:solidFill>
              </a:rPr>
              <a:t>tick_generator: 1 kHz pulse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A2DEC-A5CA-4DE6-8B29-BD3041C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81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3C17B-28F9-4386-AD45-2420D3E9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813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8B3D1-3321-4D9D-835D-92C1663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  <a:lvl1pPr algn="l">
              <a:defRPr sz="1575" b="0">
                <a:solidFill>
                  <a:srgbClr val="243B53"/>
                </a:solidFill>
              </a:defRPr>
            </a:lvl1pPr>
            <a:lvl2pPr algn="l">
              <a:defRPr sz="1575" b="0">
                <a:solidFill>
                  <a:srgbClr val="243B53"/>
                </a:solidFill>
              </a:defRPr>
            </a:lvl2pPr>
            <a:lvl3pPr algn="l">
              <a:defRPr sz="1575" b="0">
                <a:solidFill>
                  <a:srgbClr val="243B53"/>
                </a:solidFill>
              </a:defRPr>
            </a:lvl3pPr>
            <a:lvl4pPr algn="l">
              <a:defRPr sz="1575" b="0">
                <a:solidFill>
                  <a:srgbClr val="243B53"/>
                </a:solidFill>
              </a:defRPr>
            </a:lvl4pPr>
            <a:lvl5pPr algn="l">
              <a:defRPr sz="1575" b="0">
                <a:solidFill>
                  <a:srgbClr val="243B53"/>
                </a:solidFill>
              </a:defRPr>
            </a:lvl5pPr>
            <a:lvl6pPr algn="l">
              <a:defRPr sz="1575" b="0">
                <a:solidFill>
                  <a:srgbClr val="243B53"/>
                </a:solidFill>
              </a:defRPr>
            </a:lvl6pPr>
            <a:lvl7pPr algn="l">
              <a:defRPr sz="1575" b="0">
                <a:solidFill>
                  <a:srgbClr val="243B53"/>
                </a:solidFill>
              </a:defRPr>
            </a:lvl7pPr>
            <a:lvl8pPr algn="l">
              <a:defRPr sz="1575" b="0">
                <a:solidFill>
                  <a:srgbClr val="243B53"/>
                </a:solidFill>
              </a:defRPr>
            </a:lvl8pPr>
            <a:lvl9pPr algn="l">
              <a:defRPr sz="15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main_controller는 1초 tick으로 시계·스톱워치를 갱신하고, fnd_controller는 1 kHz tick으로 표시 자리를 순환한다.</a:t>
            </a:r>
          </a:p>
        </p:txBody>
      </p:sp>
    </p:spTree>
    <p:extLst>
      <p:ext uri="{BB962C8B-B14F-4D97-AF65-F5344CB8AC3E}">
        <p14:creationId xmlns:p14="http://schemas.microsoft.com/office/powerpoint/2010/main" val="214468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DA186-F367-40BE-8366-54F39179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시간 카운터와 표시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DDE25-D6A7-4002-9C33-F2AA2D04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E2A63-D682-4CEE-8A43-A0266CE8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33D87-9E2F-47CE-8104-23D8DFF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9D650-1C4B-421A-A3C9-14DEFEFF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3B53"/>
                </a:solidFill>
              </a:defRPr>
            </a:defPPr>
            <a:lvl1pPr algn="ctr">
              <a:defRPr sz="1725" b="1">
                <a:solidFill>
                  <a:srgbClr val="243B53"/>
                </a:solidFill>
              </a:defRPr>
            </a:lvl1pPr>
            <a:lvl2pPr algn="ctr">
              <a:defRPr sz="1725" b="1">
                <a:solidFill>
                  <a:srgbClr val="243B53"/>
                </a:solidFill>
              </a:defRPr>
            </a:lvl2pPr>
            <a:lvl3pPr algn="ctr">
              <a:defRPr sz="1725" b="1">
                <a:solidFill>
                  <a:srgbClr val="243B53"/>
                </a:solidFill>
              </a:defRPr>
            </a:lvl3pPr>
            <a:lvl4pPr algn="ctr">
              <a:defRPr sz="1725" b="1">
                <a:solidFill>
                  <a:srgbClr val="243B53"/>
                </a:solidFill>
              </a:defRPr>
            </a:lvl4pPr>
            <a:lvl5pPr algn="ctr">
              <a:defRPr sz="1725" b="1">
                <a:solidFill>
                  <a:srgbClr val="243B53"/>
                </a:solidFill>
              </a:defRPr>
            </a:lvl5pPr>
            <a:lvl6pPr algn="ctr">
              <a:defRPr sz="1725" b="1">
                <a:solidFill>
                  <a:srgbClr val="243B53"/>
                </a:solidFill>
              </a:defRPr>
            </a:lvl6pPr>
            <a:lvl7pPr algn="ctr">
              <a:defRPr sz="1725" b="1">
                <a:solidFill>
                  <a:srgbClr val="243B53"/>
                </a:solidFill>
              </a:defRPr>
            </a:lvl7pPr>
            <a:lvl8pPr algn="ctr">
              <a:defRPr sz="1725" b="1">
                <a:solidFill>
                  <a:srgbClr val="243B53"/>
                </a:solidFill>
              </a:defRPr>
            </a:lvl8pPr>
            <a:lvl9pPr algn="ctr">
              <a:defRPr sz="17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초 카운터</a:t>
            </a:r>
          </a:p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00 ~ 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DC89B-EE3F-42E7-9BB2-31FF4969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14600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8EE7D-4637-4FA3-A84C-D879479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3B53"/>
                </a:solidFill>
              </a:defRPr>
            </a:defPPr>
            <a:lvl1pPr algn="ctr">
              <a:defRPr sz="1725" b="1">
                <a:solidFill>
                  <a:srgbClr val="243B53"/>
                </a:solidFill>
              </a:defRPr>
            </a:lvl1pPr>
            <a:lvl2pPr algn="ctr">
              <a:defRPr sz="1725" b="1">
                <a:solidFill>
                  <a:srgbClr val="243B53"/>
                </a:solidFill>
              </a:defRPr>
            </a:lvl2pPr>
            <a:lvl3pPr algn="ctr">
              <a:defRPr sz="1725" b="1">
                <a:solidFill>
                  <a:srgbClr val="243B53"/>
                </a:solidFill>
              </a:defRPr>
            </a:lvl3pPr>
            <a:lvl4pPr algn="ctr">
              <a:defRPr sz="1725" b="1">
                <a:solidFill>
                  <a:srgbClr val="243B53"/>
                </a:solidFill>
              </a:defRPr>
            </a:lvl4pPr>
            <a:lvl5pPr algn="ctr">
              <a:defRPr sz="1725" b="1">
                <a:solidFill>
                  <a:srgbClr val="243B53"/>
                </a:solidFill>
              </a:defRPr>
            </a:lvl5pPr>
            <a:lvl6pPr algn="ctr">
              <a:defRPr sz="1725" b="1">
                <a:solidFill>
                  <a:srgbClr val="243B53"/>
                </a:solidFill>
              </a:defRPr>
            </a:lvl6pPr>
            <a:lvl7pPr algn="ctr">
              <a:defRPr sz="1725" b="1">
                <a:solidFill>
                  <a:srgbClr val="243B53"/>
                </a:solidFill>
              </a:defRPr>
            </a:lvl7pPr>
            <a:lvl8pPr algn="ctr">
              <a:defRPr sz="1725" b="1">
                <a:solidFill>
                  <a:srgbClr val="243B53"/>
                </a:solidFill>
              </a:defRPr>
            </a:lvl8pPr>
            <a:lvl9pPr algn="ctr">
              <a:defRPr sz="17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분 카운터</a:t>
            </a:r>
          </a:p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00 ~ 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E53C-CD84-467A-9006-02ECD747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14600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7016D-B39A-4C1F-AEAB-451F33B1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EEBC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243B53"/>
                </a:solidFill>
              </a:defRPr>
            </a:defPPr>
            <a:lvl1pPr algn="ctr">
              <a:defRPr sz="1650" b="1">
                <a:solidFill>
                  <a:srgbClr val="243B53"/>
                </a:solidFill>
              </a:defRPr>
            </a:lvl1pPr>
            <a:lvl2pPr algn="ctr">
              <a:defRPr sz="1650" b="1">
                <a:solidFill>
                  <a:srgbClr val="243B53"/>
                </a:solidFill>
              </a:defRPr>
            </a:lvl2pPr>
            <a:lvl3pPr algn="ctr">
              <a:defRPr sz="1650" b="1">
                <a:solidFill>
                  <a:srgbClr val="243B53"/>
                </a:solidFill>
              </a:defRPr>
            </a:lvl3pPr>
            <a:lvl4pPr algn="ctr">
              <a:defRPr sz="1650" b="1">
                <a:solidFill>
                  <a:srgbClr val="243B53"/>
                </a:solidFill>
              </a:defRPr>
            </a:lvl4pPr>
            <a:lvl5pPr algn="ctr">
              <a:defRPr sz="1650" b="1">
                <a:solidFill>
                  <a:srgbClr val="243B53"/>
                </a:solidFill>
              </a:defRPr>
            </a:lvl5pPr>
            <a:lvl6pPr algn="ctr">
              <a:defRPr sz="1650" b="1">
                <a:solidFill>
                  <a:srgbClr val="243B53"/>
                </a:solidFill>
              </a:defRPr>
            </a:lvl6pPr>
            <a:lvl7pPr algn="ctr">
              <a:defRPr sz="1650" b="1">
                <a:solidFill>
                  <a:srgbClr val="243B53"/>
                </a:solidFill>
              </a:defRPr>
            </a:lvl7pPr>
            <a:lvl8pPr algn="ctr">
              <a:defRPr sz="1650" b="1">
                <a:solidFill>
                  <a:srgbClr val="243B53"/>
                </a:solidFill>
              </a:defRPr>
            </a:lvl8pPr>
            <a:lvl9pPr algn="ctr">
              <a:defRPr sz="16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43B53"/>
                </a:solidFill>
              </a:defRPr>
            </a:pPr>
            <a:r>
              <a:rPr sz="1650" b="1">
                <a:solidFill>
                  <a:srgbClr val="243B53"/>
                </a:solidFill>
              </a:rPr>
              <a:t>MM × 100 + 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7C07B-9901-4336-A9FE-95551CD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14600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7F8E8-5611-4D63-8BC9-4E783876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243B53"/>
                </a:solidFill>
              </a:defRPr>
            </a:defPPr>
            <a:lvl1pPr algn="ctr">
              <a:defRPr sz="1650" b="1">
                <a:solidFill>
                  <a:srgbClr val="243B53"/>
                </a:solidFill>
              </a:defRPr>
            </a:lvl1pPr>
            <a:lvl2pPr algn="ctr">
              <a:defRPr sz="1650" b="1">
                <a:solidFill>
                  <a:srgbClr val="243B53"/>
                </a:solidFill>
              </a:defRPr>
            </a:lvl2pPr>
            <a:lvl3pPr algn="ctr">
              <a:defRPr sz="1650" b="1">
                <a:solidFill>
                  <a:srgbClr val="243B53"/>
                </a:solidFill>
              </a:defRPr>
            </a:lvl3pPr>
            <a:lvl4pPr algn="ctr">
              <a:defRPr sz="1650" b="1">
                <a:solidFill>
                  <a:srgbClr val="243B53"/>
                </a:solidFill>
              </a:defRPr>
            </a:lvl4pPr>
            <a:lvl5pPr algn="ctr">
              <a:defRPr sz="1650" b="1">
                <a:solidFill>
                  <a:srgbClr val="243B53"/>
                </a:solidFill>
              </a:defRPr>
            </a:lvl5pPr>
            <a:lvl6pPr algn="ctr">
              <a:defRPr sz="1650" b="1">
                <a:solidFill>
                  <a:srgbClr val="243B53"/>
                </a:solidFill>
              </a:defRPr>
            </a:lvl6pPr>
            <a:lvl7pPr algn="ctr">
              <a:defRPr sz="1650" b="1">
                <a:solidFill>
                  <a:srgbClr val="243B53"/>
                </a:solidFill>
              </a:defRPr>
            </a:lvl7pPr>
            <a:lvl8pPr algn="ctr">
              <a:defRPr sz="1650" b="1">
                <a:solidFill>
                  <a:srgbClr val="243B53"/>
                </a:solidFill>
              </a:defRPr>
            </a:lvl8pPr>
            <a:lvl9pPr algn="ctr">
              <a:defRPr sz="16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43B53"/>
                </a:solidFill>
              </a:defRPr>
            </a:pPr>
            <a:r>
              <a:rPr sz="1650" b="1">
                <a:solidFill>
                  <a:srgbClr val="243B53"/>
                </a:solidFill>
              </a:rPr>
              <a:t>4 digit BCD</a:t>
            </a:r>
          </a:p>
          <a:p xmlns:a="http://schemas.openxmlformats.org/drawingml/2006/main">
            <a:pPr algn="ctr">
              <a:defRPr sz="1650" b="1">
                <a:solidFill>
                  <a:srgbClr val="243B53"/>
                </a:solidFill>
              </a:defRPr>
            </a:pPr>
            <a:r>
              <a:rPr sz="1650" b="1">
                <a:solidFill>
                  <a:srgbClr val="243B53"/>
                </a:solidFill>
              </a:rPr>
              <a:t>FND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E0435-E08E-424E-8A4A-0225E93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677B8"/>
                </a:solidFill>
              </a:defRPr>
            </a:defPPr>
            <a:lvl1pPr algn="l">
              <a:defRPr sz="1650" b="1">
                <a:solidFill>
                  <a:srgbClr val="1677B8"/>
                </a:solidFill>
              </a:defRPr>
            </a:lvl1pPr>
            <a:lvl2pPr algn="l">
              <a:defRPr sz="1650" b="1">
                <a:solidFill>
                  <a:srgbClr val="1677B8"/>
                </a:solidFill>
              </a:defRPr>
            </a:lvl2pPr>
            <a:lvl3pPr algn="l">
              <a:defRPr sz="1650" b="1">
                <a:solidFill>
                  <a:srgbClr val="1677B8"/>
                </a:solidFill>
              </a:defRPr>
            </a:lvl3pPr>
            <a:lvl4pPr algn="l">
              <a:defRPr sz="1650" b="1">
                <a:solidFill>
                  <a:srgbClr val="1677B8"/>
                </a:solidFill>
              </a:defRPr>
            </a:lvl4pPr>
            <a:lvl5pPr algn="l">
              <a:defRPr sz="1650" b="1">
                <a:solidFill>
                  <a:srgbClr val="1677B8"/>
                </a:solidFill>
              </a:defRPr>
            </a:lvl5pPr>
            <a:lvl6pPr algn="l">
              <a:defRPr sz="1650" b="1">
                <a:solidFill>
                  <a:srgbClr val="1677B8"/>
                </a:solidFill>
              </a:defRPr>
            </a:lvl6pPr>
            <a:lvl7pPr algn="l">
              <a:defRPr sz="1650" b="1">
                <a:solidFill>
                  <a:srgbClr val="1677B8"/>
                </a:solidFill>
              </a:defRPr>
            </a:lvl7pPr>
            <a:lvl8pPr algn="l">
              <a:defRPr sz="1650" b="1">
                <a:solidFill>
                  <a:srgbClr val="1677B8"/>
                </a:solidFill>
              </a:defRPr>
            </a:lvl8pPr>
            <a:lvl9pPr algn="l">
              <a:defRPr sz="165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7B8"/>
                </a:solidFill>
              </a:defRPr>
            </a:pPr>
            <a:r>
              <a:rPr sz="1650" b="1">
                <a:solidFill>
                  <a:srgbClr val="1677B8"/>
                </a:solidFill>
              </a:rPr>
              <a:t>경계 조건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0F7B6-F908-413E-A938-B32C6885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  <a:lvl1pPr algn="l">
              <a:defRPr sz="1575" b="0">
                <a:solidFill>
                  <a:srgbClr val="243B53"/>
                </a:solidFill>
              </a:defRPr>
            </a:lvl1pPr>
            <a:lvl2pPr algn="l">
              <a:defRPr sz="1575" b="0">
                <a:solidFill>
                  <a:srgbClr val="243B53"/>
                </a:solidFill>
              </a:defRPr>
            </a:lvl2pPr>
            <a:lvl3pPr algn="l">
              <a:defRPr sz="1575" b="0">
                <a:solidFill>
                  <a:srgbClr val="243B53"/>
                </a:solidFill>
              </a:defRPr>
            </a:lvl3pPr>
            <a:lvl4pPr algn="l">
              <a:defRPr sz="1575" b="0">
                <a:solidFill>
                  <a:srgbClr val="243B53"/>
                </a:solidFill>
              </a:defRPr>
            </a:lvl4pPr>
            <a:lvl5pPr algn="l">
              <a:defRPr sz="1575" b="0">
                <a:solidFill>
                  <a:srgbClr val="243B53"/>
                </a:solidFill>
              </a:defRPr>
            </a:lvl5pPr>
            <a:lvl6pPr algn="l">
              <a:defRPr sz="1575" b="0">
                <a:solidFill>
                  <a:srgbClr val="243B53"/>
                </a:solidFill>
              </a:defRPr>
            </a:lvl6pPr>
            <a:lvl7pPr algn="l">
              <a:defRPr sz="1575" b="0">
                <a:solidFill>
                  <a:srgbClr val="243B53"/>
                </a:solidFill>
              </a:defRPr>
            </a:lvl7pPr>
            <a:lvl8pPr algn="l">
              <a:defRPr sz="1575" b="0">
                <a:solidFill>
                  <a:srgbClr val="243B53"/>
                </a:solidFill>
              </a:defRPr>
            </a:lvl8pPr>
            <a:lvl9pPr algn="l">
              <a:defRPr sz="15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59초에서 00초로 돌아갈 때 분을 1 증가시킨다. 59:59 다음 값은 00:00이다.</a:t>
            </a:r>
          </a:p>
        </p:txBody>
      </p:sp>
    </p:spTree>
    <p:extLst>
      <p:ext uri="{BB962C8B-B14F-4D97-AF65-F5344CB8AC3E}">
        <p14:creationId xmlns:p14="http://schemas.microsoft.com/office/powerpoint/2010/main" val="1017420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B6A0B-1BBA-49D0-B149-2A4DEFF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플래그 기반 상태도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C4082-8102-4A6B-A752-6DE237B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0B184-FDF2-41A7-950B-0C098464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90A24-6E71-4A48-B7BE-DCE5D4E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BB358-D335-4CF5-B4A6-38787B3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3835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2E55B-6D79-418C-B7FB-AA79F07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</a:defRPr>
            </a:defPPr>
            <a:lvl1pPr algn="ctr">
              <a:defRPr sz="1125" b="0">
                <a:solidFill>
                  <a:srgbClr val="627D98"/>
                </a:solidFill>
              </a:defRPr>
            </a:lvl1pPr>
            <a:lvl2pPr algn="ctr">
              <a:defRPr sz="1125" b="0">
                <a:solidFill>
                  <a:srgbClr val="627D98"/>
                </a:solidFill>
              </a:defRPr>
            </a:lvl2pPr>
            <a:lvl3pPr algn="ctr">
              <a:defRPr sz="1125" b="0">
                <a:solidFill>
                  <a:srgbClr val="627D98"/>
                </a:solidFill>
              </a:defRPr>
            </a:lvl3pPr>
            <a:lvl4pPr algn="ctr">
              <a:defRPr sz="1125" b="0">
                <a:solidFill>
                  <a:srgbClr val="627D98"/>
                </a:solidFill>
              </a:defRPr>
            </a:lvl4pPr>
            <a:lvl5pPr algn="ctr">
              <a:defRPr sz="1125" b="0">
                <a:solidFill>
                  <a:srgbClr val="627D98"/>
                </a:solidFill>
              </a:defRPr>
            </a:lvl5pPr>
            <a:lvl6pPr algn="ctr">
              <a:defRPr sz="1125" b="0">
                <a:solidFill>
                  <a:srgbClr val="627D98"/>
                </a:solidFill>
              </a:defRPr>
            </a:lvl6pPr>
            <a:lvl7pPr algn="ctr">
              <a:defRPr sz="1125" b="0">
                <a:solidFill>
                  <a:srgbClr val="627D98"/>
                </a:solidFill>
              </a:defRPr>
            </a:lvl7pPr>
            <a:lvl8pPr algn="ctr">
              <a:defRPr sz="1125" b="0">
                <a:solidFill>
                  <a:srgbClr val="627D98"/>
                </a:solidFill>
              </a:defRPr>
            </a:lvl8pPr>
            <a:lvl9pPr algn="ctr">
              <a:defRPr sz="11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mode=0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48-51BD-4B63-B65F-25609064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STOPWATCH</a:t>
            </a:r>
          </a:p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13D8B-27F9-47C4-BD96-33CF47A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00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</a:defRPr>
            </a:defPPr>
            <a:lvl1pPr algn="ctr">
              <a:defRPr sz="1125" b="0">
                <a:solidFill>
                  <a:srgbClr val="627D98"/>
                </a:solidFill>
              </a:defRPr>
            </a:lvl1pPr>
            <a:lvl2pPr algn="ctr">
              <a:defRPr sz="1125" b="0">
                <a:solidFill>
                  <a:srgbClr val="627D98"/>
                </a:solidFill>
              </a:defRPr>
            </a:lvl2pPr>
            <a:lvl3pPr algn="ctr">
              <a:defRPr sz="1125" b="0">
                <a:solidFill>
                  <a:srgbClr val="627D98"/>
                </a:solidFill>
              </a:defRPr>
            </a:lvl3pPr>
            <a:lvl4pPr algn="ctr">
              <a:defRPr sz="1125" b="0">
                <a:solidFill>
                  <a:srgbClr val="627D98"/>
                </a:solidFill>
              </a:defRPr>
            </a:lvl4pPr>
            <a:lvl5pPr algn="ctr">
              <a:defRPr sz="1125" b="0">
                <a:solidFill>
                  <a:srgbClr val="627D98"/>
                </a:solidFill>
              </a:defRPr>
            </a:lvl5pPr>
            <a:lvl6pPr algn="ctr">
              <a:defRPr sz="1125" b="0">
                <a:solidFill>
                  <a:srgbClr val="627D98"/>
                </a:solidFill>
              </a:defRPr>
            </a:lvl6pPr>
            <a:lvl7pPr algn="ctr">
              <a:defRPr sz="1125" b="0">
                <a:solidFill>
                  <a:srgbClr val="627D98"/>
                </a:solidFill>
              </a:defRPr>
            </a:lvl7pPr>
            <a:lvl8pPr algn="ctr">
              <a:defRPr sz="1125" b="0">
                <a:solidFill>
                  <a:srgbClr val="627D98"/>
                </a:solidFill>
              </a:defRPr>
            </a:lvl8pPr>
            <a:lvl9pPr algn="ctr">
              <a:defRPr sz="11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mode=1</a:t>
            </a:r>
          </a:p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running=1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8992D-FB77-4FAD-8667-4CFF0EF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EBC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PAUSE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36A65-CC40-4BC1-A374-086284B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</a:defRPr>
            </a:defPPr>
            <a:lvl1pPr algn="ctr">
              <a:defRPr sz="1125" b="0">
                <a:solidFill>
                  <a:srgbClr val="627D98"/>
                </a:solidFill>
              </a:defRPr>
            </a:lvl1pPr>
            <a:lvl2pPr algn="ctr">
              <a:defRPr sz="1125" b="0">
                <a:solidFill>
                  <a:srgbClr val="627D98"/>
                </a:solidFill>
              </a:defRPr>
            </a:lvl2pPr>
            <a:lvl3pPr algn="ctr">
              <a:defRPr sz="1125" b="0">
                <a:solidFill>
                  <a:srgbClr val="627D98"/>
                </a:solidFill>
              </a:defRPr>
            </a:lvl3pPr>
            <a:lvl4pPr algn="ctr">
              <a:defRPr sz="1125" b="0">
                <a:solidFill>
                  <a:srgbClr val="627D98"/>
                </a:solidFill>
              </a:defRPr>
            </a:lvl4pPr>
            <a:lvl5pPr algn="ctr">
              <a:defRPr sz="1125" b="0">
                <a:solidFill>
                  <a:srgbClr val="627D98"/>
                </a:solidFill>
              </a:defRPr>
            </a:lvl5pPr>
            <a:lvl6pPr algn="ctr">
              <a:defRPr sz="1125" b="0">
                <a:solidFill>
                  <a:srgbClr val="627D98"/>
                </a:solidFill>
              </a:defRPr>
            </a:lvl6pPr>
            <a:lvl7pPr algn="ctr">
              <a:defRPr sz="1125" b="0">
                <a:solidFill>
                  <a:srgbClr val="627D98"/>
                </a:solidFill>
              </a:defRPr>
            </a:lvl7pPr>
            <a:lvl8pPr algn="ctr">
              <a:defRPr sz="1125" b="0">
                <a:solidFill>
                  <a:srgbClr val="627D98"/>
                </a:solidFill>
              </a:defRPr>
            </a:lvl8pPr>
            <a:lvl9pPr algn="ctr">
              <a:defRPr sz="11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mode=1</a:t>
            </a:r>
          </a:p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running=0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838EF-6F17-4B7A-843C-A0A3F11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PAUSE +</a:t>
            </a:r>
          </a:p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ANIMATION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C738A-1317-43B4-BFFA-26FAC3D5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910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27D98"/>
                </a:solidFill>
              </a:defRPr>
            </a:defPPr>
            <a:lvl1pPr algn="ctr">
              <a:defRPr sz="1125" b="0">
                <a:solidFill>
                  <a:srgbClr val="627D98"/>
                </a:solidFill>
              </a:defRPr>
            </a:lvl1pPr>
            <a:lvl2pPr algn="ctr">
              <a:defRPr sz="1125" b="0">
                <a:solidFill>
                  <a:srgbClr val="627D98"/>
                </a:solidFill>
              </a:defRPr>
            </a:lvl2pPr>
            <a:lvl3pPr algn="ctr">
              <a:defRPr sz="1125" b="0">
                <a:solidFill>
                  <a:srgbClr val="627D98"/>
                </a:solidFill>
              </a:defRPr>
            </a:lvl3pPr>
            <a:lvl4pPr algn="ctr">
              <a:defRPr sz="1125" b="0">
                <a:solidFill>
                  <a:srgbClr val="627D98"/>
                </a:solidFill>
              </a:defRPr>
            </a:lvl4pPr>
            <a:lvl5pPr algn="ctr">
              <a:defRPr sz="1125" b="0">
                <a:solidFill>
                  <a:srgbClr val="627D98"/>
                </a:solidFill>
              </a:defRPr>
            </a:lvl5pPr>
            <a:lvl6pPr algn="ctr">
              <a:defRPr sz="1125" b="0">
                <a:solidFill>
                  <a:srgbClr val="627D98"/>
                </a:solidFill>
              </a:defRPr>
            </a:lvl6pPr>
            <a:lvl7pPr algn="ctr">
              <a:defRPr sz="1125" b="0">
                <a:solidFill>
                  <a:srgbClr val="627D98"/>
                </a:solidFill>
              </a:defRPr>
            </a:lvl7pPr>
            <a:lvl8pPr algn="ctr">
              <a:defRPr sz="1125" b="0">
                <a:solidFill>
                  <a:srgbClr val="627D98"/>
                </a:solidFill>
              </a:defRPr>
            </a:lvl8pPr>
            <a:lvl9pPr algn="ctr">
              <a:defRPr sz="11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5초 무입력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297A7-E2A8-4DE0-A9C0-976D4B1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574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363F0-55C3-46D8-98EF-239742D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526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A994B-8E13-4D54-9175-05C8C542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145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</a:defRPr>
            </a:defPPr>
            <a:lvl1pPr algn="ctr">
              <a:defRPr sz="1125" b="1">
                <a:solidFill>
                  <a:srgbClr val="627D98"/>
                </a:solidFill>
              </a:defRPr>
            </a:lvl1pPr>
            <a:lvl2pPr algn="ctr">
              <a:defRPr sz="1125" b="1">
                <a:solidFill>
                  <a:srgbClr val="627D98"/>
                </a:solidFill>
              </a:defRPr>
            </a:lvl2pPr>
            <a:lvl3pPr algn="ctr">
              <a:defRPr sz="1125" b="1">
                <a:solidFill>
                  <a:srgbClr val="627D98"/>
                </a:solidFill>
              </a:defRPr>
            </a:lvl3pPr>
            <a:lvl4pPr algn="ctr">
              <a:defRPr sz="1125" b="1">
                <a:solidFill>
                  <a:srgbClr val="627D98"/>
                </a:solidFill>
              </a:defRPr>
            </a:lvl4pPr>
            <a:lvl5pPr algn="ctr">
              <a:defRPr sz="1125" b="1">
                <a:solidFill>
                  <a:srgbClr val="627D98"/>
                </a:solidFill>
              </a:defRPr>
            </a:lvl5pPr>
            <a:lvl6pPr algn="ctr">
              <a:defRPr sz="1125" b="1">
                <a:solidFill>
                  <a:srgbClr val="627D98"/>
                </a:solidFill>
              </a:defRPr>
            </a:lvl6pPr>
            <a:lvl7pPr algn="ctr">
              <a:defRPr sz="1125" b="1">
                <a:solidFill>
                  <a:srgbClr val="627D98"/>
                </a:solidFill>
              </a:defRPr>
            </a:lvl7pPr>
            <a:lvl8pPr algn="ctr">
              <a:defRPr sz="1125" b="1">
                <a:solidFill>
                  <a:srgbClr val="627D98"/>
                </a:solidFill>
              </a:defRPr>
            </a:lvl8pPr>
            <a:lvl9pPr algn="ct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BTN 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4E361-511A-4415-817A-A74D1BBC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88C5B-A05E-4431-A7E8-429381B5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288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95D27-7F5F-4149-88C8-629E054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</a:defRPr>
            </a:defPPr>
            <a:lvl1pPr algn="ctr">
              <a:defRPr sz="1125" b="1">
                <a:solidFill>
                  <a:srgbClr val="627D98"/>
                </a:solidFill>
              </a:defRPr>
            </a:lvl1pPr>
            <a:lvl2pPr algn="ctr">
              <a:defRPr sz="1125" b="1">
                <a:solidFill>
                  <a:srgbClr val="627D98"/>
                </a:solidFill>
              </a:defRPr>
            </a:lvl2pPr>
            <a:lvl3pPr algn="ctr">
              <a:defRPr sz="1125" b="1">
                <a:solidFill>
                  <a:srgbClr val="627D98"/>
                </a:solidFill>
              </a:defRPr>
            </a:lvl3pPr>
            <a:lvl4pPr algn="ctr">
              <a:defRPr sz="1125" b="1">
                <a:solidFill>
                  <a:srgbClr val="627D98"/>
                </a:solidFill>
              </a:defRPr>
            </a:lvl4pPr>
            <a:lvl5pPr algn="ctr">
              <a:defRPr sz="1125" b="1">
                <a:solidFill>
                  <a:srgbClr val="627D98"/>
                </a:solidFill>
              </a:defRPr>
            </a:lvl5pPr>
            <a:lvl6pPr algn="ctr">
              <a:defRPr sz="1125" b="1">
                <a:solidFill>
                  <a:srgbClr val="627D98"/>
                </a:solidFill>
              </a:defRPr>
            </a:lvl6pPr>
            <a:lvl7pPr algn="ctr">
              <a:defRPr sz="1125" b="1">
                <a:solidFill>
                  <a:srgbClr val="627D98"/>
                </a:solidFill>
              </a:defRPr>
            </a:lvl7pPr>
            <a:lvl8pPr algn="ctr">
              <a:defRPr sz="1125" b="1">
                <a:solidFill>
                  <a:srgbClr val="627D98"/>
                </a:solidFill>
              </a:defRPr>
            </a:lvl8pPr>
            <a:lvl9pPr algn="ct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BTN 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FF248-3DBC-447A-A504-306DFA8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5C899-7683-4380-BAE7-9E40F82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B96FA-F5D6-492E-9503-CCF08B6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051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27D98"/>
                </a:solidFill>
              </a:defRPr>
            </a:defPPr>
            <a:lvl1pPr algn="l">
              <a:defRPr sz="1125" b="1">
                <a:solidFill>
                  <a:srgbClr val="627D98"/>
                </a:solidFill>
              </a:defRPr>
            </a:lvl1pPr>
            <a:lvl2pPr algn="l">
              <a:defRPr sz="1125" b="1">
                <a:solidFill>
                  <a:srgbClr val="627D98"/>
                </a:solidFill>
              </a:defRPr>
            </a:lvl2pPr>
            <a:lvl3pPr algn="l">
              <a:defRPr sz="1125" b="1">
                <a:solidFill>
                  <a:srgbClr val="627D98"/>
                </a:solidFill>
              </a:defRPr>
            </a:lvl3pPr>
            <a:lvl4pPr algn="l">
              <a:defRPr sz="1125" b="1">
                <a:solidFill>
                  <a:srgbClr val="627D98"/>
                </a:solidFill>
              </a:defRPr>
            </a:lvl4pPr>
            <a:lvl5pPr algn="l">
              <a:defRPr sz="1125" b="1">
                <a:solidFill>
                  <a:srgbClr val="627D98"/>
                </a:solidFill>
              </a:defRPr>
            </a:lvl5pPr>
            <a:lvl6pPr algn="l">
              <a:defRPr sz="1125" b="1">
                <a:solidFill>
                  <a:srgbClr val="627D98"/>
                </a:solidFill>
              </a:defRPr>
            </a:lvl6pPr>
            <a:lvl7pPr algn="l">
              <a:defRPr sz="1125" b="1">
                <a:solidFill>
                  <a:srgbClr val="627D98"/>
                </a:solidFill>
              </a:defRPr>
            </a:lvl7pPr>
            <a:lvl8pPr algn="l">
              <a:defRPr sz="1125" b="1">
                <a:solidFill>
                  <a:srgbClr val="627D98"/>
                </a:solidFill>
              </a:defRPr>
            </a:lvl8pPr>
            <a:lvl9pPr algn="l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5초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CED1A-45DF-41D2-BA9A-DAB5CDC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5432A-AAEB-4E34-804A-DCC78882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95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5100E-E92A-4D96-B552-1ADC2477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00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627D98"/>
                </a:solidFill>
              </a:defRPr>
            </a:defPPr>
            <a:lvl1pPr algn="ctr">
              <a:defRPr sz="1125" b="1">
                <a:solidFill>
                  <a:srgbClr val="627D98"/>
                </a:solidFill>
              </a:defRPr>
            </a:lvl1pPr>
            <a:lvl2pPr algn="ctr">
              <a:defRPr sz="1125" b="1">
                <a:solidFill>
                  <a:srgbClr val="627D98"/>
                </a:solidFill>
              </a:defRPr>
            </a:lvl2pPr>
            <a:lvl3pPr algn="ctr">
              <a:defRPr sz="1125" b="1">
                <a:solidFill>
                  <a:srgbClr val="627D98"/>
                </a:solidFill>
              </a:defRPr>
            </a:lvl3pPr>
            <a:lvl4pPr algn="ctr">
              <a:defRPr sz="1125" b="1">
                <a:solidFill>
                  <a:srgbClr val="627D98"/>
                </a:solidFill>
              </a:defRPr>
            </a:lvl4pPr>
            <a:lvl5pPr algn="ctr">
              <a:defRPr sz="1125" b="1">
                <a:solidFill>
                  <a:srgbClr val="627D98"/>
                </a:solidFill>
              </a:defRPr>
            </a:lvl5pPr>
            <a:lvl6pPr algn="ctr">
              <a:defRPr sz="1125" b="1">
                <a:solidFill>
                  <a:srgbClr val="627D98"/>
                </a:solidFill>
              </a:defRPr>
            </a:lvl6pPr>
            <a:lvl7pPr algn="ctr">
              <a:defRPr sz="1125" b="1">
                <a:solidFill>
                  <a:srgbClr val="627D98"/>
                </a:solidFill>
              </a:defRPr>
            </a:lvl7pPr>
            <a:lvl8pPr algn="ctr">
              <a:defRPr sz="1125" b="1">
                <a:solidFill>
                  <a:srgbClr val="627D98"/>
                </a:solidFill>
              </a:defRPr>
            </a:lvl8pPr>
            <a:lvl9pPr algn="ct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BTN R / L /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1734E-3DE5-4DE5-82E8-44624D10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BTN C는 스톱워치 값을 00:00으로 초기화한다. 시계 카운터는 어떤 상태에서도 계속 증가한다.</a:t>
            </a:r>
          </a:p>
        </p:txBody>
      </p:sp>
    </p:spTree>
    <p:extLst>
      <p:ext uri="{BB962C8B-B14F-4D97-AF65-F5344CB8AC3E}">
        <p14:creationId xmlns:p14="http://schemas.microsoft.com/office/powerpoint/2010/main" val="774282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5513F-3B49-4D35-AF70-E30AC05C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핵심 Source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F391A-4EB8-4E2E-8F8C-9825051D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BB77-DC65-44F5-86A6-D10234C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6A4ED-2C37-4EF5-9694-3042A3E5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8AF3A-6C91-49D5-9D2C-DF31EDBF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238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172B4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>
                <a:solidFill>
                  <a:srgbClr val="E9F2F9"/>
                </a:solidFill>
              </a:defRPr>
            </a:defPPr>
            <a:lvl1pPr>
              <a:defRPr sz="1125">
                <a:solidFill>
                  <a:srgbClr val="E9F2F9"/>
                </a:solidFill>
              </a:defRPr>
            </a:lvl1pPr>
            <a:lvl2pPr>
              <a:defRPr sz="1125">
                <a:solidFill>
                  <a:srgbClr val="E9F2F9"/>
                </a:solidFill>
              </a:defRPr>
            </a:lvl2pPr>
            <a:lvl3pPr>
              <a:defRPr sz="1125">
                <a:solidFill>
                  <a:srgbClr val="E9F2F9"/>
                </a:solidFill>
              </a:defRPr>
            </a:lvl3pPr>
            <a:lvl4pPr>
              <a:defRPr sz="1125">
                <a:solidFill>
                  <a:srgbClr val="E9F2F9"/>
                </a:solidFill>
              </a:defRPr>
            </a:lvl4pPr>
            <a:lvl5pPr>
              <a:defRPr sz="1125">
                <a:solidFill>
                  <a:srgbClr val="E9F2F9"/>
                </a:solidFill>
              </a:defRPr>
            </a:lvl5pPr>
            <a:lvl6pPr>
              <a:defRPr sz="1125">
                <a:solidFill>
                  <a:srgbClr val="E9F2F9"/>
                </a:solidFill>
              </a:defRPr>
            </a:lvl6pPr>
            <a:lvl7pPr>
              <a:defRPr sz="1125">
                <a:solidFill>
                  <a:srgbClr val="E9F2F9"/>
                </a:solidFill>
              </a:defRPr>
            </a:lvl7pPr>
            <a:lvl8pPr>
              <a:defRPr sz="1125">
                <a:solidFill>
                  <a:srgbClr val="E9F2F9"/>
                </a:solidFill>
              </a:defRPr>
            </a:lvl8pPr>
            <a:lvl9pPr>
              <a:defRPr sz="1125">
                <a:solidFill>
                  <a:srgbClr val="E9F2F9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wire w_second_tick =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(r_tick_counter == CLK_FREQ - 1);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if (w_second_tick) begin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r_tick_counter &lt;= 0;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r_dot_blink &lt;= !r_dot_blink;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921E0-05E2-4E83-AEEE-D8B6E81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524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172B4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>
                <a:solidFill>
                  <a:srgbClr val="E9F2F9"/>
                </a:solidFill>
              </a:defRPr>
            </a:defPPr>
            <a:lvl1pPr>
              <a:defRPr sz="1125">
                <a:solidFill>
                  <a:srgbClr val="E9F2F9"/>
                </a:solidFill>
              </a:defRPr>
            </a:lvl1pPr>
            <a:lvl2pPr>
              <a:defRPr sz="1125">
                <a:solidFill>
                  <a:srgbClr val="E9F2F9"/>
                </a:solidFill>
              </a:defRPr>
            </a:lvl2pPr>
            <a:lvl3pPr>
              <a:defRPr sz="1125">
                <a:solidFill>
                  <a:srgbClr val="E9F2F9"/>
                </a:solidFill>
              </a:defRPr>
            </a:lvl3pPr>
            <a:lvl4pPr>
              <a:defRPr sz="1125">
                <a:solidFill>
                  <a:srgbClr val="E9F2F9"/>
                </a:solidFill>
              </a:defRPr>
            </a:lvl4pPr>
            <a:lvl5pPr>
              <a:defRPr sz="1125">
                <a:solidFill>
                  <a:srgbClr val="E9F2F9"/>
                </a:solidFill>
              </a:defRPr>
            </a:lvl5pPr>
            <a:lvl6pPr>
              <a:defRPr sz="1125">
                <a:solidFill>
                  <a:srgbClr val="E9F2F9"/>
                </a:solidFill>
              </a:defRPr>
            </a:lvl6pPr>
            <a:lvl7pPr>
              <a:defRPr sz="1125">
                <a:solidFill>
                  <a:srgbClr val="E9F2F9"/>
                </a:solidFill>
              </a:defRPr>
            </a:lvl7pPr>
            <a:lvl8pPr>
              <a:defRPr sz="1125">
                <a:solidFill>
                  <a:srgbClr val="E9F2F9"/>
                </a:solidFill>
              </a:defRPr>
            </a:lvl8pPr>
            <a:lvl9pPr>
              <a:defRPr sz="1125">
                <a:solidFill>
                  <a:srgbClr val="E9F2F9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if (r_clock_sec == 59) begin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r_clock_sec &lt;= 0;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r_clock_min &lt;= (r_clock_min == 59)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             ? 0 : r_clock_min + 1;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end else begin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r_clock_sec &lt;= r_clock_sec + 1;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717E-BE2D-4E78-B0DC-FD74AF23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428750"/>
            <a:ext cx="300037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72B4D"/>
          </a:solidFill>
          <a:ln xmlns:a="http://schemas.openxmlformats.org/drawingml/2006/main" w="9525">
            <a:solidFill>
              <a:srgbClr val="172B4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>
                <a:solidFill>
                  <a:srgbClr val="E9F2F9"/>
                </a:solidFill>
              </a:defRPr>
            </a:defPPr>
            <a:lvl1pPr>
              <a:defRPr sz="1125">
                <a:solidFill>
                  <a:srgbClr val="E9F2F9"/>
                </a:solidFill>
              </a:defRPr>
            </a:lvl1pPr>
            <a:lvl2pPr>
              <a:defRPr sz="1125">
                <a:solidFill>
                  <a:srgbClr val="E9F2F9"/>
                </a:solidFill>
              </a:defRPr>
            </a:lvl2pPr>
            <a:lvl3pPr>
              <a:defRPr sz="1125">
                <a:solidFill>
                  <a:srgbClr val="E9F2F9"/>
                </a:solidFill>
              </a:defRPr>
            </a:lvl3pPr>
            <a:lvl4pPr>
              <a:defRPr sz="1125">
                <a:solidFill>
                  <a:srgbClr val="E9F2F9"/>
                </a:solidFill>
              </a:defRPr>
            </a:lvl4pPr>
            <a:lvl5pPr>
              <a:defRPr sz="1125">
                <a:solidFill>
                  <a:srgbClr val="E9F2F9"/>
                </a:solidFill>
              </a:defRPr>
            </a:lvl5pPr>
            <a:lvl6pPr>
              <a:defRPr sz="1125">
                <a:solidFill>
                  <a:srgbClr val="E9F2F9"/>
                </a:solidFill>
              </a:defRPr>
            </a:lvl6pPr>
            <a:lvl7pPr>
              <a:defRPr sz="1125">
                <a:solidFill>
                  <a:srgbClr val="E9F2F9"/>
                </a:solidFill>
              </a:defRPr>
            </a:lvl7pPr>
            <a:lvl8pPr>
              <a:defRPr sz="1125">
                <a:solidFill>
                  <a:srgbClr val="E9F2F9"/>
                </a:solidFill>
              </a:defRPr>
            </a:lvl8pPr>
            <a:lvl9pPr>
              <a:defRPr sz="1125">
                <a:solidFill>
                  <a:srgbClr val="E9F2F9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if (w_btnL_press)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r_stopwatch_mode &lt;= !r_stopwatch_mode;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if (w_btnC_press) begin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r_stopwatch_min &lt;= 0;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r_stopwatch_sec &lt;= 0;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end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if (w_btnR_press &amp;&amp; r_stopwatch_mode)</a:t>
            </a:r>
          </a:p>
          <a:p xmlns:a="http://schemas.openxmlformats.org/drawingml/2006/main">
            <a:pPr>
              <a:defRPr sz="1125">
                <a:solidFill>
                  <a:srgbClr val="E9F2F9"/>
                </a:solidFill>
              </a:defRPr>
            </a:pPr>
            <a:r>
              <a:rPr sz="1125">
                <a:solidFill>
                  <a:srgbClr val="E9F2F9"/>
                </a:solidFill>
              </a:rPr>
              <a:t>  r_stopwatch_running &lt;= !r_stopwatch_running;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AD57A-DBEA-4B40-9098-549007E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  <a:lvl1pPr algn="l">
              <a:defRPr sz="1500" b="0">
                <a:solidFill>
                  <a:srgbClr val="243B53"/>
                </a:solidFill>
              </a:defRPr>
            </a:lvl1pPr>
            <a:lvl2pPr algn="l">
              <a:defRPr sz="1500" b="0">
                <a:solidFill>
                  <a:srgbClr val="243B53"/>
                </a:solidFill>
              </a:defRPr>
            </a:lvl2pPr>
            <a:lvl3pPr algn="l">
              <a:defRPr sz="1500" b="0">
                <a:solidFill>
                  <a:srgbClr val="243B53"/>
                </a:solidFill>
              </a:defRPr>
            </a:lvl3pPr>
            <a:lvl4pPr algn="l">
              <a:defRPr sz="1500" b="0">
                <a:solidFill>
                  <a:srgbClr val="243B53"/>
                </a:solidFill>
              </a:defRPr>
            </a:lvl4pPr>
            <a:lvl5pPr algn="l">
              <a:defRPr sz="1500" b="0">
                <a:solidFill>
                  <a:srgbClr val="243B53"/>
                </a:solidFill>
              </a:defRPr>
            </a:lvl5pPr>
            <a:lvl6pPr algn="l">
              <a:defRPr sz="1500" b="0">
                <a:solidFill>
                  <a:srgbClr val="243B53"/>
                </a:solidFill>
              </a:defRPr>
            </a:lvl6pPr>
            <a:lvl7pPr algn="l">
              <a:defRPr sz="1500" b="0">
                <a:solidFill>
                  <a:srgbClr val="243B53"/>
                </a:solidFill>
              </a:defRPr>
            </a:lvl7pPr>
            <a:lvl8pPr algn="l">
              <a:defRPr sz="1500" b="0">
                <a:solidFill>
                  <a:srgbClr val="243B53"/>
                </a:solidFill>
              </a:defRPr>
            </a:lvl8pPr>
            <a:lvl9pPr algn="l">
              <a:defRPr sz="15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분주 · roll-over · 버튼 에지 검출의 세 부분을 분리해 읽으면 전체 동작을 설명하기 쉽다.</a:t>
            </a:r>
          </a:p>
        </p:txBody>
      </p:sp>
    </p:spTree>
    <p:extLst>
      <p:ext uri="{BB962C8B-B14F-4D97-AF65-F5344CB8AC3E}">
        <p14:creationId xmlns:p14="http://schemas.microsoft.com/office/powerpoint/2010/main" val="1823560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DC85C-B09B-4CD3-8C06-1256702C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Testbench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4B290-7B0E-4A9B-BC1E-8FDB82B3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9911-D7D1-49B4-BE2D-E85BE78C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11E2B-C802-4D20-91CA-DF3A36E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5FD0A-167E-49C3-A8C4-D8EC9E7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Clock generator</a:t>
            </a:r>
          </a:p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#5 toggle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B70E6-9330-4AA9-AF9D-2198A43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6A484-2F16-4B01-AC37-446848B9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43B53"/>
                </a:solidFill>
              </a:defRPr>
            </a:defPPr>
            <a:lvl1pPr algn="ctr">
              <a:defRPr sz="1725" b="1">
                <a:solidFill>
                  <a:srgbClr val="243B53"/>
                </a:solidFill>
              </a:defRPr>
            </a:lvl1pPr>
            <a:lvl2pPr algn="ctr">
              <a:defRPr sz="1725" b="1">
                <a:solidFill>
                  <a:srgbClr val="243B53"/>
                </a:solidFill>
              </a:defRPr>
            </a:lvl2pPr>
            <a:lvl3pPr algn="ctr">
              <a:defRPr sz="1725" b="1">
                <a:solidFill>
                  <a:srgbClr val="243B53"/>
                </a:solidFill>
              </a:defRPr>
            </a:lvl3pPr>
            <a:lvl4pPr algn="ctr">
              <a:defRPr sz="1725" b="1">
                <a:solidFill>
                  <a:srgbClr val="243B53"/>
                </a:solidFill>
              </a:defRPr>
            </a:lvl4pPr>
            <a:lvl5pPr algn="ctr">
              <a:defRPr sz="1725" b="1">
                <a:solidFill>
                  <a:srgbClr val="243B53"/>
                </a:solidFill>
              </a:defRPr>
            </a:lvl5pPr>
            <a:lvl6pPr algn="ctr">
              <a:defRPr sz="1725" b="1">
                <a:solidFill>
                  <a:srgbClr val="243B53"/>
                </a:solidFill>
              </a:defRPr>
            </a:lvl6pPr>
            <a:lvl7pPr algn="ctr">
              <a:defRPr sz="1725" b="1">
                <a:solidFill>
                  <a:srgbClr val="243B53"/>
                </a:solidFill>
              </a:defRPr>
            </a:lvl7pPr>
            <a:lvl8pPr algn="ctr">
              <a:defRPr sz="1725" b="1">
                <a:solidFill>
                  <a:srgbClr val="243B53"/>
                </a:solidFill>
              </a:defRPr>
            </a:lvl8pPr>
            <a:lvl9pPr algn="ctr">
              <a:defRPr sz="17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DUT</a:t>
            </a:r>
          </a:p>
          <a:p xmlns:a="http://schemas.openxmlformats.org/drawingml/2006/main">
            <a:pPr algn="ctr">
              <a:defRPr sz="1725" b="1">
                <a:solidFill>
                  <a:srgbClr val="243B53"/>
                </a:solidFill>
              </a:defRPr>
            </a:pPr>
            <a:r>
              <a:rPr sz="1725" b="1">
                <a:solidFill>
                  <a:srgbClr val="243B53"/>
                </a:solidFill>
              </a:rPr>
              <a:t>CLK_FREQ =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4C14B-B358-413E-8853-AA545B2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52700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09C04-DBFB-42B0-AE82-4116E422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Assertion</a:t>
            </a:r>
          </a:p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expected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0BCBD-3C81-4E81-851F-CFEA3F27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입력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479F0-89D0-4EDA-8F45-AD0133D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reset 해제  /  1초 카운트  /  BTN L 모드 전환  /  BTN R 정지·재개  /  BTN C 초기화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57467-5EED-4FFD-AA4C-F7728530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</a:defRPr>
            </a:defPPr>
            <a:lvl1pPr algn="l">
              <a:defRPr sz="1350" b="0">
                <a:solidFill>
                  <a:srgbClr val="627D98"/>
                </a:solidFill>
              </a:defRPr>
            </a:lvl1pPr>
            <a:lvl2pPr algn="l">
              <a:defRPr sz="1350" b="0">
                <a:solidFill>
                  <a:srgbClr val="627D98"/>
                </a:solidFill>
              </a:defRPr>
            </a:lvl2pPr>
            <a:lvl3pPr algn="l">
              <a:defRPr sz="1350" b="0">
                <a:solidFill>
                  <a:srgbClr val="627D98"/>
                </a:solidFill>
              </a:defRPr>
            </a:lvl3pPr>
            <a:lvl4pPr algn="l">
              <a:defRPr sz="1350" b="0">
                <a:solidFill>
                  <a:srgbClr val="627D98"/>
                </a:solidFill>
              </a:defRPr>
            </a:lvl4pPr>
            <a:lvl5pPr algn="l">
              <a:defRPr sz="1350" b="0">
                <a:solidFill>
                  <a:srgbClr val="627D98"/>
                </a:solidFill>
              </a:defRPr>
            </a:lvl5pPr>
            <a:lvl6pPr algn="l">
              <a:defRPr sz="1350" b="0">
                <a:solidFill>
                  <a:srgbClr val="627D98"/>
                </a:solidFill>
              </a:defRPr>
            </a:lvl6pPr>
            <a:lvl7pPr algn="l">
              <a:defRPr sz="1350" b="0">
                <a:solidFill>
                  <a:srgbClr val="627D98"/>
                </a:solidFill>
              </a:defRPr>
            </a:lvl7pPr>
            <a:lvl8pPr algn="l">
              <a:defRPr sz="1350" b="0">
                <a:solidFill>
                  <a:srgbClr val="627D98"/>
                </a:solidFill>
              </a:defRPr>
            </a:lvl8pPr>
            <a:lvl9pPr algn="l">
              <a:defRPr sz="13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하드웨어의 100 MHz 대신 CLK_FREQ=10을 사용해 시뮬레이션 시간을 짧게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310149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5A19E-F38E-49DB-B76A-B30CA60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Timing Chart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42570-ED6C-480D-AEC6-BCA6993F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0AF26-694C-4C57-B49B-B8FEF3B2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011AB-2524-41D0-AB6E-C40FC10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E01B1-86C9-42FF-A9C2-4EEE9D4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28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27D98"/>
                </a:solidFill>
              </a:defRPr>
            </a:defPPr>
            <a:lvl1pPr algn="l">
              <a:defRPr sz="1050" b="1">
                <a:solidFill>
                  <a:srgbClr val="627D98"/>
                </a:solidFill>
              </a:defRPr>
            </a:lvl1pPr>
            <a:lvl2pPr algn="l">
              <a:defRPr sz="1050" b="1">
                <a:solidFill>
                  <a:srgbClr val="627D98"/>
                </a:solidFill>
              </a:defRPr>
            </a:lvl2pPr>
            <a:lvl3pPr algn="l">
              <a:defRPr sz="1050" b="1">
                <a:solidFill>
                  <a:srgbClr val="627D98"/>
                </a:solidFill>
              </a:defRPr>
            </a:lvl3pPr>
            <a:lvl4pPr algn="l">
              <a:defRPr sz="1050" b="1">
                <a:solidFill>
                  <a:srgbClr val="627D98"/>
                </a:solidFill>
              </a:defRPr>
            </a:lvl4pPr>
            <a:lvl5pPr algn="l">
              <a:defRPr sz="1050" b="1">
                <a:solidFill>
                  <a:srgbClr val="627D98"/>
                </a:solidFill>
              </a:defRPr>
            </a:lvl5pPr>
            <a:lvl6pPr algn="l">
              <a:defRPr sz="1050" b="1">
                <a:solidFill>
                  <a:srgbClr val="627D98"/>
                </a:solidFill>
              </a:defRPr>
            </a:lvl6pPr>
            <a:lvl7pPr algn="l">
              <a:defRPr sz="1050" b="1">
                <a:solidFill>
                  <a:srgbClr val="627D98"/>
                </a:solidFill>
              </a:defRPr>
            </a:lvl7pPr>
            <a:lvl8pPr algn="l">
              <a:defRPr sz="1050" b="1">
                <a:solidFill>
                  <a:srgbClr val="627D98"/>
                </a:solidFill>
              </a:defRPr>
            </a:lvl8pPr>
            <a:lvl9pPr algn="l">
              <a:defRPr sz="105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99DDD-2C1E-4A5F-BE86-2B7964B4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431A-384A-4768-A7A7-2036436C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097C6-3AB8-4C2D-9485-85AB3514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9A01D-0CCB-4F20-B3D4-7EE9B4D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C3597-F394-4CA8-8F72-6E881AA9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3A2ED-7934-47FA-8921-518C52E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192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D971C-2839-45F9-B153-BD691810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reset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BA9B-60EC-4D6A-A2A1-EF5249BB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BTN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8C011-C77A-405B-A826-BB74746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BTN 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29C14-2FE9-475F-BA11-FAFCC7B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BTN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257E-6121-4F60-9E6C-397CDEC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seg_data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0184C-9C41-46A8-907E-8A27E42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animation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D6180-B801-43F2-A602-A66410BC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58556-0932-446E-9405-E1A2756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31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A9D8B-B340-4514-914D-8CC36F6E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DF7E9-1DA6-4E57-AA5D-9E1BCFEF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57450"/>
            <a:ext cx="585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411AB-9F93-462F-AD93-FEB590F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B2CF7-AD2E-4E9B-BD8A-BD04806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77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3A2E-B65B-4F32-9991-689E2C92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52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75595-3AC3-40DB-970C-F223062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116AD-CDDB-45D8-926A-F1D1A46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528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509222-B9BA-4544-B355-54E554EA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52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B4EDF-1C52-468E-A9B6-EBB3E3F2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52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E0875D-3208-433C-825C-9D59C1F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D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5AFB1-DE32-4FE4-AFA3-63827E3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67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D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51F4B-F03B-445D-B248-2B78CFA4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813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E86D6-12ED-4421-8D8B-460FFDA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D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1CDAD-B1C4-4FDA-BB5F-A03FD152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81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813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C769B-6EB4-4A1F-B35C-24FD5B4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E68131"/>
                </a:solidFill>
              </a:defRPr>
            </a:defPPr>
            <a:lvl1pPr algn="ctr">
              <a:defRPr sz="1125" b="1">
                <a:solidFill>
                  <a:srgbClr val="E68131"/>
                </a:solidFill>
              </a:defRPr>
            </a:lvl1pPr>
            <a:lvl2pPr algn="ctr">
              <a:defRPr sz="1125" b="1">
                <a:solidFill>
                  <a:srgbClr val="E68131"/>
                </a:solidFill>
              </a:defRPr>
            </a:lvl2pPr>
            <a:lvl3pPr algn="ctr">
              <a:defRPr sz="1125" b="1">
                <a:solidFill>
                  <a:srgbClr val="E68131"/>
                </a:solidFill>
              </a:defRPr>
            </a:lvl3pPr>
            <a:lvl4pPr algn="ctr">
              <a:defRPr sz="1125" b="1">
                <a:solidFill>
                  <a:srgbClr val="E68131"/>
                </a:solidFill>
              </a:defRPr>
            </a:lvl4pPr>
            <a:lvl5pPr algn="ctr">
              <a:defRPr sz="1125" b="1">
                <a:solidFill>
                  <a:srgbClr val="E68131"/>
                </a:solidFill>
              </a:defRPr>
            </a:lvl5pPr>
            <a:lvl6pPr algn="ctr">
              <a:defRPr sz="1125" b="1">
                <a:solidFill>
                  <a:srgbClr val="E68131"/>
                </a:solidFill>
              </a:defRPr>
            </a:lvl6pPr>
            <a:lvl7pPr algn="ctr">
              <a:defRPr sz="1125" b="1">
                <a:solidFill>
                  <a:srgbClr val="E68131"/>
                </a:solidFill>
              </a:defRPr>
            </a:lvl7pPr>
            <a:lvl8pPr algn="ctr">
              <a:defRPr sz="1125" b="1">
                <a:solidFill>
                  <a:srgbClr val="E68131"/>
                </a:solidFill>
              </a:defRPr>
            </a:lvl8pPr>
            <a:lvl9pPr algn="ctr">
              <a:defRPr sz="1125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E68131"/>
                </a:solidFill>
              </a:defRPr>
            </a:pPr>
            <a:r>
              <a:rPr sz="1125" b="1">
                <a:solidFill>
                  <a:srgbClr val="E68131"/>
                </a:solidFill>
              </a:rPr>
              <a:t>정지 후 5초 경과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97E068-F1FF-46CF-97DC-0D2740C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해석: BTN L 이후 stopwatch 값이 증가하고, BTN R 뒤에는 값이 유지된다. 정지 상태에서 5초가 지나면 animation_active가 1이 된다.</a:t>
            </a:r>
          </a:p>
        </p:txBody>
      </p:sp>
    </p:spTree>
    <p:extLst>
      <p:ext uri="{BB962C8B-B14F-4D97-AF65-F5344CB8AC3E}">
        <p14:creationId xmlns:p14="http://schemas.microsoft.com/office/powerpoint/2010/main" val="2143532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AA984-7A26-46FC-816A-39900886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Synthesis·Implementation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9FC3B-4EBB-402C-A288-5D77AF8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AD68-57ED-4764-9898-156CF92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6B40-585B-4D36-A83C-1EB7C83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D79FC-D9DE-4D44-AA69-2E4E77B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9BC07-D663-4A55-AD39-13B9D395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47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55A"/>
                </a:solidFill>
              </a:defRPr>
            </a:defPPr>
            <a:lvl1pPr algn="l">
              <a:defRPr sz="1650" b="1">
                <a:solidFill>
                  <a:srgbClr val="2F855A"/>
                </a:solidFill>
              </a:defRPr>
            </a:lvl1pPr>
            <a:lvl2pPr algn="l">
              <a:defRPr sz="1650" b="1">
                <a:solidFill>
                  <a:srgbClr val="2F855A"/>
                </a:solidFill>
              </a:defRPr>
            </a:lvl2pPr>
            <a:lvl3pPr algn="l">
              <a:defRPr sz="1650" b="1">
                <a:solidFill>
                  <a:srgbClr val="2F855A"/>
                </a:solidFill>
              </a:defRPr>
            </a:lvl3pPr>
            <a:lvl4pPr algn="l">
              <a:defRPr sz="1650" b="1">
                <a:solidFill>
                  <a:srgbClr val="2F855A"/>
                </a:solidFill>
              </a:defRPr>
            </a:lvl4pPr>
            <a:lvl5pPr algn="l">
              <a:defRPr sz="1650" b="1">
                <a:solidFill>
                  <a:srgbClr val="2F855A"/>
                </a:solidFill>
              </a:defRPr>
            </a:lvl5pPr>
            <a:lvl6pPr algn="l">
              <a:defRPr sz="1650" b="1">
                <a:solidFill>
                  <a:srgbClr val="2F855A"/>
                </a:solidFill>
              </a:defRPr>
            </a:lvl6pPr>
            <a:lvl7pPr algn="l">
              <a:defRPr sz="1650" b="1">
                <a:solidFill>
                  <a:srgbClr val="2F855A"/>
                </a:solidFill>
              </a:defRPr>
            </a:lvl7pPr>
            <a:lvl8pPr algn="l">
              <a:defRPr sz="1650" b="1">
                <a:solidFill>
                  <a:srgbClr val="2F855A"/>
                </a:solidFill>
              </a:defRPr>
            </a:lvl8pPr>
            <a:lvl9pPr algn="l">
              <a:defRPr sz="1650" b="1">
                <a:solidFill>
                  <a:srgbClr val="2F855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WNS 5.146 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D607-5ADF-4B51-A7EB-81762CFA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8EF92-A490-479D-9E96-598E600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47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55A"/>
                </a:solidFill>
              </a:defRPr>
            </a:defPPr>
            <a:lvl1pPr algn="l">
              <a:defRPr sz="1650" b="1">
                <a:solidFill>
                  <a:srgbClr val="2F855A"/>
                </a:solidFill>
              </a:defRPr>
            </a:lvl1pPr>
            <a:lvl2pPr algn="l">
              <a:defRPr sz="1650" b="1">
                <a:solidFill>
                  <a:srgbClr val="2F855A"/>
                </a:solidFill>
              </a:defRPr>
            </a:lvl2pPr>
            <a:lvl3pPr algn="l">
              <a:defRPr sz="1650" b="1">
                <a:solidFill>
                  <a:srgbClr val="2F855A"/>
                </a:solidFill>
              </a:defRPr>
            </a:lvl3pPr>
            <a:lvl4pPr algn="l">
              <a:defRPr sz="1650" b="1">
                <a:solidFill>
                  <a:srgbClr val="2F855A"/>
                </a:solidFill>
              </a:defRPr>
            </a:lvl4pPr>
            <a:lvl5pPr algn="l">
              <a:defRPr sz="1650" b="1">
                <a:solidFill>
                  <a:srgbClr val="2F855A"/>
                </a:solidFill>
              </a:defRPr>
            </a:lvl5pPr>
            <a:lvl6pPr algn="l">
              <a:defRPr sz="1650" b="1">
                <a:solidFill>
                  <a:srgbClr val="2F855A"/>
                </a:solidFill>
              </a:defRPr>
            </a:lvl6pPr>
            <a:lvl7pPr algn="l">
              <a:defRPr sz="1650" b="1">
                <a:solidFill>
                  <a:srgbClr val="2F855A"/>
                </a:solidFill>
              </a:defRPr>
            </a:lvl7pPr>
            <a:lvl8pPr algn="l">
              <a:defRPr sz="1650" b="1">
                <a:solidFill>
                  <a:srgbClr val="2F855A"/>
                </a:solidFill>
              </a:defRPr>
            </a:lvl8pPr>
            <a:lvl9pPr algn="l">
              <a:defRPr sz="1650" b="1">
                <a:solidFill>
                  <a:srgbClr val="2F855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WHS 0.191 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54934-5860-47F9-AB16-4BE6A435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Timing 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EA350-4177-47E2-9FA4-343C062E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55A"/>
                </a:solidFill>
              </a:defRPr>
            </a:defPPr>
            <a:lvl1pPr algn="l">
              <a:defRPr sz="1650" b="1">
                <a:solidFill>
                  <a:srgbClr val="2F855A"/>
                </a:solidFill>
              </a:defRPr>
            </a:lvl1pPr>
            <a:lvl2pPr algn="l">
              <a:defRPr sz="1650" b="1">
                <a:solidFill>
                  <a:srgbClr val="2F855A"/>
                </a:solidFill>
              </a:defRPr>
            </a:lvl2pPr>
            <a:lvl3pPr algn="l">
              <a:defRPr sz="1650" b="1">
                <a:solidFill>
                  <a:srgbClr val="2F855A"/>
                </a:solidFill>
              </a:defRPr>
            </a:lvl3pPr>
            <a:lvl4pPr algn="l">
              <a:defRPr sz="1650" b="1">
                <a:solidFill>
                  <a:srgbClr val="2F855A"/>
                </a:solidFill>
              </a:defRPr>
            </a:lvl4pPr>
            <a:lvl5pPr algn="l">
              <a:defRPr sz="1650" b="1">
                <a:solidFill>
                  <a:srgbClr val="2F855A"/>
                </a:solidFill>
              </a:defRPr>
            </a:lvl5pPr>
            <a:lvl6pPr algn="l">
              <a:defRPr sz="1650" b="1">
                <a:solidFill>
                  <a:srgbClr val="2F855A"/>
                </a:solidFill>
              </a:defRPr>
            </a:lvl6pPr>
            <a:lvl7pPr algn="l">
              <a:defRPr sz="1650" b="1">
                <a:solidFill>
                  <a:srgbClr val="2F855A"/>
                </a:solidFill>
              </a:defRPr>
            </a:lvl7pPr>
            <a:lvl8pPr algn="l">
              <a:defRPr sz="1650" b="1">
                <a:solidFill>
                  <a:srgbClr val="2F855A"/>
                </a:solidFill>
              </a:defRPr>
            </a:lvl8pPr>
            <a:lvl9pPr algn="l">
              <a:defRPr sz="1650" b="1">
                <a:solidFill>
                  <a:srgbClr val="2F855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DFA29-01B6-4832-932F-DA19ACA2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Resource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2EA33-D345-4FD9-AF43-2F79525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677B8"/>
                </a:solidFill>
              </a:defRPr>
            </a:defPPr>
            <a:lvl1pPr algn="l">
              <a:defRPr sz="1650" b="1">
                <a:solidFill>
                  <a:srgbClr val="1677B8"/>
                </a:solidFill>
              </a:defRPr>
            </a:lvl1pPr>
            <a:lvl2pPr algn="l">
              <a:defRPr sz="1650" b="1">
                <a:solidFill>
                  <a:srgbClr val="1677B8"/>
                </a:solidFill>
              </a:defRPr>
            </a:lvl2pPr>
            <a:lvl3pPr algn="l">
              <a:defRPr sz="1650" b="1">
                <a:solidFill>
                  <a:srgbClr val="1677B8"/>
                </a:solidFill>
              </a:defRPr>
            </a:lvl3pPr>
            <a:lvl4pPr algn="l">
              <a:defRPr sz="1650" b="1">
                <a:solidFill>
                  <a:srgbClr val="1677B8"/>
                </a:solidFill>
              </a:defRPr>
            </a:lvl4pPr>
            <a:lvl5pPr algn="l">
              <a:defRPr sz="1650" b="1">
                <a:solidFill>
                  <a:srgbClr val="1677B8"/>
                </a:solidFill>
              </a:defRPr>
            </a:lvl5pPr>
            <a:lvl6pPr algn="l">
              <a:defRPr sz="1650" b="1">
                <a:solidFill>
                  <a:srgbClr val="1677B8"/>
                </a:solidFill>
              </a:defRPr>
            </a:lvl6pPr>
            <a:lvl7pPr algn="l">
              <a:defRPr sz="1650" b="1">
                <a:solidFill>
                  <a:srgbClr val="1677B8"/>
                </a:solidFill>
              </a:defRPr>
            </a:lvl7pPr>
            <a:lvl8pPr algn="l">
              <a:defRPr sz="1650" b="1">
                <a:solidFill>
                  <a:srgbClr val="1677B8"/>
                </a:solidFill>
              </a:defRPr>
            </a:lvl8pPr>
            <a:lvl9pPr algn="l">
              <a:defRPr sz="165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77B8"/>
                </a:solidFill>
              </a:defRPr>
            </a:pPr>
            <a:r>
              <a:rPr sz="1650" b="1">
                <a:solidFill>
                  <a:srgbClr val="1677B8"/>
                </a:solidFill>
              </a:rPr>
              <a:t>LUT 292 / FF 148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9C163-9230-430F-B510-1D78492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68131"/>
                </a:solidFill>
              </a:defRPr>
            </a:defPPr>
            <a:lvl1pPr algn="l">
              <a:defRPr sz="1575" b="1">
                <a:solidFill>
                  <a:srgbClr val="E68131"/>
                </a:solidFill>
              </a:defRPr>
            </a:lvl1pPr>
            <a:lvl2pPr algn="l">
              <a:defRPr sz="1575" b="1">
                <a:solidFill>
                  <a:srgbClr val="E68131"/>
                </a:solidFill>
              </a:defRPr>
            </a:lvl2pPr>
            <a:lvl3pPr algn="l">
              <a:defRPr sz="1575" b="1">
                <a:solidFill>
                  <a:srgbClr val="E68131"/>
                </a:solidFill>
              </a:defRPr>
            </a:lvl3pPr>
            <a:lvl4pPr algn="l">
              <a:defRPr sz="1575" b="1">
                <a:solidFill>
                  <a:srgbClr val="E68131"/>
                </a:solidFill>
              </a:defRPr>
            </a:lvl4pPr>
            <a:lvl5pPr algn="l">
              <a:defRPr sz="1575" b="1">
                <a:solidFill>
                  <a:srgbClr val="E68131"/>
                </a:solidFill>
              </a:defRPr>
            </a:lvl5pPr>
            <a:lvl6pPr algn="l">
              <a:defRPr sz="1575" b="1">
                <a:solidFill>
                  <a:srgbClr val="E68131"/>
                </a:solidFill>
              </a:defRPr>
            </a:lvl6pPr>
            <a:lvl7pPr algn="l">
              <a:defRPr sz="1575" b="1">
                <a:solidFill>
                  <a:srgbClr val="E68131"/>
                </a:solidFill>
              </a:defRPr>
            </a:lvl7pPr>
            <a:lvl8pPr algn="l">
              <a:defRPr sz="1575" b="1">
                <a:solidFill>
                  <a:srgbClr val="E68131"/>
                </a:solidFill>
              </a:defRPr>
            </a:lvl8pPr>
            <a:lvl9pPr algn="l">
              <a:defRPr sz="1575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68131"/>
                </a:solidFill>
              </a:defRPr>
            </a:pPr>
            <a:r>
              <a:rPr sz="1575" b="1">
                <a:solidFill>
                  <a:srgbClr val="E68131"/>
                </a:solidFill>
              </a:rPr>
              <a:t>확인할 경고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8B909-DBC6-4CDC-A886-EBF5AE7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243B53"/>
                </a:solidFill>
              </a:defRPr>
            </a:defPPr>
            <a:lvl1pPr algn="l">
              <a:defRPr sz="1425" b="0">
                <a:solidFill>
                  <a:srgbClr val="243B53"/>
                </a:solidFill>
              </a:defRPr>
            </a:lvl1pPr>
            <a:lvl2pPr algn="l">
              <a:defRPr sz="1425" b="0">
                <a:solidFill>
                  <a:srgbClr val="243B53"/>
                </a:solidFill>
              </a:defRPr>
            </a:lvl2pPr>
            <a:lvl3pPr algn="l">
              <a:defRPr sz="1425" b="0">
                <a:solidFill>
                  <a:srgbClr val="243B53"/>
                </a:solidFill>
              </a:defRPr>
            </a:lvl3pPr>
            <a:lvl4pPr algn="l">
              <a:defRPr sz="1425" b="0">
                <a:solidFill>
                  <a:srgbClr val="243B53"/>
                </a:solidFill>
              </a:defRPr>
            </a:lvl4pPr>
            <a:lvl5pPr algn="l">
              <a:defRPr sz="1425" b="0">
                <a:solidFill>
                  <a:srgbClr val="243B53"/>
                </a:solidFill>
              </a:defRPr>
            </a:lvl5pPr>
            <a:lvl6pPr algn="l">
              <a:defRPr sz="1425" b="0">
                <a:solidFill>
                  <a:srgbClr val="243B53"/>
                </a:solidFill>
              </a:defRPr>
            </a:lvl6pPr>
            <a:lvl7pPr algn="l">
              <a:defRPr sz="1425" b="0">
                <a:solidFill>
                  <a:srgbClr val="243B53"/>
                </a:solidFill>
              </a:defRPr>
            </a:lvl7pPr>
            <a:lvl8pPr algn="l">
              <a:defRPr sz="1425" b="0">
                <a:solidFill>
                  <a:srgbClr val="243B53"/>
                </a:solidFill>
              </a:defRPr>
            </a:lvl8pPr>
            <a:lvl9pPr algn="l">
              <a:defRPr sz="142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FND 자리 선택에서 1 kHz tick을 클록처럼 사용해 non-clocked sequential cell 경고 2건이 발생했다. I/O delay 제약도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1393573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9EB85-AE7B-4A2A-B880-998252F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Trouble Shooting 및 개선 방향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D2E91-D058-4D5B-989E-E323FF2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0D41D-A8E0-4957-87C9-525C040A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DAC12-0705-461B-BF88-2235BC6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19811-62AE-4C18-A004-A4D695B4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714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D5780-A09B-442A-8D79-BFAAC21A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097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86797-4B78-442A-AC95-009E852C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43B53"/>
                </a:solidFill>
              </a:defRPr>
            </a:defPPr>
            <a:lvl1pPr algn="ctr">
              <a:defRPr sz="1350" b="1">
                <a:solidFill>
                  <a:srgbClr val="243B53"/>
                </a:solidFill>
              </a:defRPr>
            </a:lvl1pPr>
            <a:lvl2pPr algn="ctr">
              <a:defRPr sz="1350" b="1">
                <a:solidFill>
                  <a:srgbClr val="243B53"/>
                </a:solidFill>
              </a:defRPr>
            </a:lvl2pPr>
            <a:lvl3pPr algn="ctr">
              <a:defRPr sz="1350" b="1">
                <a:solidFill>
                  <a:srgbClr val="243B53"/>
                </a:solidFill>
              </a:defRPr>
            </a:lvl3pPr>
            <a:lvl4pPr algn="ctr">
              <a:defRPr sz="1350" b="1">
                <a:solidFill>
                  <a:srgbClr val="243B53"/>
                </a:solidFill>
              </a:defRPr>
            </a:lvl4pPr>
            <a:lvl5pPr algn="ctr">
              <a:defRPr sz="1350" b="1">
                <a:solidFill>
                  <a:srgbClr val="243B53"/>
                </a:solidFill>
              </a:defRPr>
            </a:lvl5pPr>
            <a:lvl6pPr algn="ctr">
              <a:defRPr sz="1350" b="1">
                <a:solidFill>
                  <a:srgbClr val="243B53"/>
                </a:solidFill>
              </a:defRPr>
            </a:lvl6pPr>
            <a:lvl7pPr algn="ctr">
              <a:defRPr sz="1350" b="1">
                <a:solidFill>
                  <a:srgbClr val="243B53"/>
                </a:solidFill>
              </a:defRPr>
            </a:lvl7pPr>
            <a:lvl8pPr algn="ctr">
              <a:defRPr sz="1350" b="1">
                <a:solidFill>
                  <a:srgbClr val="243B53"/>
                </a:solidFill>
              </a:defRPr>
            </a:lvl8pPr>
            <a:lvl9pPr algn="ctr">
              <a:defRPr sz="135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43B53"/>
                </a:solidFill>
              </a:defRPr>
            </a:pPr>
            <a:r>
              <a:rPr sz="1350" b="1">
                <a:solidFill>
                  <a:srgbClr val="243B53"/>
                </a:solidFill>
              </a:rPr>
              <a:t>대응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5E455-FF0D-4D8E-8B3D-FECABD6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버튼 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53EA2-61CA-4120-B988-38719EC1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한 번의 누름이 여러 입력으로 보일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1A238-DC2E-470C-A123-8FAD259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약 10 ms debouncer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0A43D-270E-43EA-AF87-5271C217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메타안정성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A9E2E-4E09-4790-868F-E7E746C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버튼은 100 MHz clk에 비동기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9FFFE-978E-4F4A-96EB-A16AB78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43B53"/>
                </a:solidFill>
              </a:defRPr>
            </a:defPPr>
            <a:lvl1pPr algn="l">
              <a:defRPr sz="1275" b="1">
                <a:solidFill>
                  <a:srgbClr val="243B53"/>
                </a:solidFill>
              </a:defRPr>
            </a:lvl1pPr>
            <a:lvl2pPr algn="l">
              <a:defRPr sz="1275" b="1">
                <a:solidFill>
                  <a:srgbClr val="243B53"/>
                </a:solidFill>
              </a:defRPr>
            </a:lvl2pPr>
            <a:lvl3pPr algn="l">
              <a:defRPr sz="1275" b="1">
                <a:solidFill>
                  <a:srgbClr val="243B53"/>
                </a:solidFill>
              </a:defRPr>
            </a:lvl3pPr>
            <a:lvl4pPr algn="l">
              <a:defRPr sz="1275" b="1">
                <a:solidFill>
                  <a:srgbClr val="243B53"/>
                </a:solidFill>
              </a:defRPr>
            </a:lvl4pPr>
            <a:lvl5pPr algn="l">
              <a:defRPr sz="1275" b="1">
                <a:solidFill>
                  <a:srgbClr val="243B53"/>
                </a:solidFill>
              </a:defRPr>
            </a:lvl5pPr>
            <a:lvl6pPr algn="l">
              <a:defRPr sz="1275" b="1">
                <a:solidFill>
                  <a:srgbClr val="243B53"/>
                </a:solidFill>
              </a:defRPr>
            </a:lvl6pPr>
            <a:lvl7pPr algn="l">
              <a:defRPr sz="1275" b="1">
                <a:solidFill>
                  <a:srgbClr val="243B53"/>
                </a:solidFill>
              </a:defRPr>
            </a:lvl7pPr>
            <a:lvl8pPr algn="l">
              <a:defRPr sz="1275" b="1">
                <a:solidFill>
                  <a:srgbClr val="243B53"/>
                </a:solidFill>
              </a:defRPr>
            </a:lvl8pPr>
            <a:lvl9pPr algn="l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2-FF synchronizer 추가 권장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8B7A7-8C2C-424F-9CA7-4991FCB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714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파생 클록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B1E08-F298-4222-96CC-1208BDC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243B53"/>
                </a:solidFill>
              </a:defRPr>
            </a:defPPr>
            <a:lvl1pPr algn="l">
              <a:defRPr sz="1275" b="0">
                <a:solidFill>
                  <a:srgbClr val="243B53"/>
                </a:solidFill>
              </a:defRPr>
            </a:lvl1pPr>
            <a:lvl2pPr algn="l">
              <a:defRPr sz="1275" b="0">
                <a:solidFill>
                  <a:srgbClr val="243B53"/>
                </a:solidFill>
              </a:defRPr>
            </a:lvl2pPr>
            <a:lvl3pPr algn="l">
              <a:defRPr sz="1275" b="0">
                <a:solidFill>
                  <a:srgbClr val="243B53"/>
                </a:solidFill>
              </a:defRPr>
            </a:lvl3pPr>
            <a:lvl4pPr algn="l">
              <a:defRPr sz="1275" b="0">
                <a:solidFill>
                  <a:srgbClr val="243B53"/>
                </a:solidFill>
              </a:defRPr>
            </a:lvl4pPr>
            <a:lvl5pPr algn="l">
              <a:defRPr sz="1275" b="0">
                <a:solidFill>
                  <a:srgbClr val="243B53"/>
                </a:solidFill>
              </a:defRPr>
            </a:lvl5pPr>
            <a:lvl6pPr algn="l">
              <a:defRPr sz="1275" b="0">
                <a:solidFill>
                  <a:srgbClr val="243B53"/>
                </a:solidFill>
              </a:defRPr>
            </a:lvl6pPr>
            <a:lvl7pPr algn="l">
              <a:defRPr sz="1275" b="0">
                <a:solidFill>
                  <a:srgbClr val="243B53"/>
                </a:solidFill>
              </a:defRPr>
            </a:lvl7pPr>
            <a:lvl8pPr algn="l">
              <a:defRPr sz="1275" b="0">
                <a:solidFill>
                  <a:srgbClr val="243B53"/>
                </a:solidFill>
              </a:defRPr>
            </a:lvl8pPr>
            <a:lvl9pPr algn="l">
              <a:defRPr sz="1275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tick posedge를 FND 클록으로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0A561-4CD9-4C12-8E37-AD71A8E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C44536"/>
                </a:solidFill>
              </a:defRPr>
            </a:defPPr>
            <a:lvl1pPr algn="l">
              <a:defRPr sz="1275" b="1">
                <a:solidFill>
                  <a:srgbClr val="C44536"/>
                </a:solidFill>
              </a:defRPr>
            </a:lvl1pPr>
            <a:lvl2pPr algn="l">
              <a:defRPr sz="1275" b="1">
                <a:solidFill>
                  <a:srgbClr val="C44536"/>
                </a:solidFill>
              </a:defRPr>
            </a:lvl2pPr>
            <a:lvl3pPr algn="l">
              <a:defRPr sz="1275" b="1">
                <a:solidFill>
                  <a:srgbClr val="C44536"/>
                </a:solidFill>
              </a:defRPr>
            </a:lvl3pPr>
            <a:lvl4pPr algn="l">
              <a:defRPr sz="1275" b="1">
                <a:solidFill>
                  <a:srgbClr val="C44536"/>
                </a:solidFill>
              </a:defRPr>
            </a:lvl4pPr>
            <a:lvl5pPr algn="l">
              <a:defRPr sz="1275" b="1">
                <a:solidFill>
                  <a:srgbClr val="C44536"/>
                </a:solidFill>
              </a:defRPr>
            </a:lvl5pPr>
            <a:lvl6pPr algn="l">
              <a:defRPr sz="1275" b="1">
                <a:solidFill>
                  <a:srgbClr val="C44536"/>
                </a:solidFill>
              </a:defRPr>
            </a:lvl6pPr>
            <a:lvl7pPr algn="l">
              <a:defRPr sz="1275" b="1">
                <a:solidFill>
                  <a:srgbClr val="C44536"/>
                </a:solidFill>
              </a:defRPr>
            </a:lvl7pPr>
            <a:lvl8pPr algn="l">
              <a:defRPr sz="1275" b="1">
                <a:solidFill>
                  <a:srgbClr val="C44536"/>
                </a:solidFill>
              </a:defRPr>
            </a:lvl8pPr>
            <a:lvl9pPr algn="l">
              <a:defRPr sz="1275" b="1">
                <a:solidFill>
                  <a:srgbClr val="C44536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C44536"/>
                </a:solidFill>
              </a:defRPr>
            </a:pPr>
            <a:r>
              <a:rPr sz="1275" b="1">
                <a:solidFill>
                  <a:srgbClr val="C44536"/>
                </a:solidFill>
              </a:rPr>
              <a:t>clk + clock enable 구조로 변경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C73B3-D2C6-473F-9F22-29114EC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</a:defRPr>
            </a:defPPr>
            <a:lvl1pPr algn="l">
              <a:defRPr sz="1350" b="0">
                <a:solidFill>
                  <a:srgbClr val="627D98"/>
                </a:solidFill>
              </a:defRPr>
            </a:lvl1pPr>
            <a:lvl2pPr algn="l">
              <a:defRPr sz="1350" b="0">
                <a:solidFill>
                  <a:srgbClr val="627D98"/>
                </a:solidFill>
              </a:defRPr>
            </a:lvl2pPr>
            <a:lvl3pPr algn="l">
              <a:defRPr sz="1350" b="0">
                <a:solidFill>
                  <a:srgbClr val="627D98"/>
                </a:solidFill>
              </a:defRPr>
            </a:lvl3pPr>
            <a:lvl4pPr algn="l">
              <a:defRPr sz="1350" b="0">
                <a:solidFill>
                  <a:srgbClr val="627D98"/>
                </a:solidFill>
              </a:defRPr>
            </a:lvl4pPr>
            <a:lvl5pPr algn="l">
              <a:defRPr sz="1350" b="0">
                <a:solidFill>
                  <a:srgbClr val="627D98"/>
                </a:solidFill>
              </a:defRPr>
            </a:lvl5pPr>
            <a:lvl6pPr algn="l">
              <a:defRPr sz="1350" b="0">
                <a:solidFill>
                  <a:srgbClr val="627D98"/>
                </a:solidFill>
              </a:defRPr>
            </a:lvl6pPr>
            <a:lvl7pPr algn="l">
              <a:defRPr sz="1350" b="0">
                <a:solidFill>
                  <a:srgbClr val="627D98"/>
                </a:solidFill>
              </a:defRPr>
            </a:lvl7pPr>
            <a:lvl8pPr algn="l">
              <a:defRPr sz="1350" b="0">
                <a:solidFill>
                  <a:srgbClr val="627D98"/>
                </a:solidFill>
              </a:defRPr>
            </a:lvl8pPr>
            <a:lvl9pPr algn="l">
              <a:defRPr sz="13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발표에서는 적용된 해결과 향후 개선을 구분해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129739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D8C04-C643-4406-93C7-D113FF6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동작 동영상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961FC-9AC7-4838-9223-16D46D1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A05DC-20E4-4AC2-A57C-9089CAC5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8EE06-A838-4C12-AFFE-2A38959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401F1-C771-415B-B0FD-E525430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810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27D98"/>
                </a:solidFill>
              </a:defRPr>
            </a:defPPr>
            <a:lvl1pPr algn="ctr">
              <a:defRPr sz="2100" b="1">
                <a:solidFill>
                  <a:srgbClr val="627D98"/>
                </a:solidFill>
              </a:defRPr>
            </a:lvl1pPr>
            <a:lvl2pPr algn="ctr">
              <a:defRPr sz="2100" b="1">
                <a:solidFill>
                  <a:srgbClr val="627D98"/>
                </a:solidFill>
              </a:defRPr>
            </a:lvl2pPr>
            <a:lvl3pPr algn="ctr">
              <a:defRPr sz="2100" b="1">
                <a:solidFill>
                  <a:srgbClr val="627D98"/>
                </a:solidFill>
              </a:defRPr>
            </a:lvl3pPr>
            <a:lvl4pPr algn="ctr">
              <a:defRPr sz="2100" b="1">
                <a:solidFill>
                  <a:srgbClr val="627D98"/>
                </a:solidFill>
              </a:defRPr>
            </a:lvl4pPr>
            <a:lvl5pPr algn="ctr">
              <a:defRPr sz="2100" b="1">
                <a:solidFill>
                  <a:srgbClr val="627D98"/>
                </a:solidFill>
              </a:defRPr>
            </a:lvl5pPr>
            <a:lvl6pPr algn="ctr">
              <a:defRPr sz="2100" b="1">
                <a:solidFill>
                  <a:srgbClr val="627D98"/>
                </a:solidFill>
              </a:defRPr>
            </a:lvl6pPr>
            <a:lvl7pPr algn="ctr">
              <a:defRPr sz="2100" b="1">
                <a:solidFill>
                  <a:srgbClr val="627D98"/>
                </a:solidFill>
              </a:defRPr>
            </a:lvl7pPr>
            <a:lvl8pPr algn="ctr">
              <a:defRPr sz="2100" b="1">
                <a:solidFill>
                  <a:srgbClr val="627D98"/>
                </a:solidFill>
              </a:defRPr>
            </a:lvl8pPr>
            <a:lvl9pPr algn="ctr">
              <a:defRPr sz="2100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27D98"/>
                </a:solidFill>
              </a:defRPr>
            </a:pPr>
            <a:r>
              <a:rPr sz="2100" b="1">
                <a:solidFill>
                  <a:srgbClr val="627D98"/>
                </a:solidFill>
              </a:rPr>
              <a:t>동영상 썸네일</a:t>
            </a:r>
          </a:p>
          <a:p xmlns:a="http://schemas.openxmlformats.org/drawingml/2006/main">
            <a:pPr algn="ctr">
              <a:defRPr sz="2100" b="1">
                <a:solidFill>
                  <a:srgbClr val="627D98"/>
                </a:solidFill>
              </a:defRPr>
            </a:pPr>
            <a:r>
              <a:rPr sz="2100" b="1">
                <a:solidFill>
                  <a:srgbClr val="627D98"/>
                </a:solidFill>
              </a:rPr>
              <a:t>촬영 후 삽입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1EE61-5900-4CD7-A297-F3A62149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733675"/>
            <a:ext cx="704850" cy="704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D3DB1-A738-43CA-B88D-43FFB29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90675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6813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C80DB-CBF5-4B41-8790-28A0122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47825"/>
            <a:ext cx="328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전원 인가 후 시계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E3B59-98F9-47D8-8CEB-03A99B04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6813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664D0-04F1-48BD-8C4B-A75ECAE8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28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BTN L로 스톱워치 모드 진입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E6908-A856-4A75-9E63-00C5D91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6813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9732E-E841-471F-B0A7-ABF83FA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9925"/>
            <a:ext cx="328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BTN R로 시작·정지, BTN C로 초기화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64C1-641D-429B-9DC4-7DA4957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381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6813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D42C2-C59A-4F13-B3DF-3E3137A6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90975"/>
            <a:ext cx="328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정지 5초 후 FND 애니메이션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B6493-355C-4552-948C-D769CE2F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권장 촬영: 버튼을 누르는 손과 7-segment LED가 한 화면에 보이도록 20~30초 분량으로 촬영</a:t>
            </a:r>
          </a:p>
        </p:txBody>
      </p:sp>
    </p:spTree>
    <p:extLst>
      <p:ext uri="{BB962C8B-B14F-4D97-AF65-F5344CB8AC3E}">
        <p14:creationId xmlns:p14="http://schemas.microsoft.com/office/powerpoint/2010/main" val="19672465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9CD51-0BF0-4D1F-B7DC-9463DC9E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Background: Setup / Hold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0A5B7-8866-4F6D-AC15-BCA1435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619AB-30C7-44F0-8F0D-17521429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EFCB6-8170-4691-95A5-FAF7346A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869D1-63E2-41D3-ABCF-6908EB9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개념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F2F61-7B90-4A2C-9673-428EE385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  <a:lvl1pPr algn="l">
              <a:defRPr sz="1500" b="0">
                <a:solidFill>
                  <a:srgbClr val="243B53"/>
                </a:solidFill>
              </a:defRPr>
            </a:lvl1pPr>
            <a:lvl2pPr algn="l">
              <a:defRPr sz="1500" b="0">
                <a:solidFill>
                  <a:srgbClr val="243B53"/>
                </a:solidFill>
              </a:defRPr>
            </a:lvl2pPr>
            <a:lvl3pPr algn="l">
              <a:defRPr sz="1500" b="0">
                <a:solidFill>
                  <a:srgbClr val="243B53"/>
                </a:solidFill>
              </a:defRPr>
            </a:lvl3pPr>
            <a:lvl4pPr algn="l">
              <a:defRPr sz="1500" b="0">
                <a:solidFill>
                  <a:srgbClr val="243B53"/>
                </a:solidFill>
              </a:defRPr>
            </a:lvl4pPr>
            <a:lvl5pPr algn="l">
              <a:defRPr sz="1500" b="0">
                <a:solidFill>
                  <a:srgbClr val="243B53"/>
                </a:solidFill>
              </a:defRPr>
            </a:lvl5pPr>
            <a:lvl6pPr algn="l">
              <a:defRPr sz="1500" b="0">
                <a:solidFill>
                  <a:srgbClr val="243B53"/>
                </a:solidFill>
              </a:defRPr>
            </a:lvl6pPr>
            <a:lvl7pPr algn="l">
              <a:defRPr sz="1500" b="0">
                <a:solidFill>
                  <a:srgbClr val="243B53"/>
                </a:solidFill>
              </a:defRPr>
            </a:lvl7pPr>
            <a:lvl8pPr algn="l">
              <a:defRPr sz="1500" b="0">
                <a:solidFill>
                  <a:srgbClr val="243B53"/>
                </a:solidFill>
              </a:defRPr>
            </a:lvl8pPr>
            <a:lvl9pPr algn="l">
              <a:defRPr sz="150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플립플롭은 클록 에지 전후의 일정 시간 동안 입력 D가 안정되어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06239-85C2-4D3E-854B-BDCB985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B9EC7-F473-4998-BB6A-AE13B69D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43069-9D01-4FA7-BCAC-ABE39D21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1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C20CC-3902-4B62-8027-727CD17A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68131"/>
                </a:solidFill>
              </a:defRPr>
            </a:defPPr>
            <a:lvl1pPr algn="ctr">
              <a:defRPr sz="975" b="1">
                <a:solidFill>
                  <a:srgbClr val="E68131"/>
                </a:solidFill>
              </a:defRPr>
            </a:lvl1pPr>
            <a:lvl2pPr algn="ctr">
              <a:defRPr sz="975" b="1">
                <a:solidFill>
                  <a:srgbClr val="E68131"/>
                </a:solidFill>
              </a:defRPr>
            </a:lvl2pPr>
            <a:lvl3pPr algn="ctr">
              <a:defRPr sz="975" b="1">
                <a:solidFill>
                  <a:srgbClr val="E68131"/>
                </a:solidFill>
              </a:defRPr>
            </a:lvl3pPr>
            <a:lvl4pPr algn="ctr">
              <a:defRPr sz="975" b="1">
                <a:solidFill>
                  <a:srgbClr val="E68131"/>
                </a:solidFill>
              </a:defRPr>
            </a:lvl4pPr>
            <a:lvl5pPr algn="ctr">
              <a:defRPr sz="975" b="1">
                <a:solidFill>
                  <a:srgbClr val="E68131"/>
                </a:solidFill>
              </a:defRPr>
            </a:lvl5pPr>
            <a:lvl6pPr algn="ctr">
              <a:defRPr sz="975" b="1">
                <a:solidFill>
                  <a:srgbClr val="E68131"/>
                </a:solidFill>
              </a:defRPr>
            </a:lvl6pPr>
            <a:lvl7pPr algn="ctr">
              <a:defRPr sz="975" b="1">
                <a:solidFill>
                  <a:srgbClr val="E68131"/>
                </a:solidFill>
              </a:defRPr>
            </a:lvl7pPr>
            <a:lvl8pPr algn="ctr">
              <a:defRPr sz="975" b="1">
                <a:solidFill>
                  <a:srgbClr val="E68131"/>
                </a:solidFill>
              </a:defRPr>
            </a:lvl8pPr>
            <a:lvl9pPr algn="ctr">
              <a:defRPr sz="975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68131"/>
                </a:solidFill>
              </a:defRPr>
            </a:pPr>
            <a:r>
              <a:rPr sz="975" b="1">
                <a:solidFill>
                  <a:srgbClr val="E68131"/>
                </a:solidFill>
              </a:rPr>
              <a:t>clk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F6FE7-F649-417E-B4F9-FA2462F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204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9CC4D-C8E1-4DEB-A949-446E2E70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9F898-E260-4BE2-9309-6A6EBD35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28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B8"/>
                </a:solidFill>
              </a:defRPr>
            </a:defPPr>
            <a:lvl1pPr algn="l">
              <a:defRPr sz="1050" b="1">
                <a:solidFill>
                  <a:srgbClr val="1677B8"/>
                </a:solidFill>
              </a:defRPr>
            </a:lvl1pPr>
            <a:lvl2pPr algn="l">
              <a:defRPr sz="1050" b="1">
                <a:solidFill>
                  <a:srgbClr val="1677B8"/>
                </a:solidFill>
              </a:defRPr>
            </a:lvl2pPr>
            <a:lvl3pPr algn="l">
              <a:defRPr sz="1050" b="1">
                <a:solidFill>
                  <a:srgbClr val="1677B8"/>
                </a:solidFill>
              </a:defRPr>
            </a:lvl3pPr>
            <a:lvl4pPr algn="l">
              <a:defRPr sz="1050" b="1">
                <a:solidFill>
                  <a:srgbClr val="1677B8"/>
                </a:solidFill>
              </a:defRPr>
            </a:lvl4pPr>
            <a:lvl5pPr algn="l">
              <a:defRPr sz="1050" b="1">
                <a:solidFill>
                  <a:srgbClr val="1677B8"/>
                </a:solidFill>
              </a:defRPr>
            </a:lvl5pPr>
            <a:lvl6pPr algn="l">
              <a:defRPr sz="1050" b="1">
                <a:solidFill>
                  <a:srgbClr val="1677B8"/>
                </a:solidFill>
              </a:defRPr>
            </a:lvl6pPr>
            <a:lvl7pPr algn="l">
              <a:defRPr sz="1050" b="1">
                <a:solidFill>
                  <a:srgbClr val="1677B8"/>
                </a:solidFill>
              </a:defRPr>
            </a:lvl7pPr>
            <a:lvl8pPr algn="l">
              <a:defRPr sz="1050" b="1">
                <a:solidFill>
                  <a:srgbClr val="1677B8"/>
                </a:solidFill>
              </a:defRPr>
            </a:lvl8pPr>
            <a:lvl9pPr algn="l">
              <a:defRPr sz="105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677B8"/>
                </a:solidFill>
              </a:defRPr>
            </a:pPr>
            <a:r>
              <a:rPr sz="1050" b="1">
                <a:solidFill>
                  <a:srgbClr val="1677B8"/>
                </a:solidFill>
              </a:rPr>
              <a:t>data 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DF350-130D-49F0-8FB9-092B4C37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336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68131"/>
                </a:solidFill>
              </a:defRPr>
            </a:defPPr>
            <a:lvl1pPr algn="ctr">
              <a:defRPr sz="1050" b="1">
                <a:solidFill>
                  <a:srgbClr val="E68131"/>
                </a:solidFill>
              </a:defRPr>
            </a:lvl1pPr>
            <a:lvl2pPr algn="ctr">
              <a:defRPr sz="1050" b="1">
                <a:solidFill>
                  <a:srgbClr val="E68131"/>
                </a:solidFill>
              </a:defRPr>
            </a:lvl2pPr>
            <a:lvl3pPr algn="ctr">
              <a:defRPr sz="1050" b="1">
                <a:solidFill>
                  <a:srgbClr val="E68131"/>
                </a:solidFill>
              </a:defRPr>
            </a:lvl3pPr>
            <a:lvl4pPr algn="ctr">
              <a:defRPr sz="1050" b="1">
                <a:solidFill>
                  <a:srgbClr val="E68131"/>
                </a:solidFill>
              </a:defRPr>
            </a:lvl4pPr>
            <a:lvl5pPr algn="ctr">
              <a:defRPr sz="1050" b="1">
                <a:solidFill>
                  <a:srgbClr val="E68131"/>
                </a:solidFill>
              </a:defRPr>
            </a:lvl5pPr>
            <a:lvl6pPr algn="ctr">
              <a:defRPr sz="1050" b="1">
                <a:solidFill>
                  <a:srgbClr val="E68131"/>
                </a:solidFill>
              </a:defRPr>
            </a:lvl6pPr>
            <a:lvl7pPr algn="ctr">
              <a:defRPr sz="1050" b="1">
                <a:solidFill>
                  <a:srgbClr val="E68131"/>
                </a:solidFill>
              </a:defRPr>
            </a:lvl7pPr>
            <a:lvl8pPr algn="ctr">
              <a:defRPr sz="1050" b="1">
                <a:solidFill>
                  <a:srgbClr val="E68131"/>
                </a:solidFill>
              </a:defRPr>
            </a:lvl8pPr>
            <a:lvl9pPr algn="ctr">
              <a:defRPr sz="1050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68131"/>
                </a:solidFill>
              </a:defRPr>
            </a:pPr>
            <a:r>
              <a:rPr sz="1050" b="1">
                <a:solidFill>
                  <a:srgbClr val="E68131"/>
                </a:solidFill>
              </a:rPr>
              <a:t>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6BC09-BAE0-4BB3-A19A-D30B481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E68131"/>
                </a:solidFill>
              </a:defRPr>
            </a:defPPr>
            <a:lvl1pPr algn="ctr">
              <a:defRPr sz="1050" b="1">
                <a:solidFill>
                  <a:srgbClr val="E68131"/>
                </a:solidFill>
              </a:defRPr>
            </a:lvl1pPr>
            <a:lvl2pPr algn="ctr">
              <a:defRPr sz="1050" b="1">
                <a:solidFill>
                  <a:srgbClr val="E68131"/>
                </a:solidFill>
              </a:defRPr>
            </a:lvl2pPr>
            <a:lvl3pPr algn="ctr">
              <a:defRPr sz="1050" b="1">
                <a:solidFill>
                  <a:srgbClr val="E68131"/>
                </a:solidFill>
              </a:defRPr>
            </a:lvl3pPr>
            <a:lvl4pPr algn="ctr">
              <a:defRPr sz="1050" b="1">
                <a:solidFill>
                  <a:srgbClr val="E68131"/>
                </a:solidFill>
              </a:defRPr>
            </a:lvl4pPr>
            <a:lvl5pPr algn="ctr">
              <a:defRPr sz="1050" b="1">
                <a:solidFill>
                  <a:srgbClr val="E68131"/>
                </a:solidFill>
              </a:defRPr>
            </a:lvl5pPr>
            <a:lvl6pPr algn="ctr">
              <a:defRPr sz="1050" b="1">
                <a:solidFill>
                  <a:srgbClr val="E68131"/>
                </a:solidFill>
              </a:defRPr>
            </a:lvl6pPr>
            <a:lvl7pPr algn="ctr">
              <a:defRPr sz="1050" b="1">
                <a:solidFill>
                  <a:srgbClr val="E68131"/>
                </a:solidFill>
              </a:defRPr>
            </a:lvl7pPr>
            <a:lvl8pPr algn="ctr">
              <a:defRPr sz="1050" b="1">
                <a:solidFill>
                  <a:srgbClr val="E68131"/>
                </a:solidFill>
              </a:defRPr>
            </a:lvl8pPr>
            <a:lvl9pPr algn="ctr">
              <a:defRPr sz="1050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68131"/>
                </a:solidFill>
              </a:defRPr>
            </a:pPr>
            <a:r>
              <a:rPr sz="1050" b="1">
                <a:solidFill>
                  <a:srgbClr val="E68131"/>
                </a:solidFill>
              </a:rPr>
              <a:t>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70BD-4F68-4CDC-8735-5E0062C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원인·문제점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39214-FE08-4C71-8FCB-764649C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52875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조합 논리 지연 또는 배선 지연이 길면 D가 늦게 도착한다. 다음 값이 보장되지 않거나 metastability가 생길 수 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E15F2-B13C-407B-8F57-43FABF0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해결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55AE6-983E-4F37-A990-76142A0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클록 주기를 늘리거나, 조합 논리를 줄이고, 파이프라인 레지스터를 넣고, XDC 타이밍 제약을 정확히 준다.</a:t>
            </a:r>
          </a:p>
        </p:txBody>
      </p:sp>
    </p:spTree>
    <p:extLst>
      <p:ext uri="{BB962C8B-B14F-4D97-AF65-F5344CB8AC3E}">
        <p14:creationId xmlns:p14="http://schemas.microsoft.com/office/powerpoint/2010/main" val="1639309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01701-DA53-4833-8E06-5A0985D2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Background: Metastability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64C1F-C53E-4148-B3B9-54E8E34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8F3CA-3272-4B39-938E-0951B572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3A12F-18F8-498C-BBD8-112FA3CE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8419C-AA64-40F5-A6AD-2E57DBB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비동기 버튼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29056-B683-4CBB-AE42-9064479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622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11647-38C0-4370-9248-606BC77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43125"/>
            <a:ext cx="1428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C44536"/>
                </a:solidFill>
              </a:defRPr>
            </a:defPPr>
            <a:lvl1pPr algn="ctr">
              <a:defRPr sz="1725" b="1">
                <a:solidFill>
                  <a:srgbClr val="C44536"/>
                </a:solidFill>
              </a:defRPr>
            </a:lvl1pPr>
            <a:lvl2pPr algn="ctr">
              <a:defRPr sz="1725" b="1">
                <a:solidFill>
                  <a:srgbClr val="C44536"/>
                </a:solidFill>
              </a:defRPr>
            </a:lvl2pPr>
            <a:lvl3pPr algn="ctr">
              <a:defRPr sz="1725" b="1">
                <a:solidFill>
                  <a:srgbClr val="C44536"/>
                </a:solidFill>
              </a:defRPr>
            </a:lvl3pPr>
            <a:lvl4pPr algn="ctr">
              <a:defRPr sz="1725" b="1">
                <a:solidFill>
                  <a:srgbClr val="C44536"/>
                </a:solidFill>
              </a:defRPr>
            </a:lvl4pPr>
            <a:lvl5pPr algn="ctr">
              <a:defRPr sz="1725" b="1">
                <a:solidFill>
                  <a:srgbClr val="C44536"/>
                </a:solidFill>
              </a:defRPr>
            </a:lvl5pPr>
            <a:lvl6pPr algn="ctr">
              <a:defRPr sz="1725" b="1">
                <a:solidFill>
                  <a:srgbClr val="C44536"/>
                </a:solidFill>
              </a:defRPr>
            </a:lvl6pPr>
            <a:lvl7pPr algn="ctr">
              <a:defRPr sz="1725" b="1">
                <a:solidFill>
                  <a:srgbClr val="C44536"/>
                </a:solidFill>
              </a:defRPr>
            </a:lvl7pPr>
            <a:lvl8pPr algn="ctr">
              <a:defRPr sz="1725" b="1">
                <a:solidFill>
                  <a:srgbClr val="C44536"/>
                </a:solidFill>
              </a:defRPr>
            </a:lvl8pPr>
            <a:lvl9pPr algn="ctr">
              <a:defRPr sz="1725" b="1">
                <a:solidFill>
                  <a:srgbClr val="C44536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C44536"/>
                </a:solidFill>
              </a:defRPr>
            </a:pPr>
            <a:r>
              <a:rPr sz="1725" b="1">
                <a:solidFill>
                  <a:srgbClr val="C44536"/>
                </a:solidFill>
              </a:rPr>
              <a:t>FF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6C620-E116-4727-A618-07E716DF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622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D58C0-1BE7-4791-BB21-9F37BB5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1428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F855A"/>
                </a:solidFill>
              </a:defRPr>
            </a:defPPr>
            <a:lvl1pPr algn="ctr">
              <a:defRPr sz="1725" b="1">
                <a:solidFill>
                  <a:srgbClr val="2F855A"/>
                </a:solidFill>
              </a:defRPr>
            </a:lvl1pPr>
            <a:lvl2pPr algn="ctr">
              <a:defRPr sz="1725" b="1">
                <a:solidFill>
                  <a:srgbClr val="2F855A"/>
                </a:solidFill>
              </a:defRPr>
            </a:lvl2pPr>
            <a:lvl3pPr algn="ctr">
              <a:defRPr sz="1725" b="1">
                <a:solidFill>
                  <a:srgbClr val="2F855A"/>
                </a:solidFill>
              </a:defRPr>
            </a:lvl3pPr>
            <a:lvl4pPr algn="ctr">
              <a:defRPr sz="1725" b="1">
                <a:solidFill>
                  <a:srgbClr val="2F855A"/>
                </a:solidFill>
              </a:defRPr>
            </a:lvl4pPr>
            <a:lvl5pPr algn="ctr">
              <a:defRPr sz="1725" b="1">
                <a:solidFill>
                  <a:srgbClr val="2F855A"/>
                </a:solidFill>
              </a:defRPr>
            </a:lvl5pPr>
            <a:lvl6pPr algn="ctr">
              <a:defRPr sz="1725" b="1">
                <a:solidFill>
                  <a:srgbClr val="2F855A"/>
                </a:solidFill>
              </a:defRPr>
            </a:lvl6pPr>
            <a:lvl7pPr algn="ctr">
              <a:defRPr sz="1725" b="1">
                <a:solidFill>
                  <a:srgbClr val="2F855A"/>
                </a:solidFill>
              </a:defRPr>
            </a:lvl7pPr>
            <a:lvl8pPr algn="ctr">
              <a:defRPr sz="1725" b="1">
                <a:solidFill>
                  <a:srgbClr val="2F855A"/>
                </a:solidFill>
              </a:defRPr>
            </a:lvl8pPr>
            <a:lvl9pPr algn="ctr">
              <a:defRPr sz="1725" b="1">
                <a:solidFill>
                  <a:srgbClr val="2F855A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FF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FF89B-75B8-45A6-AE14-4CA96AB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4AF74-8B18-4D9A-A83F-5A330B73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1619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243B53"/>
                </a:solidFill>
              </a:defRPr>
            </a:defPPr>
            <a:lvl1pPr algn="ctr">
              <a:defRPr sz="1425" b="1">
                <a:solidFill>
                  <a:srgbClr val="243B53"/>
                </a:solidFill>
              </a:defRPr>
            </a:lvl1pPr>
            <a:lvl2pPr algn="ctr">
              <a:defRPr sz="1425" b="1">
                <a:solidFill>
                  <a:srgbClr val="243B53"/>
                </a:solidFill>
              </a:defRPr>
            </a:lvl2pPr>
            <a:lvl3pPr algn="ctr">
              <a:defRPr sz="1425" b="1">
                <a:solidFill>
                  <a:srgbClr val="243B53"/>
                </a:solidFill>
              </a:defRPr>
            </a:lvl3pPr>
            <a:lvl4pPr algn="ctr">
              <a:defRPr sz="1425" b="1">
                <a:solidFill>
                  <a:srgbClr val="243B53"/>
                </a:solidFill>
              </a:defRPr>
            </a:lvl4pPr>
            <a:lvl5pPr algn="ctr">
              <a:defRPr sz="1425" b="1">
                <a:solidFill>
                  <a:srgbClr val="243B53"/>
                </a:solidFill>
              </a:defRPr>
            </a:lvl5pPr>
            <a:lvl6pPr algn="ctr">
              <a:defRPr sz="1425" b="1">
                <a:solidFill>
                  <a:srgbClr val="243B53"/>
                </a:solidFill>
              </a:defRPr>
            </a:lvl6pPr>
            <a:lvl7pPr algn="ctr">
              <a:defRPr sz="1425" b="1">
                <a:solidFill>
                  <a:srgbClr val="243B53"/>
                </a:solidFill>
              </a:defRPr>
            </a:lvl7pPr>
            <a:lvl8pPr algn="ctr">
              <a:defRPr sz="1425" b="1">
                <a:solidFill>
                  <a:srgbClr val="243B53"/>
                </a:solidFill>
              </a:defRPr>
            </a:lvl8pPr>
            <a:lvl9pPr algn="ctr">
              <a:defRPr sz="142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43B53"/>
                </a:solidFill>
              </a:defRPr>
            </a:pPr>
            <a:r>
              <a:rPr sz="1425" b="1">
                <a:solidFill>
                  <a:srgbClr val="243B53"/>
                </a:solidFill>
              </a:rPr>
              <a:t>FSM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F7DB5-0294-44B9-8611-A5E74EC9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원인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025B7-BEF1-4621-885B-CF8E623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버튼 신호가 시스템 클록 에지 근처에서 변하면 첫 번째 플립플롭의 출력이 일정 시간 0 또는 1로 결정되지 않을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26A28-6D8A-4F1D-99A9-5C02A9FE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B8"/>
                </a:solidFill>
              </a:defRPr>
            </a:defPPr>
            <a:lvl1pPr algn="l">
              <a:defRPr sz="1500" b="1">
                <a:solidFill>
                  <a:srgbClr val="1677B8"/>
                </a:solidFill>
              </a:defRPr>
            </a:lvl1pPr>
            <a:lvl2pPr algn="l">
              <a:defRPr sz="1500" b="1">
                <a:solidFill>
                  <a:srgbClr val="1677B8"/>
                </a:solidFill>
              </a:defRPr>
            </a:lvl2pPr>
            <a:lvl3pPr algn="l">
              <a:defRPr sz="1500" b="1">
                <a:solidFill>
                  <a:srgbClr val="1677B8"/>
                </a:solidFill>
              </a:defRPr>
            </a:lvl3pPr>
            <a:lvl4pPr algn="l">
              <a:defRPr sz="1500" b="1">
                <a:solidFill>
                  <a:srgbClr val="1677B8"/>
                </a:solidFill>
              </a:defRPr>
            </a:lvl4pPr>
            <a:lvl5pPr algn="l">
              <a:defRPr sz="1500" b="1">
                <a:solidFill>
                  <a:srgbClr val="1677B8"/>
                </a:solidFill>
              </a:defRPr>
            </a:lvl5pPr>
            <a:lvl6pPr algn="l">
              <a:defRPr sz="1500" b="1">
                <a:solidFill>
                  <a:srgbClr val="1677B8"/>
                </a:solidFill>
              </a:defRPr>
            </a:lvl6pPr>
            <a:lvl7pPr algn="l">
              <a:defRPr sz="1500" b="1">
                <a:solidFill>
                  <a:srgbClr val="1677B8"/>
                </a:solidFill>
              </a:defRPr>
            </a:lvl7pPr>
            <a:lvl8pPr algn="l">
              <a:defRPr sz="1500" b="1">
                <a:solidFill>
                  <a:srgbClr val="1677B8"/>
                </a:solidFill>
              </a:defRPr>
            </a:lvl8pPr>
            <a:lvl9pPr algn="l">
              <a:defRPr sz="1500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7B8"/>
                </a:solidFill>
              </a:defRPr>
            </a:pPr>
            <a:r>
              <a:rPr sz="1500" b="1">
                <a:solidFill>
                  <a:srgbClr val="1677B8"/>
                </a:solidFill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3F560-F3AE-4227-9483-79079A27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두 단계 플립플롭 동기화로 불확정 상태가 뒤 회로까지 전달될 확률을 크게 낮춘다. 디바운스는 별도 문제이므로 함께 유지한다.</a:t>
            </a:r>
          </a:p>
        </p:txBody>
      </p:sp>
    </p:spTree>
    <p:extLst>
      <p:ext uri="{BB962C8B-B14F-4D97-AF65-F5344CB8AC3E}">
        <p14:creationId xmlns:p14="http://schemas.microsoft.com/office/powerpoint/2010/main" val="19009264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A2522-D9C3-47AC-8554-FC801221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Background: Glitch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54FB-9B58-4953-9720-B4358061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23FBD-1C75-4596-B088-5E1319C5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E65A-DA24-4594-B58D-7F55FBB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7BD0C-65B5-449A-A715-5E4C56A1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23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입력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C0CE7-725A-429C-A055-B788AB67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23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입력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08BD2-49A2-49D0-BE8A-033D530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5737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C01AE-2A18-4393-8A28-559485C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7DDCA-3544-42A3-84C0-B86B445D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76450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EEBC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243B53"/>
                </a:solidFill>
              </a:defRPr>
            </a:defPPr>
            <a:lvl1pPr algn="ctr">
              <a:defRPr sz="1500" b="1">
                <a:solidFill>
                  <a:srgbClr val="243B53"/>
                </a:solidFill>
              </a:defRPr>
            </a:lvl1pPr>
            <a:lvl2pPr algn="ctr">
              <a:defRPr sz="1500" b="1">
                <a:solidFill>
                  <a:srgbClr val="243B53"/>
                </a:solidFill>
              </a:defRPr>
            </a:lvl2pPr>
            <a:lvl3pPr algn="ctr">
              <a:defRPr sz="1500" b="1">
                <a:solidFill>
                  <a:srgbClr val="243B53"/>
                </a:solidFill>
              </a:defRPr>
            </a:lvl3pPr>
            <a:lvl4pPr algn="ctr">
              <a:defRPr sz="1500" b="1">
                <a:solidFill>
                  <a:srgbClr val="243B53"/>
                </a:solidFill>
              </a:defRPr>
            </a:lvl4pPr>
            <a:lvl5pPr algn="ctr">
              <a:defRPr sz="1500" b="1">
                <a:solidFill>
                  <a:srgbClr val="243B53"/>
                </a:solidFill>
              </a:defRPr>
            </a:lvl5pPr>
            <a:lvl6pPr algn="ctr">
              <a:defRPr sz="1500" b="1">
                <a:solidFill>
                  <a:srgbClr val="243B53"/>
                </a:solidFill>
              </a:defRPr>
            </a:lvl6pPr>
            <a:lvl7pPr algn="ctr">
              <a:defRPr sz="1500" b="1">
                <a:solidFill>
                  <a:srgbClr val="243B53"/>
                </a:solidFill>
              </a:defRPr>
            </a:lvl7pPr>
            <a:lvl8pPr algn="ctr">
              <a:defRPr sz="1500" b="1">
                <a:solidFill>
                  <a:srgbClr val="243B53"/>
                </a:solidFill>
              </a:defRPr>
            </a:lvl8pPr>
            <a:lvl9pPr algn="ctr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조합 논리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98BE0-1066-4734-B1D9-8CF02BD3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2667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9525">
            <a:solidFill>
              <a:srgbClr val="167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B4F7-9EE2-492E-9A03-5C02DA1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1238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6DBFE-272C-4659-BD95-486CE7B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02F4B-15C6-4961-B135-0A70D3F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856A2-3E1D-4EC0-9B4B-96FCBA5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76625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1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DC898-3DC6-44CB-8C26-725B6A1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480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68131"/>
                </a:solidFill>
              </a:defRPr>
            </a:defPPr>
            <a:lvl1pPr algn="ctr">
              <a:defRPr sz="975" b="1">
                <a:solidFill>
                  <a:srgbClr val="E68131"/>
                </a:solidFill>
              </a:defRPr>
            </a:lvl1pPr>
            <a:lvl2pPr algn="ctr">
              <a:defRPr sz="975" b="1">
                <a:solidFill>
                  <a:srgbClr val="E68131"/>
                </a:solidFill>
              </a:defRPr>
            </a:lvl2pPr>
            <a:lvl3pPr algn="ctr">
              <a:defRPr sz="975" b="1">
                <a:solidFill>
                  <a:srgbClr val="E68131"/>
                </a:solidFill>
              </a:defRPr>
            </a:lvl3pPr>
            <a:lvl4pPr algn="ctr">
              <a:defRPr sz="975" b="1">
                <a:solidFill>
                  <a:srgbClr val="E68131"/>
                </a:solidFill>
              </a:defRPr>
            </a:lvl4pPr>
            <a:lvl5pPr algn="ctr">
              <a:defRPr sz="975" b="1">
                <a:solidFill>
                  <a:srgbClr val="E68131"/>
                </a:solidFill>
              </a:defRPr>
            </a:lvl5pPr>
            <a:lvl6pPr algn="ctr">
              <a:defRPr sz="975" b="1">
                <a:solidFill>
                  <a:srgbClr val="E68131"/>
                </a:solidFill>
              </a:defRPr>
            </a:lvl6pPr>
            <a:lvl7pPr algn="ctr">
              <a:defRPr sz="975" b="1">
                <a:solidFill>
                  <a:srgbClr val="E68131"/>
                </a:solidFill>
              </a:defRPr>
            </a:lvl7pPr>
            <a:lvl8pPr algn="ctr">
              <a:defRPr sz="975" b="1">
                <a:solidFill>
                  <a:srgbClr val="E68131"/>
                </a:solidFill>
              </a:defRPr>
            </a:lvl8pPr>
            <a:lvl9pPr algn="ctr">
              <a:defRPr sz="975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68131"/>
                </a:solidFill>
              </a:defRPr>
            </a:pPr>
            <a:r>
              <a:rPr sz="975" b="1">
                <a:solidFill>
                  <a:srgbClr val="E68131"/>
                </a:solidFill>
              </a:rPr>
              <a:t>clk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00BF2-B7C7-4C2A-838F-5FF3F4F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CCCE7-4984-4923-AA5B-FED8514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45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69A47-51D3-4518-A45C-661F8E8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43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45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5FE4-21DF-4F68-9321-F20A8D4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11E94-F587-4EFB-860E-B3EF674E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576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44536"/>
                </a:solidFill>
              </a:defRPr>
            </a:defPPr>
            <a:lvl1pPr algn="l">
              <a:defRPr sz="1050" b="1">
                <a:solidFill>
                  <a:srgbClr val="C44536"/>
                </a:solidFill>
              </a:defRPr>
            </a:lvl1pPr>
            <a:lvl2pPr algn="l">
              <a:defRPr sz="1050" b="1">
                <a:solidFill>
                  <a:srgbClr val="C44536"/>
                </a:solidFill>
              </a:defRPr>
            </a:lvl2pPr>
            <a:lvl3pPr algn="l">
              <a:defRPr sz="1050" b="1">
                <a:solidFill>
                  <a:srgbClr val="C44536"/>
                </a:solidFill>
              </a:defRPr>
            </a:lvl3pPr>
            <a:lvl4pPr algn="l">
              <a:defRPr sz="1050" b="1">
                <a:solidFill>
                  <a:srgbClr val="C44536"/>
                </a:solidFill>
              </a:defRPr>
            </a:lvl4pPr>
            <a:lvl5pPr algn="l">
              <a:defRPr sz="1050" b="1">
                <a:solidFill>
                  <a:srgbClr val="C44536"/>
                </a:solidFill>
              </a:defRPr>
            </a:lvl5pPr>
            <a:lvl6pPr algn="l">
              <a:defRPr sz="1050" b="1">
                <a:solidFill>
                  <a:srgbClr val="C44536"/>
                </a:solidFill>
              </a:defRPr>
            </a:lvl6pPr>
            <a:lvl7pPr algn="l">
              <a:defRPr sz="1050" b="1">
                <a:solidFill>
                  <a:srgbClr val="C44536"/>
                </a:solidFill>
              </a:defRPr>
            </a:lvl7pPr>
            <a:lvl8pPr algn="l">
              <a:defRPr sz="1050" b="1">
                <a:solidFill>
                  <a:srgbClr val="C44536"/>
                </a:solidFill>
              </a:defRPr>
            </a:lvl8pPr>
            <a:lvl9pPr algn="l">
              <a:defRPr sz="1050" b="1">
                <a:solidFill>
                  <a:srgbClr val="C44536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44536"/>
                </a:solidFill>
              </a:defRPr>
            </a:pPr>
            <a:r>
              <a:rPr sz="1050" b="1">
                <a:solidFill>
                  <a:srgbClr val="C44536"/>
                </a:solidFill>
              </a:rPr>
              <a:t>짧은 잘못된 펄스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A64F6-506A-4328-B8C7-FF1DFA0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7B8"/>
                </a:solidFill>
              </a:defRPr>
            </a:defPPr>
            <a:lvl1pPr algn="l">
              <a:defRPr sz="1425" b="1">
                <a:solidFill>
                  <a:srgbClr val="1677B8"/>
                </a:solidFill>
              </a:defRPr>
            </a:lvl1pPr>
            <a:lvl2pPr algn="l">
              <a:defRPr sz="1425" b="1">
                <a:solidFill>
                  <a:srgbClr val="1677B8"/>
                </a:solidFill>
              </a:defRPr>
            </a:lvl2pPr>
            <a:lvl3pPr algn="l">
              <a:defRPr sz="1425" b="1">
                <a:solidFill>
                  <a:srgbClr val="1677B8"/>
                </a:solidFill>
              </a:defRPr>
            </a:lvl3pPr>
            <a:lvl4pPr algn="l">
              <a:defRPr sz="1425" b="1">
                <a:solidFill>
                  <a:srgbClr val="1677B8"/>
                </a:solidFill>
              </a:defRPr>
            </a:lvl4pPr>
            <a:lvl5pPr algn="l">
              <a:defRPr sz="1425" b="1">
                <a:solidFill>
                  <a:srgbClr val="1677B8"/>
                </a:solidFill>
              </a:defRPr>
            </a:lvl5pPr>
            <a:lvl6pPr algn="l">
              <a:defRPr sz="1425" b="1">
                <a:solidFill>
                  <a:srgbClr val="1677B8"/>
                </a:solidFill>
              </a:defRPr>
            </a:lvl6pPr>
            <a:lvl7pPr algn="l">
              <a:defRPr sz="1425" b="1">
                <a:solidFill>
                  <a:srgbClr val="1677B8"/>
                </a:solidFill>
              </a:defRPr>
            </a:lvl7pPr>
            <a:lvl8pPr algn="l">
              <a:defRPr sz="1425" b="1">
                <a:solidFill>
                  <a:srgbClr val="1677B8"/>
                </a:solidFill>
              </a:defRPr>
            </a:lvl8pPr>
            <a:lvl9pPr algn="l">
              <a:defRPr sz="1425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정의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D6643-7F7C-4AC3-A6A4-46950CE9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논리식은 맞아도 경로 지연 차이 때문에 출력이 순간적으로 잘못 바뀌는 현상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6F778-993F-4B4B-85F3-ED19875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7B8"/>
                </a:solidFill>
              </a:defRPr>
            </a:defPPr>
            <a:lvl1pPr algn="l">
              <a:defRPr sz="1425" b="1">
                <a:solidFill>
                  <a:srgbClr val="1677B8"/>
                </a:solidFill>
              </a:defRPr>
            </a:lvl1pPr>
            <a:lvl2pPr algn="l">
              <a:defRPr sz="1425" b="1">
                <a:solidFill>
                  <a:srgbClr val="1677B8"/>
                </a:solidFill>
              </a:defRPr>
            </a:lvl2pPr>
            <a:lvl3pPr algn="l">
              <a:defRPr sz="1425" b="1">
                <a:solidFill>
                  <a:srgbClr val="1677B8"/>
                </a:solidFill>
              </a:defRPr>
            </a:lvl3pPr>
            <a:lvl4pPr algn="l">
              <a:defRPr sz="1425" b="1">
                <a:solidFill>
                  <a:srgbClr val="1677B8"/>
                </a:solidFill>
              </a:defRPr>
            </a:lvl4pPr>
            <a:lvl5pPr algn="l">
              <a:defRPr sz="1425" b="1">
                <a:solidFill>
                  <a:srgbClr val="1677B8"/>
                </a:solidFill>
              </a:defRPr>
            </a:lvl5pPr>
            <a:lvl6pPr algn="l">
              <a:defRPr sz="1425" b="1">
                <a:solidFill>
                  <a:srgbClr val="1677B8"/>
                </a:solidFill>
              </a:defRPr>
            </a:lvl6pPr>
            <a:lvl7pPr algn="l">
              <a:defRPr sz="1425" b="1">
                <a:solidFill>
                  <a:srgbClr val="1677B8"/>
                </a:solidFill>
              </a:defRPr>
            </a:lvl7pPr>
            <a:lvl8pPr algn="l">
              <a:defRPr sz="1425" b="1">
                <a:solidFill>
                  <a:srgbClr val="1677B8"/>
                </a:solidFill>
              </a:defRPr>
            </a:lvl8pPr>
            <a:lvl9pPr algn="l">
              <a:defRPr sz="1425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해결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7C6A4-B6B8-4FA8-B5A6-E43C178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출력을 레지스터로 받거나, 조합 경로를 단순화하고, 클록 신호는 전용 클록망 또는 clock enable로 제어한다.</a:t>
            </a:r>
          </a:p>
        </p:txBody>
      </p:sp>
    </p:spTree>
    <p:extLst>
      <p:ext uri="{BB962C8B-B14F-4D97-AF65-F5344CB8AC3E}">
        <p14:creationId xmlns:p14="http://schemas.microsoft.com/office/powerpoint/2010/main" val="19034846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FBB69-DDF1-4D56-80D9-CBE59C2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Background: Fan-out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AD001-6641-4C6F-82EB-B12B220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E4E85-0996-4379-AF4C-40B4C7D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266C-AC8E-4C9E-9A6C-D5EE926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9DA42-985D-41C4-8A83-404AA507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62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9F2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243B53"/>
                </a:solidFill>
              </a:defRPr>
            </a:defPPr>
            <a:lvl1pPr algn="ctr">
              <a:defRPr sz="1575" b="1">
                <a:solidFill>
                  <a:srgbClr val="243B53"/>
                </a:solidFill>
              </a:defRPr>
            </a:lvl1pPr>
            <a:lvl2pPr algn="ctr">
              <a:defRPr sz="1575" b="1">
                <a:solidFill>
                  <a:srgbClr val="243B53"/>
                </a:solidFill>
              </a:defRPr>
            </a:lvl2pPr>
            <a:lvl3pPr algn="ctr">
              <a:defRPr sz="1575" b="1">
                <a:solidFill>
                  <a:srgbClr val="243B53"/>
                </a:solidFill>
              </a:defRPr>
            </a:lvl3pPr>
            <a:lvl4pPr algn="ctr">
              <a:defRPr sz="1575" b="1">
                <a:solidFill>
                  <a:srgbClr val="243B53"/>
                </a:solidFill>
              </a:defRPr>
            </a:lvl4pPr>
            <a:lvl5pPr algn="ctr">
              <a:defRPr sz="1575" b="1">
                <a:solidFill>
                  <a:srgbClr val="243B53"/>
                </a:solidFill>
              </a:defRPr>
            </a:lvl5pPr>
            <a:lvl6pPr algn="ctr">
              <a:defRPr sz="1575" b="1">
                <a:solidFill>
                  <a:srgbClr val="243B53"/>
                </a:solidFill>
              </a:defRPr>
            </a:lvl6pPr>
            <a:lvl7pPr algn="ctr">
              <a:defRPr sz="1575" b="1">
                <a:solidFill>
                  <a:srgbClr val="243B53"/>
                </a:solidFill>
              </a:defRPr>
            </a:lvl7pPr>
            <a:lvl8pPr algn="ctr">
              <a:defRPr sz="1575" b="1">
                <a:solidFill>
                  <a:srgbClr val="243B53"/>
                </a:solidFill>
              </a:defRPr>
            </a:lvl8pPr>
            <a:lvl9pPr algn="ctr">
              <a:defRPr sz="15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243B53"/>
                </a:solidFill>
              </a:defRPr>
            </a:pPr>
            <a:r>
              <a:rPr sz="1575" b="1">
                <a:solidFill>
                  <a:srgbClr val="243B53"/>
                </a:solidFill>
              </a:rPr>
              <a:t>하나의 신호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390B5-9A68-4FA2-B8CF-14DD50C9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43000"/>
            <a:ext cx="1524000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62664-FC99-45A7-B594-50EF56FE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95350"/>
            <a:ext cx="1619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FF bank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D1D9E-1E35-4EF2-9AE1-8EDE177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5240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A5149-017A-42D8-9EE7-BC87CE51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1619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decoder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4271C-37B3-4B40-8549-CCA28E38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9875"/>
            <a:ext cx="152400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0C2A0-32AA-4E2E-B441-B5194D84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1619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7E656-B752-4C15-96BE-5FF01A3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9875"/>
            <a:ext cx="1524000" cy="2333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D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DF6A-B353-4AA3-BD27-29A0B9DE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1619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243B53"/>
                </a:solidFill>
              </a:defRPr>
            </a:defPPr>
            <a:lvl1pPr algn="ctr">
              <a:defRPr sz="1275" b="1">
                <a:solidFill>
                  <a:srgbClr val="243B53"/>
                </a:solidFill>
              </a:defRPr>
            </a:lvl1pPr>
            <a:lvl2pPr algn="ctr">
              <a:defRPr sz="1275" b="1">
                <a:solidFill>
                  <a:srgbClr val="243B53"/>
                </a:solidFill>
              </a:defRPr>
            </a:lvl2pPr>
            <a:lvl3pPr algn="ctr">
              <a:defRPr sz="1275" b="1">
                <a:solidFill>
                  <a:srgbClr val="243B53"/>
                </a:solidFill>
              </a:defRPr>
            </a:lvl3pPr>
            <a:lvl4pPr algn="ctr">
              <a:defRPr sz="1275" b="1">
                <a:solidFill>
                  <a:srgbClr val="243B53"/>
                </a:solidFill>
              </a:defRPr>
            </a:lvl4pPr>
            <a:lvl5pPr algn="ctr">
              <a:defRPr sz="1275" b="1">
                <a:solidFill>
                  <a:srgbClr val="243B53"/>
                </a:solidFill>
              </a:defRPr>
            </a:lvl5pPr>
            <a:lvl6pPr algn="ctr">
              <a:defRPr sz="1275" b="1">
                <a:solidFill>
                  <a:srgbClr val="243B53"/>
                </a:solidFill>
              </a:defRPr>
            </a:lvl6pPr>
            <a:lvl7pPr algn="ctr">
              <a:defRPr sz="1275" b="1">
                <a:solidFill>
                  <a:srgbClr val="243B53"/>
                </a:solidFill>
              </a:defRPr>
            </a:lvl7pPr>
            <a:lvl8pPr algn="ctr">
              <a:defRPr sz="1275" b="1">
                <a:solidFill>
                  <a:srgbClr val="243B53"/>
                </a:solidFill>
              </a:defRPr>
            </a:lvl8pPr>
            <a:lvl9pPr algn="ctr">
              <a:defRPr sz="1275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243B53"/>
                </a:solidFill>
              </a:defRPr>
            </a:pPr>
            <a:r>
              <a:rPr sz="1275" b="1">
                <a:solidFill>
                  <a:srgbClr val="243B53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BCA0A-18DB-4128-B8BA-89C47E4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7B8"/>
                </a:solidFill>
              </a:defRPr>
            </a:defPPr>
            <a:lvl1pPr algn="l">
              <a:defRPr sz="1425" b="1">
                <a:solidFill>
                  <a:srgbClr val="1677B8"/>
                </a:solidFill>
              </a:defRPr>
            </a:lvl1pPr>
            <a:lvl2pPr algn="l">
              <a:defRPr sz="1425" b="1">
                <a:solidFill>
                  <a:srgbClr val="1677B8"/>
                </a:solidFill>
              </a:defRPr>
            </a:lvl2pPr>
            <a:lvl3pPr algn="l">
              <a:defRPr sz="1425" b="1">
                <a:solidFill>
                  <a:srgbClr val="1677B8"/>
                </a:solidFill>
              </a:defRPr>
            </a:lvl3pPr>
            <a:lvl4pPr algn="l">
              <a:defRPr sz="1425" b="1">
                <a:solidFill>
                  <a:srgbClr val="1677B8"/>
                </a:solidFill>
              </a:defRPr>
            </a:lvl4pPr>
            <a:lvl5pPr algn="l">
              <a:defRPr sz="1425" b="1">
                <a:solidFill>
                  <a:srgbClr val="1677B8"/>
                </a:solidFill>
              </a:defRPr>
            </a:lvl5pPr>
            <a:lvl6pPr algn="l">
              <a:defRPr sz="1425" b="1">
                <a:solidFill>
                  <a:srgbClr val="1677B8"/>
                </a:solidFill>
              </a:defRPr>
            </a:lvl6pPr>
            <a:lvl7pPr algn="l">
              <a:defRPr sz="1425" b="1">
                <a:solidFill>
                  <a:srgbClr val="1677B8"/>
                </a:solidFill>
              </a:defRPr>
            </a:lvl7pPr>
            <a:lvl8pPr algn="l">
              <a:defRPr sz="1425" b="1">
                <a:solidFill>
                  <a:srgbClr val="1677B8"/>
                </a:solidFill>
              </a:defRPr>
            </a:lvl8pPr>
            <a:lvl9pPr algn="l">
              <a:defRPr sz="1425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정의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D1E60-526F-4CD0-9BE7-7C84FF1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한 신호가 구동하는 입력 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0F738-A4FD-4738-8B10-8E783F0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7B8"/>
                </a:solidFill>
              </a:defRPr>
            </a:defPPr>
            <a:lvl1pPr algn="l">
              <a:defRPr sz="1425" b="1">
                <a:solidFill>
                  <a:srgbClr val="1677B8"/>
                </a:solidFill>
              </a:defRPr>
            </a:lvl1pPr>
            <a:lvl2pPr algn="l">
              <a:defRPr sz="1425" b="1">
                <a:solidFill>
                  <a:srgbClr val="1677B8"/>
                </a:solidFill>
              </a:defRPr>
            </a:lvl2pPr>
            <a:lvl3pPr algn="l">
              <a:defRPr sz="1425" b="1">
                <a:solidFill>
                  <a:srgbClr val="1677B8"/>
                </a:solidFill>
              </a:defRPr>
            </a:lvl3pPr>
            <a:lvl4pPr algn="l">
              <a:defRPr sz="1425" b="1">
                <a:solidFill>
                  <a:srgbClr val="1677B8"/>
                </a:solidFill>
              </a:defRPr>
            </a:lvl4pPr>
            <a:lvl5pPr algn="l">
              <a:defRPr sz="1425" b="1">
                <a:solidFill>
                  <a:srgbClr val="1677B8"/>
                </a:solidFill>
              </a:defRPr>
            </a:lvl5pPr>
            <a:lvl6pPr algn="l">
              <a:defRPr sz="1425" b="1">
                <a:solidFill>
                  <a:srgbClr val="1677B8"/>
                </a:solidFill>
              </a:defRPr>
            </a:lvl6pPr>
            <a:lvl7pPr algn="l">
              <a:defRPr sz="1425" b="1">
                <a:solidFill>
                  <a:srgbClr val="1677B8"/>
                </a:solidFill>
              </a:defRPr>
            </a:lvl7pPr>
            <a:lvl8pPr algn="l">
              <a:defRPr sz="1425" b="1">
                <a:solidFill>
                  <a:srgbClr val="1677B8"/>
                </a:solidFill>
              </a:defRPr>
            </a:lvl8pPr>
            <a:lvl9pPr algn="l">
              <a:defRPr sz="1425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문제점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5CB5F-D8FA-46DA-9590-1B47A6DB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부하와 배선이 늘면 지연이 커져 timing margin이 줄 수 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C5539-5D4E-4E9E-B7B3-E098C456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677B8"/>
                </a:solidFill>
              </a:defRPr>
            </a:defPPr>
            <a:lvl1pPr algn="l">
              <a:defRPr sz="1425" b="1">
                <a:solidFill>
                  <a:srgbClr val="1677B8"/>
                </a:solidFill>
              </a:defRPr>
            </a:lvl1pPr>
            <a:lvl2pPr algn="l">
              <a:defRPr sz="1425" b="1">
                <a:solidFill>
                  <a:srgbClr val="1677B8"/>
                </a:solidFill>
              </a:defRPr>
            </a:lvl2pPr>
            <a:lvl3pPr algn="l">
              <a:defRPr sz="1425" b="1">
                <a:solidFill>
                  <a:srgbClr val="1677B8"/>
                </a:solidFill>
              </a:defRPr>
            </a:lvl3pPr>
            <a:lvl4pPr algn="l">
              <a:defRPr sz="1425" b="1">
                <a:solidFill>
                  <a:srgbClr val="1677B8"/>
                </a:solidFill>
              </a:defRPr>
            </a:lvl4pPr>
            <a:lvl5pPr algn="l">
              <a:defRPr sz="1425" b="1">
                <a:solidFill>
                  <a:srgbClr val="1677B8"/>
                </a:solidFill>
              </a:defRPr>
            </a:lvl5pPr>
            <a:lvl6pPr algn="l">
              <a:defRPr sz="1425" b="1">
                <a:solidFill>
                  <a:srgbClr val="1677B8"/>
                </a:solidFill>
              </a:defRPr>
            </a:lvl6pPr>
            <a:lvl7pPr algn="l">
              <a:defRPr sz="1425" b="1">
                <a:solidFill>
                  <a:srgbClr val="1677B8"/>
                </a:solidFill>
              </a:defRPr>
            </a:lvl7pPr>
            <a:lvl8pPr algn="l">
              <a:defRPr sz="1425" b="1">
                <a:solidFill>
                  <a:srgbClr val="1677B8"/>
                </a:solidFill>
              </a:defRPr>
            </a:lvl8pPr>
            <a:lvl9pPr algn="l">
              <a:defRPr sz="1425" b="1">
                <a:solidFill>
                  <a:srgbClr val="1677B8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677B8"/>
                </a:solidFill>
              </a:defRPr>
            </a:pPr>
            <a:r>
              <a:rPr sz="1425" b="1">
                <a:solidFill>
                  <a:srgbClr val="1677B8"/>
                </a:solidFill>
              </a:rPr>
              <a:t>해결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796D2-46B3-4506-ACDF-0F663E8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클록은 FPGA 전용 clock network를 사용하고, 필요한 경우 register 복제 또는 fan-out 제약을 검토한다.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C0F7C-11A4-4021-9964-C0D3194F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27D98"/>
                </a:solidFill>
              </a:defRPr>
            </a:defPPr>
            <a:lvl1pPr algn="l">
              <a:defRPr sz="1350" b="0">
                <a:solidFill>
                  <a:srgbClr val="627D98"/>
                </a:solidFill>
              </a:defRPr>
            </a:lvl1pPr>
            <a:lvl2pPr algn="l">
              <a:defRPr sz="1350" b="0">
                <a:solidFill>
                  <a:srgbClr val="627D98"/>
                </a:solidFill>
              </a:defRPr>
            </a:lvl2pPr>
            <a:lvl3pPr algn="l">
              <a:defRPr sz="1350" b="0">
                <a:solidFill>
                  <a:srgbClr val="627D98"/>
                </a:solidFill>
              </a:defRPr>
            </a:lvl3pPr>
            <a:lvl4pPr algn="l">
              <a:defRPr sz="1350" b="0">
                <a:solidFill>
                  <a:srgbClr val="627D98"/>
                </a:solidFill>
              </a:defRPr>
            </a:lvl4pPr>
            <a:lvl5pPr algn="l">
              <a:defRPr sz="1350" b="0">
                <a:solidFill>
                  <a:srgbClr val="627D98"/>
                </a:solidFill>
              </a:defRPr>
            </a:lvl5pPr>
            <a:lvl6pPr algn="l">
              <a:defRPr sz="1350" b="0">
                <a:solidFill>
                  <a:srgbClr val="627D98"/>
                </a:solidFill>
              </a:defRPr>
            </a:lvl6pPr>
            <a:lvl7pPr algn="l">
              <a:defRPr sz="1350" b="0">
                <a:solidFill>
                  <a:srgbClr val="627D98"/>
                </a:solidFill>
              </a:defRPr>
            </a:lvl7pPr>
            <a:lvl8pPr algn="l">
              <a:defRPr sz="1350" b="0">
                <a:solidFill>
                  <a:srgbClr val="627D98"/>
                </a:solidFill>
              </a:defRPr>
            </a:lvl8pPr>
            <a:lvl9pPr algn="l">
              <a:defRPr sz="1350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현재 설계에서 clk은 top 하위 모듈 전체에 분배된다. timing report로 실제 여유를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751527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2F52A-8BCE-490B-B884-2ED8DF9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구현 후기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4669F-AD60-4123-87CF-DCEAE55F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2CD9C-86F7-4778-943D-CECC844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627D98"/>
                </a:solidFill>
              </a:defRPr>
            </a:defPPr>
            <a:lvl1pPr algn="r">
              <a:defRPr sz="1125" b="1">
                <a:solidFill>
                  <a:srgbClr val="627D98"/>
                </a:solidFill>
              </a:defRPr>
            </a:lvl1pPr>
            <a:lvl2pPr algn="r">
              <a:defRPr sz="1125" b="1">
                <a:solidFill>
                  <a:srgbClr val="627D98"/>
                </a:solidFill>
              </a:defRPr>
            </a:lvl2pPr>
            <a:lvl3pPr algn="r">
              <a:defRPr sz="1125" b="1">
                <a:solidFill>
                  <a:srgbClr val="627D98"/>
                </a:solidFill>
              </a:defRPr>
            </a:lvl3pPr>
            <a:lvl4pPr algn="r">
              <a:defRPr sz="1125" b="1">
                <a:solidFill>
                  <a:srgbClr val="627D98"/>
                </a:solidFill>
              </a:defRPr>
            </a:lvl4pPr>
            <a:lvl5pPr algn="r">
              <a:defRPr sz="1125" b="1">
                <a:solidFill>
                  <a:srgbClr val="627D98"/>
                </a:solidFill>
              </a:defRPr>
            </a:lvl5pPr>
            <a:lvl6pPr algn="r">
              <a:defRPr sz="1125" b="1">
                <a:solidFill>
                  <a:srgbClr val="627D98"/>
                </a:solidFill>
              </a:defRPr>
            </a:lvl6pPr>
            <a:lvl7pPr algn="r">
              <a:defRPr sz="1125" b="1">
                <a:solidFill>
                  <a:srgbClr val="627D98"/>
                </a:solidFill>
              </a:defRPr>
            </a:lvl7pPr>
            <a:lvl8pPr algn="r">
              <a:defRPr sz="1125" b="1">
                <a:solidFill>
                  <a:srgbClr val="627D98"/>
                </a:solidFill>
              </a:defRPr>
            </a:lvl8pPr>
            <a:lvl9pPr algn="r">
              <a:defRPr sz="1125" b="1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627D98"/>
                </a:solidFill>
              </a:defRPr>
            </a:pPr>
            <a:r>
              <a:rPr sz="1125" b="1">
                <a:solidFill>
                  <a:srgbClr val="627D98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C3FE-85FC-4769-BBDF-B6B049D6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627D98"/>
                </a:solidFill>
              </a:defRPr>
            </a:defPPr>
            <a:lvl1pPr algn="l">
              <a:defRPr sz="825" b="0">
                <a:solidFill>
                  <a:srgbClr val="627D98"/>
                </a:solidFill>
              </a:defRPr>
            </a:lvl1pPr>
            <a:lvl2pPr algn="l">
              <a:defRPr sz="825" b="0">
                <a:solidFill>
                  <a:srgbClr val="627D98"/>
                </a:solidFill>
              </a:defRPr>
            </a:lvl2pPr>
            <a:lvl3pPr algn="l">
              <a:defRPr sz="825" b="0">
                <a:solidFill>
                  <a:srgbClr val="627D98"/>
                </a:solidFill>
              </a:defRPr>
            </a:lvl3pPr>
            <a:lvl4pPr algn="l">
              <a:defRPr sz="825" b="0">
                <a:solidFill>
                  <a:srgbClr val="627D98"/>
                </a:solidFill>
              </a:defRPr>
            </a:lvl4pPr>
            <a:lvl5pPr algn="l">
              <a:defRPr sz="825" b="0">
                <a:solidFill>
                  <a:srgbClr val="627D98"/>
                </a:solidFill>
              </a:defRPr>
            </a:lvl5pPr>
            <a:lvl6pPr algn="l">
              <a:defRPr sz="825" b="0">
                <a:solidFill>
                  <a:srgbClr val="627D98"/>
                </a:solidFill>
              </a:defRPr>
            </a:lvl6pPr>
            <a:lvl7pPr algn="l">
              <a:defRPr sz="825" b="0">
                <a:solidFill>
                  <a:srgbClr val="627D98"/>
                </a:solidFill>
              </a:defRPr>
            </a:lvl7pPr>
            <a:lvl8pPr algn="l">
              <a:defRPr sz="825" b="0">
                <a:solidFill>
                  <a:srgbClr val="627D98"/>
                </a:solidFill>
              </a:defRPr>
            </a:lvl8pPr>
            <a:lvl9pPr algn="l">
              <a:defRPr sz="825" b="0">
                <a:solidFill>
                  <a:srgbClr val="627D98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27D98"/>
                </a:solidFill>
              </a:defRPr>
            </a:pPr>
            <a:r>
              <a:rPr sz="825" b="0">
                <a:solidFill>
                  <a:srgbClr val="627D98"/>
                </a:solidFill>
              </a:rPr>
              <a:t>BASYS3 분·초 시계 및 스톱워치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CF58B-BE88-438F-889E-AA4BB15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</a:defRPr>
            </a:defPPr>
            <a:lvl1pPr algn="l">
              <a:defRPr sz="1800" b="1">
                <a:solidFill>
                  <a:srgbClr val="102A43"/>
                </a:solidFill>
              </a:defRPr>
            </a:lvl1pPr>
            <a:lvl2pPr algn="l">
              <a:defRPr sz="1800" b="1">
                <a:solidFill>
                  <a:srgbClr val="102A43"/>
                </a:solidFill>
              </a:defRPr>
            </a:lvl2pPr>
            <a:lvl3pPr algn="l">
              <a:defRPr sz="1800" b="1">
                <a:solidFill>
                  <a:srgbClr val="102A43"/>
                </a:solidFill>
              </a:defRPr>
            </a:lvl3pPr>
            <a:lvl4pPr algn="l">
              <a:defRPr sz="1800" b="1">
                <a:solidFill>
                  <a:srgbClr val="102A43"/>
                </a:solidFill>
              </a:defRPr>
            </a:lvl4pPr>
            <a:lvl5pPr algn="l">
              <a:defRPr sz="1800" b="1">
                <a:solidFill>
                  <a:srgbClr val="102A43"/>
                </a:solidFill>
              </a:defRPr>
            </a:lvl5pPr>
            <a:lvl6pPr algn="l">
              <a:defRPr sz="1800" b="1">
                <a:solidFill>
                  <a:srgbClr val="102A43"/>
                </a:solidFill>
              </a:defRPr>
            </a:lvl6pPr>
            <a:lvl7pPr algn="l">
              <a:defRPr sz="1800" b="1">
                <a:solidFill>
                  <a:srgbClr val="102A43"/>
                </a:solidFill>
              </a:defRPr>
            </a:lvl7pPr>
            <a:lvl8pPr algn="l">
              <a:defRPr sz="1800" b="1">
                <a:solidFill>
                  <a:srgbClr val="102A43"/>
                </a:solidFill>
              </a:defRPr>
            </a:lvl8pPr>
            <a:lvl9pPr algn="l"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이번 구현에서 확인한 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2A54B-2A15-4A7B-96CF-7BE87728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A699E-C69B-478D-80E0-7F5D6CB3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  <a:lvl1pPr algn="l">
              <a:defRPr sz="1500" b="1">
                <a:solidFill>
                  <a:srgbClr val="243B53"/>
                </a:solidFill>
              </a:defRPr>
            </a:lvl1pPr>
            <a:lvl2pPr algn="l">
              <a:defRPr sz="1500" b="1">
                <a:solidFill>
                  <a:srgbClr val="243B53"/>
                </a:solidFill>
              </a:defRPr>
            </a:lvl2pPr>
            <a:lvl3pPr algn="l">
              <a:defRPr sz="1500" b="1">
                <a:solidFill>
                  <a:srgbClr val="243B53"/>
                </a:solidFill>
              </a:defRPr>
            </a:lvl3pPr>
            <a:lvl4pPr algn="l">
              <a:defRPr sz="1500" b="1">
                <a:solidFill>
                  <a:srgbClr val="243B53"/>
                </a:solidFill>
              </a:defRPr>
            </a:lvl4pPr>
            <a:lvl5pPr algn="l">
              <a:defRPr sz="1500" b="1">
                <a:solidFill>
                  <a:srgbClr val="243B53"/>
                </a:solidFill>
              </a:defRPr>
            </a:lvl5pPr>
            <a:lvl6pPr algn="l">
              <a:defRPr sz="1500" b="1">
                <a:solidFill>
                  <a:srgbClr val="243B53"/>
                </a:solidFill>
              </a:defRPr>
            </a:lvl6pPr>
            <a:lvl7pPr algn="l">
              <a:defRPr sz="1500" b="1">
                <a:solidFill>
                  <a:srgbClr val="243B53"/>
                </a:solidFill>
              </a:defRPr>
            </a:lvl7pPr>
            <a:lvl8pPr algn="l">
              <a:defRPr sz="1500" b="1">
                <a:solidFill>
                  <a:srgbClr val="243B53"/>
                </a:solidFill>
              </a:defRPr>
            </a:lvl8pPr>
            <a:lvl9pPr algn="l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기능 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409EF-1CA2-4C24-92AE-D36D1836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67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입력 정리, 시간 제어, FND 표시를 모듈로 분리했다.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BFE58-D18D-4843-8484-DF096121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1CEEA-5F6B-41BF-9AAE-EACA64A2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  <a:lvl1pPr algn="l">
              <a:defRPr sz="1500" b="1">
                <a:solidFill>
                  <a:srgbClr val="243B53"/>
                </a:solidFill>
              </a:defRPr>
            </a:lvl1pPr>
            <a:lvl2pPr algn="l">
              <a:defRPr sz="1500" b="1">
                <a:solidFill>
                  <a:srgbClr val="243B53"/>
                </a:solidFill>
              </a:defRPr>
            </a:lvl2pPr>
            <a:lvl3pPr algn="l">
              <a:defRPr sz="1500" b="1">
                <a:solidFill>
                  <a:srgbClr val="243B53"/>
                </a:solidFill>
              </a:defRPr>
            </a:lvl3pPr>
            <a:lvl4pPr algn="l">
              <a:defRPr sz="1500" b="1">
                <a:solidFill>
                  <a:srgbClr val="243B53"/>
                </a:solidFill>
              </a:defRPr>
            </a:lvl4pPr>
            <a:lvl5pPr algn="l">
              <a:defRPr sz="1500" b="1">
                <a:solidFill>
                  <a:srgbClr val="243B53"/>
                </a:solidFill>
              </a:defRPr>
            </a:lvl5pPr>
            <a:lvl6pPr algn="l">
              <a:defRPr sz="1500" b="1">
                <a:solidFill>
                  <a:srgbClr val="243B53"/>
                </a:solidFill>
              </a:defRPr>
            </a:lvl6pPr>
            <a:lvl7pPr algn="l">
              <a:defRPr sz="1500" b="1">
                <a:solidFill>
                  <a:srgbClr val="243B53"/>
                </a:solidFill>
              </a:defRPr>
            </a:lvl7pPr>
            <a:lvl8pPr algn="l">
              <a:defRPr sz="1500" b="1">
                <a:solidFill>
                  <a:srgbClr val="243B53"/>
                </a:solidFill>
              </a:defRPr>
            </a:lvl8pPr>
            <a:lvl9pPr algn="l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C2AF9-AE4A-4284-8810-1580B9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Testbench가 버튼 동작과 애니메이션까지 자동 확인했다.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AECEA-C443-4347-ACD7-0FE9C68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68131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2F1D-CC24-4FBF-ABD0-24528D1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  <a:lvl1pPr algn="l">
              <a:defRPr sz="1500" b="1">
                <a:solidFill>
                  <a:srgbClr val="243B53"/>
                </a:solidFill>
              </a:defRPr>
            </a:lvl1pPr>
            <a:lvl2pPr algn="l">
              <a:defRPr sz="1500" b="1">
                <a:solidFill>
                  <a:srgbClr val="243B53"/>
                </a:solidFill>
              </a:defRPr>
            </a:lvl2pPr>
            <a:lvl3pPr algn="l">
              <a:defRPr sz="1500" b="1">
                <a:solidFill>
                  <a:srgbClr val="243B53"/>
                </a:solidFill>
              </a:defRPr>
            </a:lvl3pPr>
            <a:lvl4pPr algn="l">
              <a:defRPr sz="1500" b="1">
                <a:solidFill>
                  <a:srgbClr val="243B53"/>
                </a:solidFill>
              </a:defRPr>
            </a:lvl4pPr>
            <a:lvl5pPr algn="l">
              <a:defRPr sz="1500" b="1">
                <a:solidFill>
                  <a:srgbClr val="243B53"/>
                </a:solidFill>
              </a:defRPr>
            </a:lvl5pPr>
            <a:lvl6pPr algn="l">
              <a:defRPr sz="1500" b="1">
                <a:solidFill>
                  <a:srgbClr val="243B53"/>
                </a:solidFill>
              </a:defRPr>
            </a:lvl6pPr>
            <a:lvl7pPr algn="l">
              <a:defRPr sz="1500" b="1">
                <a:solidFill>
                  <a:srgbClr val="243B53"/>
                </a:solidFill>
              </a:defRPr>
            </a:lvl7pPr>
            <a:lvl8pPr algn="l">
              <a:defRPr sz="1500" b="1">
                <a:solidFill>
                  <a:srgbClr val="243B53"/>
                </a:solidFill>
              </a:defRPr>
            </a:lvl8pPr>
            <a:lvl9pPr algn="l">
              <a:defRPr sz="1500" b="1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타이밍 인식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51A81-F6FA-4A9B-A0E7-FBD1CB0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243B53"/>
                </a:solidFill>
              </a:defRPr>
            </a:defPPr>
            <a:lvl1pPr algn="l">
              <a:defRPr sz="1350" b="0">
                <a:solidFill>
                  <a:srgbClr val="243B53"/>
                </a:solidFill>
              </a:defRPr>
            </a:lvl1pPr>
            <a:lvl2pPr algn="l">
              <a:defRPr sz="1350" b="0">
                <a:solidFill>
                  <a:srgbClr val="243B53"/>
                </a:solidFill>
              </a:defRPr>
            </a:lvl2pPr>
            <a:lvl3pPr algn="l">
              <a:defRPr sz="1350" b="0">
                <a:solidFill>
                  <a:srgbClr val="243B53"/>
                </a:solidFill>
              </a:defRPr>
            </a:lvl3pPr>
            <a:lvl4pPr algn="l">
              <a:defRPr sz="1350" b="0">
                <a:solidFill>
                  <a:srgbClr val="243B53"/>
                </a:solidFill>
              </a:defRPr>
            </a:lvl4pPr>
            <a:lvl5pPr algn="l">
              <a:defRPr sz="1350" b="0">
                <a:solidFill>
                  <a:srgbClr val="243B53"/>
                </a:solidFill>
              </a:defRPr>
            </a:lvl5pPr>
            <a:lvl6pPr algn="l">
              <a:defRPr sz="1350" b="0">
                <a:solidFill>
                  <a:srgbClr val="243B53"/>
                </a:solidFill>
              </a:defRPr>
            </a:lvl6pPr>
            <a:lvl7pPr algn="l">
              <a:defRPr sz="1350" b="0">
                <a:solidFill>
                  <a:srgbClr val="243B53"/>
                </a:solidFill>
              </a:defRPr>
            </a:lvl7pPr>
            <a:lvl8pPr algn="l">
              <a:defRPr sz="1350" b="0">
                <a:solidFill>
                  <a:srgbClr val="243B53"/>
                </a:solidFill>
              </a:defRPr>
            </a:lvl8pPr>
            <a:lvl9pPr algn="l">
              <a:defRPr sz="1350" b="0">
                <a:solidFill>
                  <a:srgbClr val="243B53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동작만 맞는 것과 timing-safe 설계는 다르다는 점을 확인했다.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2C0AC-0D59-41C3-8E54-847A3F5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68131"/>
                </a:solidFill>
              </a:defRPr>
            </a:defPPr>
            <a:lvl1pPr algn="l">
              <a:defRPr sz="1425" b="1">
                <a:solidFill>
                  <a:srgbClr val="E68131"/>
                </a:solidFill>
              </a:defRPr>
            </a:lvl1pPr>
            <a:lvl2pPr algn="l">
              <a:defRPr sz="1425" b="1">
                <a:solidFill>
                  <a:srgbClr val="E68131"/>
                </a:solidFill>
              </a:defRPr>
            </a:lvl2pPr>
            <a:lvl3pPr algn="l">
              <a:defRPr sz="1425" b="1">
                <a:solidFill>
                  <a:srgbClr val="E68131"/>
                </a:solidFill>
              </a:defRPr>
            </a:lvl3pPr>
            <a:lvl4pPr algn="l">
              <a:defRPr sz="1425" b="1">
                <a:solidFill>
                  <a:srgbClr val="E68131"/>
                </a:solidFill>
              </a:defRPr>
            </a:lvl4pPr>
            <a:lvl5pPr algn="l">
              <a:defRPr sz="1425" b="1">
                <a:solidFill>
                  <a:srgbClr val="E68131"/>
                </a:solidFill>
              </a:defRPr>
            </a:lvl5pPr>
            <a:lvl6pPr algn="l">
              <a:defRPr sz="1425" b="1">
                <a:solidFill>
                  <a:srgbClr val="E68131"/>
                </a:solidFill>
              </a:defRPr>
            </a:lvl6pPr>
            <a:lvl7pPr algn="l">
              <a:defRPr sz="1425" b="1">
                <a:solidFill>
                  <a:srgbClr val="E68131"/>
                </a:solidFill>
              </a:defRPr>
            </a:lvl7pPr>
            <a:lvl8pPr algn="l">
              <a:defRPr sz="1425" b="1">
                <a:solidFill>
                  <a:srgbClr val="E68131"/>
                </a:solidFill>
              </a:defRPr>
            </a:lvl8pPr>
            <a:lvl9pPr algn="l">
              <a:defRPr sz="1425" b="1">
                <a:solidFill>
                  <a:srgbClr val="E68131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68131"/>
                </a:solidFill>
              </a:defRPr>
            </a:pPr>
            <a:r>
              <a:rPr sz="1425" b="1">
                <a:solidFill>
                  <a:srgbClr val="E68131"/>
                </a:solidFill>
              </a:rPr>
              <a:t>다음 개선: 2-FF synchronizer 추가, FND 스캔을 clock enable로 변경, 실제 보드 영상과 파형 캡처를 자료에 보완</a:t>
            </a:r>
          </a:p>
        </p:txBody>
      </p:sp>
    </p:spTree>
    <p:extLst>
      <p:ext uri="{BB962C8B-B14F-4D97-AF65-F5344CB8AC3E}">
        <p14:creationId xmlns:p14="http://schemas.microsoft.com/office/powerpoint/2010/main" val="15064944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E920-11C0-42D7-B9FE-12289274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</a:defRPr>
            </a:defPPr>
            <a:lvl1pPr algn="l">
              <a:defRPr sz="4350" b="1">
                <a:solidFill>
                  <a:srgbClr val="FFFFFF"/>
                </a:solidFill>
              </a:defRPr>
            </a:lvl1pPr>
            <a:lvl2pPr algn="l">
              <a:defRPr sz="4350" b="1">
                <a:solidFill>
                  <a:srgbClr val="FFFFFF"/>
                </a:solidFill>
              </a:defRPr>
            </a:lvl2pPr>
            <a:lvl3pPr algn="l">
              <a:defRPr sz="4350" b="1">
                <a:solidFill>
                  <a:srgbClr val="FFFFFF"/>
                </a:solidFill>
              </a:defRPr>
            </a:lvl3pPr>
            <a:lvl4pPr algn="l">
              <a:defRPr sz="4350" b="1">
                <a:solidFill>
                  <a:srgbClr val="FFFFFF"/>
                </a:solidFill>
              </a:defRPr>
            </a:lvl4pPr>
            <a:lvl5pPr algn="l">
              <a:defRPr sz="4350" b="1">
                <a:solidFill>
                  <a:srgbClr val="FFFFFF"/>
                </a:solidFill>
              </a:defRPr>
            </a:lvl5pPr>
            <a:lvl6pPr algn="l">
              <a:defRPr sz="4350" b="1">
                <a:solidFill>
                  <a:srgbClr val="FFFFFF"/>
                </a:solidFill>
              </a:defRPr>
            </a:lvl6pPr>
            <a:lvl7pPr algn="l">
              <a:defRPr sz="4350" b="1">
                <a:solidFill>
                  <a:srgbClr val="FFFFFF"/>
                </a:solidFill>
              </a:defRPr>
            </a:lvl7pPr>
            <a:lvl8pPr algn="l">
              <a:defRPr sz="4350" b="1">
                <a:solidFill>
                  <a:srgbClr val="FFFFFF"/>
                </a:solidFill>
              </a:defRPr>
            </a:lvl8pPr>
            <a:lvl9pPr algn="l"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771B8-8958-4CA9-8963-36950F5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B8D8E8"/>
                </a:solidFill>
              </a:defRPr>
            </a:defPPr>
            <a:lvl1pPr algn="l">
              <a:defRPr sz="1800" b="0">
                <a:solidFill>
                  <a:srgbClr val="B8D8E8"/>
                </a:solidFill>
              </a:defRPr>
            </a:lvl1pPr>
            <a:lvl2pPr algn="l">
              <a:defRPr sz="1800" b="0">
                <a:solidFill>
                  <a:srgbClr val="B8D8E8"/>
                </a:solidFill>
              </a:defRPr>
            </a:lvl2pPr>
            <a:lvl3pPr algn="l">
              <a:defRPr sz="1800" b="0">
                <a:solidFill>
                  <a:srgbClr val="B8D8E8"/>
                </a:solidFill>
              </a:defRPr>
            </a:lvl3pPr>
            <a:lvl4pPr algn="l">
              <a:defRPr sz="1800" b="0">
                <a:solidFill>
                  <a:srgbClr val="B8D8E8"/>
                </a:solidFill>
              </a:defRPr>
            </a:lvl4pPr>
            <a:lvl5pPr algn="l">
              <a:defRPr sz="1800" b="0">
                <a:solidFill>
                  <a:srgbClr val="B8D8E8"/>
                </a:solidFill>
              </a:defRPr>
            </a:lvl5pPr>
            <a:lvl6pPr algn="l">
              <a:defRPr sz="1800" b="0">
                <a:solidFill>
                  <a:srgbClr val="B8D8E8"/>
                </a:solidFill>
              </a:defRPr>
            </a:lvl6pPr>
            <a:lvl7pPr algn="l">
              <a:defRPr sz="1800" b="0">
                <a:solidFill>
                  <a:srgbClr val="B8D8E8"/>
                </a:solidFill>
              </a:defRPr>
            </a:lvl7pPr>
            <a:lvl8pPr algn="l">
              <a:defRPr sz="1800" b="0">
                <a:solidFill>
                  <a:srgbClr val="B8D8E8"/>
                </a:solidFill>
              </a:defRPr>
            </a:lvl8pPr>
            <a:lvl9pPr algn="l">
              <a:defRPr sz="1800" b="0">
                <a:solidFill>
                  <a:srgbClr val="B8D8E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8D8E8"/>
                </a:solidFill>
              </a:defRPr>
            </a:pPr>
            <a:r>
              <a:rPr sz="1800" b="0">
                <a:solidFill>
                  <a:srgbClr val="B8D8E8"/>
                </a:solidFill>
              </a:rPr>
              <a:t>질문 감사합니다.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25A2F-4259-477D-A947-894A4D6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</a:defRPr>
            </a:defPPr>
            <a:lvl1pPr algn="ctr">
              <a:defRPr sz="3300" b="1">
                <a:solidFill>
                  <a:srgbClr val="FFFFFF"/>
                </a:solidFill>
              </a:defRPr>
            </a:lvl1pPr>
            <a:lvl2pPr algn="ctr">
              <a:defRPr sz="3300" b="1">
                <a:solidFill>
                  <a:srgbClr val="FFFFFF"/>
                </a:solidFill>
              </a:defRPr>
            </a:lvl2pPr>
            <a:lvl3pPr algn="ctr">
              <a:defRPr sz="3300" b="1">
                <a:solidFill>
                  <a:srgbClr val="FFFFFF"/>
                </a:solidFill>
              </a:defRPr>
            </a:lvl3pPr>
            <a:lvl4pPr algn="ctr">
              <a:defRPr sz="3300" b="1">
                <a:solidFill>
                  <a:srgbClr val="FFFFFF"/>
                </a:solidFill>
              </a:defRPr>
            </a:lvl4pPr>
            <a:lvl5pPr algn="ctr">
              <a:defRPr sz="3300" b="1">
                <a:solidFill>
                  <a:srgbClr val="FFFFFF"/>
                </a:solidFill>
              </a:defRPr>
            </a:lvl5pPr>
            <a:lvl6pPr algn="ctr">
              <a:defRPr sz="3300" b="1">
                <a:solidFill>
                  <a:srgbClr val="FFFFFF"/>
                </a:solidFill>
              </a:defRPr>
            </a:lvl6pPr>
            <a:lvl7pPr algn="ctr">
              <a:defRPr sz="3300" b="1">
                <a:solidFill>
                  <a:srgbClr val="FFFFFF"/>
                </a:solidFill>
              </a:defRPr>
            </a:lvl7pPr>
            <a:lvl8pPr algn="ctr">
              <a:defRPr sz="3300" b="1">
                <a:solidFill>
                  <a:srgbClr val="FFFFFF"/>
                </a:solidFill>
              </a:defRPr>
            </a:lvl8pPr>
            <a:lvl9pPr algn="ctr"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MM:SS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F7085-AADD-47FC-92A5-57DFA14F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B8D8E8"/>
                </a:solidFill>
              </a:defRPr>
            </a:defPPr>
            <a:lvl1pPr algn="ctr">
              <a:defRPr sz="1350" b="0">
                <a:solidFill>
                  <a:srgbClr val="B8D8E8"/>
                </a:solidFill>
              </a:defRPr>
            </a:lvl1pPr>
            <a:lvl2pPr algn="ctr">
              <a:defRPr sz="1350" b="0">
                <a:solidFill>
                  <a:srgbClr val="B8D8E8"/>
                </a:solidFill>
              </a:defRPr>
            </a:lvl2pPr>
            <a:lvl3pPr algn="ctr">
              <a:defRPr sz="1350" b="0">
                <a:solidFill>
                  <a:srgbClr val="B8D8E8"/>
                </a:solidFill>
              </a:defRPr>
            </a:lvl3pPr>
            <a:lvl4pPr algn="ctr">
              <a:defRPr sz="1350" b="0">
                <a:solidFill>
                  <a:srgbClr val="B8D8E8"/>
                </a:solidFill>
              </a:defRPr>
            </a:lvl4pPr>
            <a:lvl5pPr algn="ctr">
              <a:defRPr sz="1350" b="0">
                <a:solidFill>
                  <a:srgbClr val="B8D8E8"/>
                </a:solidFill>
              </a:defRPr>
            </a:lvl5pPr>
            <a:lvl6pPr algn="ctr">
              <a:defRPr sz="1350" b="0">
                <a:solidFill>
                  <a:srgbClr val="B8D8E8"/>
                </a:solidFill>
              </a:defRPr>
            </a:lvl6pPr>
            <a:lvl7pPr algn="ctr">
              <a:defRPr sz="1350" b="0">
                <a:solidFill>
                  <a:srgbClr val="B8D8E8"/>
                </a:solidFill>
              </a:defRPr>
            </a:lvl7pPr>
            <a:lvl8pPr algn="ctr">
              <a:defRPr sz="1350" b="0">
                <a:solidFill>
                  <a:srgbClr val="B8D8E8"/>
                </a:solidFill>
              </a:defRPr>
            </a:lvl8pPr>
            <a:lvl9pPr algn="ctr">
              <a:defRPr sz="1350" b="0">
                <a:solidFill>
                  <a:srgbClr val="B8D8E8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B8D8E8"/>
                </a:solidFill>
              </a:defRPr>
            </a:pPr>
            <a:r>
              <a:rPr sz="1350" b="0">
                <a:solidFill>
                  <a:srgbClr val="B8D8E8"/>
                </a:solidFill>
              </a:rPr>
              <a:t>BASYS3 분·초 시계 및 스톱워치</a:t>
            </a:r>
          </a:p>
        </p:txBody>
      </p:sp>
    </p:spTree>
    <p:extLst>
      <p:ext uri="{BB962C8B-B14F-4D97-AF65-F5344CB8AC3E}">
        <p14:creationId xmlns:p14="http://schemas.microsoft.com/office/powerpoint/2010/main" val="1092989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2026-10-22T06:51:49.8100000Z</dcterms:created>
  <dcterms:modified xsi:type="dcterms:W3CDTF">2026-10-22T06:51:49.8100000Z</dcterms:modified>
</coreProperties>
</file>