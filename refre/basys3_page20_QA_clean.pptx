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098" autoAdjust="0"/>
  </p:normalViewPr>
  <p:slideViewPr>
    <p:cSldViewPr snapToGrid="0">
      <p:cViewPr varScale="1">
        <p:scale>
          <a:sx n="47" d="100"/>
          <a:sy n="47" d="100"/>
        </p:scale>
        <p:origin x="72" y="10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Basys3 FPGA </a:t>
            </a:r>
            <a:r>
              <a:rPr lang="ko-KR" altLang="en-US" dirty="0" smtClean="0"/>
              <a:t>보드를 활용하여 분</a:t>
            </a:r>
            <a:r>
              <a:rPr lang="en-US" altLang="ko-KR" dirty="0" smtClean="0"/>
              <a:t>·</a:t>
            </a:r>
            <a:r>
              <a:rPr lang="ko-KR" altLang="en-US" dirty="0" smtClean="0"/>
              <a:t>초 시계와 스톱워치를 구현했습니다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Verilog</a:t>
            </a:r>
            <a:r>
              <a:rPr lang="ko-KR" altLang="en-US" dirty="0" smtClean="0"/>
              <a:t>를 사용해 버튼 입력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시간 제어</a:t>
            </a:r>
            <a:r>
              <a:rPr lang="en-US" altLang="ko-KR" dirty="0" smtClean="0"/>
              <a:t>, FND </a:t>
            </a:r>
            <a:r>
              <a:rPr lang="ko-KR" altLang="en-US" dirty="0" smtClean="0"/>
              <a:t>출력 기능을 구현했습니다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기본 시계는 </a:t>
            </a:r>
            <a:r>
              <a:rPr lang="en-US" altLang="ko-KR" dirty="0" smtClean="0"/>
              <a:t>00</a:t>
            </a:r>
            <a:r>
              <a:rPr lang="ko-KR" altLang="en-US" dirty="0" smtClean="0"/>
              <a:t>분 </a:t>
            </a:r>
            <a:r>
              <a:rPr lang="en-US" altLang="ko-KR" dirty="0" smtClean="0"/>
              <a:t>00</a:t>
            </a:r>
            <a:r>
              <a:rPr lang="ko-KR" altLang="en-US" dirty="0" smtClean="0"/>
              <a:t>초부터 시작하며 계속 시간이 증가합니다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스톱워치는 버튼을 통해 실행과 일시정지를 제어할 수 있고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정지 상태가 유지되면 애니메이션이 표시됩니다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위에 </a:t>
            </a:r>
            <a:r>
              <a:rPr lang="ko-KR" altLang="en-US" dirty="0" err="1" smtClean="0"/>
              <a:t>보시는거와</a:t>
            </a:r>
            <a:r>
              <a:rPr lang="ko-KR" altLang="en-US" dirty="0" smtClean="0"/>
              <a:t> 같이 </a:t>
            </a:r>
            <a:r>
              <a:rPr lang="ko-KR" altLang="en-US" dirty="0" smtClean="0"/>
              <a:t>왼쪽 버튼은 시계와 스톱워치 모드를 전환합니다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오른쪽 버튼은 실행과 일시정지를 전환하며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가운데 버튼은 스톱워치 시간을 초기화합니다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전체 시스템은 크게 네 가지 모듈로 구성했습니다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버튼 입력을 안정화하는 </a:t>
            </a:r>
            <a:r>
              <a:rPr lang="en-US" altLang="ko-KR" dirty="0" err="1" smtClean="0"/>
              <a:t>Debounce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시간을 계산하는 </a:t>
            </a:r>
            <a:r>
              <a:rPr lang="en-US" altLang="ko-KR" dirty="0" smtClean="0"/>
              <a:t>Main Controller, Tick Generator, </a:t>
            </a:r>
            <a:r>
              <a:rPr lang="ko-KR" altLang="en-US" dirty="0" smtClean="0"/>
              <a:t>그리고 </a:t>
            </a:r>
            <a:r>
              <a:rPr lang="en-US" altLang="ko-KR" dirty="0" smtClean="0"/>
              <a:t>FND Controller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상태 </a:t>
            </a:r>
            <a:r>
              <a:rPr lang="ko-KR" altLang="en-US" dirty="0" err="1" smtClean="0"/>
              <a:t>전이도는</a:t>
            </a:r>
            <a:r>
              <a:rPr lang="ko-KR" altLang="en-US" dirty="0" smtClean="0"/>
              <a:t> 분</a:t>
            </a:r>
            <a:r>
              <a:rPr lang="en-US" altLang="ko-KR" dirty="0" smtClean="0"/>
              <a:t>·</a:t>
            </a:r>
            <a:r>
              <a:rPr lang="ko-KR" altLang="en-US" dirty="0" smtClean="0"/>
              <a:t>초 시계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스톱워치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일시정지 동작을 나타냅니다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실제 코드에서는 모드와 실행 상태를 각각 </a:t>
            </a:r>
            <a:r>
              <a:rPr lang="en-US" altLang="ko-KR" dirty="0" smtClean="0"/>
              <a:t>1</a:t>
            </a:r>
            <a:r>
              <a:rPr lang="ko-KR" altLang="en-US" dirty="0" smtClean="0"/>
              <a:t>비트 플래그로 관리하여 버튼 입력에 따라 상태를 전환했습니다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Basys3</a:t>
            </a:r>
            <a:r>
              <a:rPr lang="ko-KR" altLang="en-US" dirty="0" smtClean="0"/>
              <a:t>의 클럭은 </a:t>
            </a:r>
            <a:r>
              <a:rPr lang="en-US" altLang="ko-KR" dirty="0" smtClean="0"/>
              <a:t>100MHz</a:t>
            </a:r>
            <a:r>
              <a:rPr lang="ko-KR" altLang="en-US" dirty="0" smtClean="0"/>
              <a:t>이므로 </a:t>
            </a:r>
            <a:r>
              <a:rPr lang="en-US" altLang="ko-KR" dirty="0" smtClean="0"/>
              <a:t>1</a:t>
            </a:r>
            <a:r>
              <a:rPr lang="ko-KR" altLang="en-US" dirty="0" smtClean="0"/>
              <a:t>억 클럭을 계산하면 </a:t>
            </a:r>
            <a:r>
              <a:rPr lang="en-US" altLang="ko-KR" dirty="0" smtClean="0"/>
              <a:t>1</a:t>
            </a:r>
            <a:r>
              <a:rPr lang="ko-KR" altLang="en-US" dirty="0" smtClean="0"/>
              <a:t>초가 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초가 </a:t>
            </a:r>
            <a:r>
              <a:rPr lang="en-US" altLang="ko-KR" dirty="0" smtClean="0"/>
              <a:t>59</a:t>
            </a:r>
            <a:r>
              <a:rPr lang="ko-KR" altLang="en-US" dirty="0" smtClean="0"/>
              <a:t>에 도달하면 다음 </a:t>
            </a:r>
            <a:r>
              <a:rPr lang="en-US" altLang="ko-KR" dirty="0" smtClean="0"/>
              <a:t>Tick</a:t>
            </a:r>
            <a:r>
              <a:rPr lang="ko-KR" altLang="en-US" dirty="0" smtClean="0"/>
              <a:t>에서 분을 증가시키고</a:t>
            </a:r>
            <a:r>
              <a:rPr lang="en-US" altLang="ko-KR" dirty="0" smtClean="0"/>
              <a:t>, 59</a:t>
            </a:r>
            <a:r>
              <a:rPr lang="ko-KR" altLang="en-US" dirty="0" smtClean="0"/>
              <a:t>분 </a:t>
            </a:r>
            <a:r>
              <a:rPr lang="en-US" altLang="ko-KR" dirty="0" smtClean="0"/>
              <a:t>59</a:t>
            </a:r>
            <a:r>
              <a:rPr lang="ko-KR" altLang="en-US" dirty="0" smtClean="0"/>
              <a:t>초 이후에는 다시 </a:t>
            </a:r>
            <a:r>
              <a:rPr lang="en-US" altLang="ko-KR" dirty="0" smtClean="0"/>
              <a:t>00</a:t>
            </a:r>
            <a:r>
              <a:rPr lang="ko-KR" altLang="en-US" dirty="0" smtClean="0"/>
              <a:t>분 </a:t>
            </a:r>
            <a:r>
              <a:rPr lang="en-US" altLang="ko-KR" dirty="0" smtClean="0"/>
              <a:t>00</a:t>
            </a:r>
            <a:r>
              <a:rPr lang="ko-KR" altLang="en-US" dirty="0" smtClean="0"/>
              <a:t>초로 돌아갑니다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공통</a:t>
            </a:r>
            <a:r>
              <a:rPr dirty="0"/>
              <a:t> anode </a:t>
            </a:r>
            <a:r>
              <a:rPr dirty="0" err="1"/>
              <a:t>방식의</a:t>
            </a:r>
            <a:r>
              <a:rPr dirty="0"/>
              <a:t> 네 </a:t>
            </a:r>
            <a:r>
              <a:rPr dirty="0" err="1"/>
              <a:t>자리는</a:t>
            </a:r>
            <a:r>
              <a:rPr dirty="0"/>
              <a:t> 한 </a:t>
            </a:r>
            <a:r>
              <a:rPr dirty="0" err="1"/>
              <a:t>번에</a:t>
            </a:r>
            <a:r>
              <a:rPr dirty="0"/>
              <a:t> </a:t>
            </a:r>
            <a:r>
              <a:rPr dirty="0" err="1"/>
              <a:t>하나씩</a:t>
            </a:r>
            <a:r>
              <a:rPr dirty="0"/>
              <a:t> </a:t>
            </a:r>
            <a:r>
              <a:rPr dirty="0" err="1"/>
              <a:t>켭니다</a:t>
            </a:r>
            <a:r>
              <a:rPr dirty="0"/>
              <a:t>. an </a:t>
            </a:r>
            <a:r>
              <a:rPr dirty="0" err="1"/>
              <a:t>신호는</a:t>
            </a:r>
            <a:r>
              <a:rPr dirty="0"/>
              <a:t> active </a:t>
            </a:r>
            <a:r>
              <a:rPr dirty="0" err="1"/>
              <a:t>low이므로</a:t>
            </a:r>
            <a:r>
              <a:rPr dirty="0"/>
              <a:t> 1110은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오른쪽</a:t>
            </a:r>
            <a:r>
              <a:rPr dirty="0"/>
              <a:t> </a:t>
            </a:r>
            <a:r>
              <a:rPr dirty="0" err="1"/>
              <a:t>자리</a:t>
            </a:r>
            <a:r>
              <a:rPr dirty="0"/>
              <a:t> </a:t>
            </a:r>
            <a:r>
              <a:rPr dirty="0" err="1"/>
              <a:t>하나를</a:t>
            </a:r>
            <a:r>
              <a:rPr dirty="0"/>
              <a:t> </a:t>
            </a:r>
            <a:r>
              <a:rPr dirty="0" err="1"/>
              <a:t>선택합니다</a:t>
            </a:r>
            <a:r>
              <a:rPr dirty="0"/>
              <a:t>. 1 </a:t>
            </a:r>
            <a:r>
              <a:rPr dirty="0" err="1"/>
              <a:t>ms마다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 </a:t>
            </a:r>
            <a:r>
              <a:rPr dirty="0" err="1"/>
              <a:t>자리가</a:t>
            </a:r>
            <a:r>
              <a:rPr dirty="0"/>
              <a:t> </a:t>
            </a:r>
            <a:r>
              <a:rPr dirty="0" err="1"/>
              <a:t>바뀌어</a:t>
            </a:r>
            <a:r>
              <a:rPr dirty="0"/>
              <a:t> 네 </a:t>
            </a:r>
            <a:r>
              <a:rPr dirty="0" err="1"/>
              <a:t>자리를</a:t>
            </a:r>
            <a:r>
              <a:rPr dirty="0"/>
              <a:t> 한 </a:t>
            </a:r>
            <a:r>
              <a:rPr dirty="0" err="1"/>
              <a:t>바퀴</a:t>
            </a:r>
            <a:r>
              <a:rPr dirty="0"/>
              <a:t> </a:t>
            </a:r>
            <a:r>
              <a:rPr dirty="0" err="1"/>
              <a:t>도는</a:t>
            </a:r>
            <a:r>
              <a:rPr dirty="0"/>
              <a:t> 데 4 </a:t>
            </a:r>
            <a:r>
              <a:rPr dirty="0" err="1"/>
              <a:t>ms가</a:t>
            </a:r>
            <a:r>
              <a:rPr dirty="0"/>
              <a:t> </a:t>
            </a:r>
            <a:r>
              <a:rPr dirty="0" err="1"/>
              <a:t>걸립니다</a:t>
            </a:r>
            <a:r>
              <a:rPr dirty="0"/>
              <a:t>. 각 </a:t>
            </a:r>
            <a:r>
              <a:rPr dirty="0" err="1"/>
              <a:t>자리의</a:t>
            </a:r>
            <a:r>
              <a:rPr dirty="0"/>
              <a:t> </a:t>
            </a:r>
            <a:r>
              <a:rPr dirty="0" err="1"/>
              <a:t>반복</a:t>
            </a:r>
            <a:r>
              <a:rPr dirty="0"/>
              <a:t> </a:t>
            </a:r>
            <a:r>
              <a:rPr dirty="0" err="1"/>
              <a:t>주파수는</a:t>
            </a:r>
            <a:r>
              <a:rPr dirty="0"/>
              <a:t> 250 </a:t>
            </a:r>
            <a:r>
              <a:rPr dirty="0" err="1"/>
              <a:t>Hz이고</a:t>
            </a:r>
            <a:r>
              <a:rPr dirty="0"/>
              <a:t> </a:t>
            </a:r>
            <a:r>
              <a:rPr dirty="0" err="1"/>
              <a:t>일반</a:t>
            </a:r>
            <a:r>
              <a:rPr dirty="0"/>
              <a:t> </a:t>
            </a:r>
            <a:r>
              <a:rPr dirty="0" err="1"/>
              <a:t>표시에서</a:t>
            </a:r>
            <a:r>
              <a:rPr dirty="0"/>
              <a:t> </a:t>
            </a:r>
            <a:r>
              <a:rPr dirty="0" err="1"/>
              <a:t>duty는</a:t>
            </a:r>
            <a:r>
              <a:rPr dirty="0"/>
              <a:t> 약 25%입니다. 이 </a:t>
            </a:r>
            <a:r>
              <a:rPr dirty="0" err="1"/>
              <a:t>그림은</a:t>
            </a:r>
            <a:r>
              <a:rPr dirty="0"/>
              <a:t> </a:t>
            </a:r>
            <a:r>
              <a:rPr dirty="0" err="1"/>
              <a:t>소스의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 </a:t>
            </a:r>
            <a:r>
              <a:rPr dirty="0" err="1"/>
              <a:t>순서를</a:t>
            </a:r>
            <a:r>
              <a:rPr dirty="0"/>
              <a:t> </a:t>
            </a:r>
            <a:r>
              <a:rPr dirty="0" err="1"/>
              <a:t>설명한</a:t>
            </a:r>
            <a:r>
              <a:rPr dirty="0"/>
              <a:t> </a:t>
            </a:r>
            <a:r>
              <a:rPr dirty="0" err="1"/>
              <a:t>이상적인</a:t>
            </a:r>
            <a:r>
              <a:rPr dirty="0"/>
              <a:t> </a:t>
            </a:r>
            <a:r>
              <a:rPr dirty="0" err="1"/>
              <a:t>스캔도입니다</a:t>
            </a:r>
            <a:r>
              <a:rPr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이 코드는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초 </a:t>
            </a:r>
            <a:r>
              <a:rPr lang="en-US" altLang="ko-KR" dirty="0" smtClean="0"/>
              <a:t>Tick </a:t>
            </a:r>
            <a:r>
              <a:rPr lang="ko-KR" altLang="en-US" dirty="0" smtClean="0"/>
              <a:t>신호를 생성하고 시간 카운터를 증가시키는 부분입니다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Basys3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100MHz </a:t>
            </a:r>
            <a:r>
              <a:rPr lang="ko-KR" altLang="en-US" dirty="0" smtClean="0"/>
              <a:t>클럭을 기준으로 </a:t>
            </a:r>
            <a:r>
              <a:rPr lang="en-US" altLang="ko-KR" dirty="0" smtClean="0"/>
              <a:t>1</a:t>
            </a:r>
            <a:r>
              <a:rPr lang="ko-KR" altLang="en-US" dirty="0" smtClean="0"/>
              <a:t>억 번을 카운트하면 </a:t>
            </a:r>
            <a:r>
              <a:rPr lang="en-US" altLang="ko-KR" dirty="0" smtClean="0"/>
              <a:t>1</a:t>
            </a:r>
            <a:r>
              <a:rPr lang="ko-KR" altLang="en-US" dirty="0" smtClean="0"/>
              <a:t>초 </a:t>
            </a:r>
            <a:r>
              <a:rPr lang="en-US" altLang="ko-KR" dirty="0" smtClean="0"/>
              <a:t>Tick </a:t>
            </a:r>
            <a:r>
              <a:rPr lang="ko-KR" altLang="en-US" dirty="0" smtClean="0"/>
              <a:t>신호가 발생합니다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생성된 </a:t>
            </a:r>
            <a:r>
              <a:rPr lang="en-US" altLang="ko-KR" dirty="0" smtClean="0"/>
              <a:t>Tick </a:t>
            </a:r>
            <a:r>
              <a:rPr lang="ko-KR" altLang="en-US" dirty="0" smtClean="0"/>
              <a:t>신호는 시간 </a:t>
            </a:r>
            <a:r>
              <a:rPr lang="ko-KR" altLang="en-US" dirty="0" err="1" smtClean="0"/>
              <a:t>계산뿐만</a:t>
            </a:r>
            <a:r>
              <a:rPr lang="ko-KR" altLang="en-US" dirty="0" smtClean="0"/>
              <a:t> 아니라 </a:t>
            </a:r>
            <a:r>
              <a:rPr lang="en-US" altLang="ko-KR" dirty="0" smtClean="0"/>
              <a:t>FND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Dot </a:t>
            </a:r>
            <a:r>
              <a:rPr lang="ko-KR" altLang="en-US" dirty="0" smtClean="0"/>
              <a:t>점멸과 일시정지 상태에서 애니메이션이 시작되는 시간을 계산하는 데 사용됩니다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추가로 </a:t>
            </a:r>
            <a:r>
              <a:rPr lang="en-US" altLang="ko-KR" dirty="0" err="1" smtClean="0"/>
              <a:t>r_clock_sec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59</a:t>
            </a:r>
            <a:r>
              <a:rPr lang="ko-KR" altLang="en-US" dirty="0" smtClean="0"/>
              <a:t>초에 도달하면 다음 </a:t>
            </a:r>
            <a:r>
              <a:rPr lang="en-US" altLang="ko-KR" dirty="0" smtClean="0"/>
              <a:t>Tick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0</a:t>
            </a:r>
            <a:r>
              <a:rPr lang="ko-KR" altLang="en-US" dirty="0" smtClean="0"/>
              <a:t>으로 초기화하고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r_clock_min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1 </a:t>
            </a:r>
            <a:r>
              <a:rPr lang="ko-KR" altLang="en-US" dirty="0" smtClean="0"/>
              <a:t>증가시키도록 구현했습니다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마찬가지로 </a:t>
            </a:r>
            <a:r>
              <a:rPr lang="en-US" altLang="ko-KR" dirty="0" smtClean="0"/>
              <a:t>59</a:t>
            </a:r>
            <a:r>
              <a:rPr lang="ko-KR" altLang="en-US" dirty="0" smtClean="0"/>
              <a:t>분 </a:t>
            </a:r>
            <a:r>
              <a:rPr lang="en-US" altLang="ko-KR" dirty="0" smtClean="0"/>
              <a:t>59</a:t>
            </a:r>
            <a:r>
              <a:rPr lang="ko-KR" altLang="en-US" dirty="0" smtClean="0"/>
              <a:t>초에 도달하면 다음 </a:t>
            </a:r>
            <a:r>
              <a:rPr lang="en-US" altLang="ko-KR" dirty="0" smtClean="0"/>
              <a:t>Tick</a:t>
            </a:r>
            <a:r>
              <a:rPr lang="ko-KR" altLang="en-US" dirty="0" smtClean="0"/>
              <a:t>에서 분과 초를 모두 </a:t>
            </a:r>
            <a:r>
              <a:rPr lang="en-US" altLang="ko-KR" dirty="0" smtClean="0"/>
              <a:t>0</a:t>
            </a:r>
            <a:r>
              <a:rPr lang="ko-KR" altLang="en-US" dirty="0" smtClean="0"/>
              <a:t>으로 초기화하여 다시 </a:t>
            </a:r>
            <a:r>
              <a:rPr lang="en-US" altLang="ko-KR" dirty="0" smtClean="0"/>
              <a:t>00</a:t>
            </a:r>
            <a:r>
              <a:rPr lang="ko-KR" altLang="en-US" dirty="0" smtClean="0"/>
              <a:t>분 </a:t>
            </a:r>
            <a:r>
              <a:rPr lang="en-US" altLang="ko-KR" dirty="0" smtClean="0"/>
              <a:t>00</a:t>
            </a:r>
            <a:r>
              <a:rPr lang="ko-KR" altLang="en-US" dirty="0" smtClean="0"/>
              <a:t>초부터 시작하도록 설계했습니다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버튼의 상승 에지를 검출하고</a:t>
            </a:r>
            <a:r>
              <a:rPr lang="en-US" altLang="ko-KR" dirty="0" smtClean="0"/>
              <a:t>, Toggle </a:t>
            </a:r>
            <a:r>
              <a:rPr lang="ko-KR" altLang="en-US" dirty="0" smtClean="0"/>
              <a:t>방식으로 모드를 전환하는 부분입니다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먼저 현재 버튼 값과 이전 버튼 값을 비교하여 버튼을 누르는 순간에만 신호가 발생하도록 구현했습니다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왼쪽 버튼을 누르면 </a:t>
            </a:r>
            <a:r>
              <a:rPr lang="en-US" altLang="ko-KR" dirty="0" err="1" smtClean="0"/>
              <a:t>r_stopwatch_mode</a:t>
            </a:r>
            <a:r>
              <a:rPr lang="en-US" altLang="ko-KR" dirty="0" smtClean="0"/>
              <a:t> </a:t>
            </a:r>
            <a:r>
              <a:rPr lang="ko-KR" altLang="en-US" dirty="0" smtClean="0"/>
              <a:t>값이 </a:t>
            </a:r>
            <a:r>
              <a:rPr lang="en-US" altLang="ko-KR" dirty="0" smtClean="0"/>
              <a:t>0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1</a:t>
            </a:r>
            <a:r>
              <a:rPr lang="ko-KR" altLang="en-US" dirty="0" smtClean="0"/>
              <a:t>로 반전되면서 분</a:t>
            </a:r>
            <a:r>
              <a:rPr lang="en-US" altLang="ko-KR" dirty="0" smtClean="0"/>
              <a:t>·</a:t>
            </a:r>
            <a:r>
              <a:rPr lang="ko-KR" altLang="en-US" dirty="0" smtClean="0"/>
              <a:t>초 시계와 스톱워치 모드가 전환됩니다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마찬가지로 오른쪽 버튼은 스톱워치 모드에서만 동작하며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r_stopwatch_running</a:t>
            </a:r>
            <a:r>
              <a:rPr lang="en-US" altLang="ko-KR" dirty="0" smtClean="0"/>
              <a:t> </a:t>
            </a:r>
            <a:r>
              <a:rPr lang="ko-KR" altLang="en-US" dirty="0" smtClean="0"/>
              <a:t>값을 반전시켜 실행과 일시정지 기능을 구현했습니다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테스트벤치는</a:t>
            </a:r>
            <a:r>
              <a:rPr dirty="0"/>
              <a:t> 10 ns </a:t>
            </a:r>
            <a:r>
              <a:rPr dirty="0" err="1"/>
              <a:t>주기의</a:t>
            </a:r>
            <a:r>
              <a:rPr dirty="0"/>
              <a:t> </a:t>
            </a:r>
            <a:r>
              <a:rPr dirty="0" err="1"/>
              <a:t>클록을</a:t>
            </a:r>
            <a:r>
              <a:rPr dirty="0"/>
              <a:t> </a:t>
            </a:r>
            <a:r>
              <a:rPr dirty="0" err="1"/>
              <a:t>사용합니다</a:t>
            </a:r>
            <a:r>
              <a:rPr dirty="0"/>
              <a:t>.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하드웨어의</a:t>
            </a:r>
            <a:r>
              <a:rPr dirty="0"/>
              <a:t> </a:t>
            </a:r>
            <a:r>
              <a:rPr dirty="0" err="1"/>
              <a:t>클록</a:t>
            </a:r>
            <a:r>
              <a:rPr dirty="0"/>
              <a:t> </a:t>
            </a:r>
            <a:r>
              <a:rPr dirty="0" err="1"/>
              <a:t>주기를</a:t>
            </a:r>
            <a:r>
              <a:rPr dirty="0"/>
              <a:t> </a:t>
            </a:r>
            <a:r>
              <a:rPr dirty="0" err="1"/>
              <a:t>바꾼</a:t>
            </a:r>
            <a:r>
              <a:rPr dirty="0"/>
              <a:t> </a:t>
            </a:r>
            <a:r>
              <a:rPr dirty="0" err="1"/>
              <a:t>것이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DUT의</a:t>
            </a:r>
            <a:r>
              <a:rPr dirty="0"/>
              <a:t> CLK_FREQ </a:t>
            </a:r>
            <a:r>
              <a:rPr dirty="0" err="1"/>
              <a:t>파라미터를</a:t>
            </a:r>
            <a:r>
              <a:rPr dirty="0"/>
              <a:t> 10으로 </a:t>
            </a:r>
            <a:r>
              <a:rPr dirty="0" err="1"/>
              <a:t>줄여서</a:t>
            </a:r>
            <a:r>
              <a:rPr dirty="0"/>
              <a:t> </a:t>
            </a:r>
            <a:r>
              <a:rPr dirty="0" err="1"/>
              <a:t>시뮬레이션상</a:t>
            </a:r>
            <a:r>
              <a:rPr dirty="0"/>
              <a:t> 100 </a:t>
            </a:r>
            <a:r>
              <a:rPr dirty="0" err="1"/>
              <a:t>ns마다</a:t>
            </a:r>
            <a:r>
              <a:rPr dirty="0"/>
              <a:t> </a:t>
            </a:r>
            <a:r>
              <a:rPr dirty="0" err="1"/>
              <a:t>논리적인</a:t>
            </a:r>
            <a:r>
              <a:rPr dirty="0"/>
              <a:t> 1초 </a:t>
            </a:r>
            <a:r>
              <a:rPr dirty="0" err="1"/>
              <a:t>tick을</a:t>
            </a:r>
            <a:r>
              <a:rPr dirty="0"/>
              <a:t> </a:t>
            </a:r>
            <a:r>
              <a:rPr dirty="0" err="1"/>
              <a:t>만듭니다</a:t>
            </a:r>
            <a:r>
              <a:rPr dirty="0"/>
              <a:t>. </a:t>
            </a:r>
            <a:r>
              <a:rPr dirty="0" err="1"/>
              <a:t>버튼은</a:t>
            </a:r>
            <a:r>
              <a:rPr dirty="0"/>
              <a:t> </a:t>
            </a:r>
            <a:r>
              <a:rPr dirty="0" err="1"/>
              <a:t>클록</a:t>
            </a:r>
            <a:r>
              <a:rPr dirty="0"/>
              <a:t> </a:t>
            </a:r>
            <a:r>
              <a:rPr dirty="0" err="1"/>
              <a:t>하강</a:t>
            </a:r>
            <a:r>
              <a:rPr dirty="0"/>
              <a:t> </a:t>
            </a:r>
            <a:r>
              <a:rPr dirty="0" err="1"/>
              <a:t>에지에서</a:t>
            </a:r>
            <a:r>
              <a:rPr dirty="0"/>
              <a:t> </a:t>
            </a:r>
            <a:r>
              <a:rPr dirty="0" err="1"/>
              <a:t>바꾸고</a:t>
            </a:r>
            <a:r>
              <a:rPr dirty="0"/>
              <a:t> </a:t>
            </a:r>
            <a:r>
              <a:rPr dirty="0" err="1"/>
              <a:t>상승</a:t>
            </a:r>
            <a:r>
              <a:rPr dirty="0"/>
              <a:t> </a:t>
            </a:r>
            <a:r>
              <a:rPr dirty="0" err="1"/>
              <a:t>에지</a:t>
            </a:r>
            <a:r>
              <a:rPr dirty="0"/>
              <a:t> 뒤 1 </a:t>
            </a:r>
            <a:r>
              <a:rPr dirty="0" err="1"/>
              <a:t>ns에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검사해서</a:t>
            </a:r>
            <a:r>
              <a:rPr dirty="0"/>
              <a:t> </a:t>
            </a:r>
            <a:r>
              <a:rPr dirty="0" err="1"/>
              <a:t>대입</a:t>
            </a:r>
            <a:r>
              <a:rPr dirty="0"/>
              <a:t> </a:t>
            </a:r>
            <a:r>
              <a:rPr dirty="0" err="1"/>
              <a:t>갱신</a:t>
            </a:r>
            <a:r>
              <a:rPr dirty="0"/>
              <a:t> </a:t>
            </a:r>
            <a:r>
              <a:rPr dirty="0" err="1"/>
              <a:t>이후의</a:t>
            </a:r>
            <a:r>
              <a:rPr dirty="0"/>
              <a:t> </a:t>
            </a:r>
            <a:r>
              <a:rPr dirty="0" err="1"/>
              <a:t>값을</a:t>
            </a:r>
            <a:r>
              <a:rPr dirty="0"/>
              <a:t> </a:t>
            </a:r>
            <a:r>
              <a:rPr dirty="0" err="1"/>
              <a:t>봅니다</a:t>
            </a:r>
            <a:r>
              <a:rPr dirty="0"/>
              <a:t>. </a:t>
            </a:r>
            <a:r>
              <a:rPr dirty="0" err="1"/>
              <a:t>테스트는</a:t>
            </a:r>
            <a:r>
              <a:rPr dirty="0"/>
              <a:t> </a:t>
            </a:r>
            <a:r>
              <a:rPr dirty="0" err="1"/>
              <a:t>초기</a:t>
            </a:r>
            <a:r>
              <a:rPr dirty="0"/>
              <a:t> </a:t>
            </a:r>
            <a:r>
              <a:rPr dirty="0" err="1"/>
              <a:t>카운트</a:t>
            </a:r>
            <a:r>
              <a:rPr dirty="0"/>
              <a:t>, </a:t>
            </a:r>
            <a:r>
              <a:rPr dirty="0" err="1"/>
              <a:t>모드</a:t>
            </a:r>
            <a:r>
              <a:rPr dirty="0"/>
              <a:t> </a:t>
            </a:r>
            <a:r>
              <a:rPr dirty="0" err="1"/>
              <a:t>전환</a:t>
            </a:r>
            <a:r>
              <a:rPr dirty="0"/>
              <a:t>, </a:t>
            </a:r>
            <a:r>
              <a:rPr dirty="0" err="1"/>
              <a:t>정지와</a:t>
            </a:r>
            <a:r>
              <a:rPr dirty="0"/>
              <a:t> </a:t>
            </a:r>
            <a:r>
              <a:rPr dirty="0" err="1"/>
              <a:t>애니메이션</a:t>
            </a:r>
            <a:r>
              <a:rPr dirty="0"/>
              <a:t> </a:t>
            </a:r>
            <a:r>
              <a:rPr dirty="0" err="1"/>
              <a:t>시작</a:t>
            </a:r>
            <a:r>
              <a:rPr dirty="0"/>
              <a:t>, </a:t>
            </a:r>
            <a:r>
              <a:rPr dirty="0" err="1"/>
              <a:t>재개</a:t>
            </a:r>
            <a:r>
              <a:rPr dirty="0"/>
              <a:t>, </a:t>
            </a:r>
            <a:r>
              <a:rPr dirty="0" err="1"/>
              <a:t>초기화</a:t>
            </a:r>
            <a:r>
              <a:rPr dirty="0"/>
              <a:t> 및 </a:t>
            </a:r>
            <a:r>
              <a:rPr dirty="0" err="1"/>
              <a:t>일부</a:t>
            </a:r>
            <a:r>
              <a:rPr dirty="0"/>
              <a:t> </a:t>
            </a:r>
            <a:r>
              <a:rPr dirty="0" err="1"/>
              <a:t>표시</a:t>
            </a:r>
            <a:r>
              <a:rPr dirty="0"/>
              <a:t> </a:t>
            </a:r>
            <a:r>
              <a:rPr dirty="0" err="1"/>
              <a:t>패턴을</a:t>
            </a:r>
            <a:r>
              <a:rPr dirty="0"/>
              <a:t> </a:t>
            </a:r>
            <a:r>
              <a:rPr dirty="0" err="1"/>
              <a:t>확인합니다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출처</a:t>
            </a:r>
            <a:r>
              <a:rPr dirty="0"/>
              <a:t>: D:/project/FPGA/ai2/my_minsec_stopwatch/refre/my_minsec_stopwatch.sim/sim_1/new/main_controller_tb.v:16–95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이 그림은 </a:t>
            </a:r>
            <a:r>
              <a:rPr lang="en-US" altLang="ko-KR" dirty="0" err="1" smtClean="0"/>
              <a:t>Testbench</a:t>
            </a:r>
            <a:r>
              <a:rPr lang="ko-KR" altLang="en-US" dirty="0" smtClean="0"/>
              <a:t>를 통해 스톱워치의 동작을 검증한 </a:t>
            </a:r>
            <a:r>
              <a:rPr lang="en-US" altLang="ko-KR" dirty="0" smtClean="0"/>
              <a:t>Timing Chart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먼저 왼쪽 버튼을 누르면 스톱워치 모드로 전환되면서 시간 카운터가 증가합니다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이후 오른쪽 버튼을 누르면 일시정지 상태로 변경되고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카운터 값이 유지되는 것을 확인할 수 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또한 일시정지 상태가 일정 시간 지속되면 </a:t>
            </a:r>
            <a:r>
              <a:rPr lang="en-US" altLang="ko-KR" dirty="0" err="1" smtClean="0"/>
              <a:t>animation_active</a:t>
            </a:r>
            <a:r>
              <a:rPr lang="en-US" altLang="ko-KR" dirty="0" smtClean="0"/>
              <a:t> </a:t>
            </a:r>
            <a:r>
              <a:rPr lang="ko-KR" altLang="en-US" dirty="0" smtClean="0"/>
              <a:t>신호가 </a:t>
            </a:r>
            <a:r>
              <a:rPr lang="en-US" altLang="ko-KR" dirty="0" smtClean="0"/>
              <a:t>HIGH</a:t>
            </a:r>
            <a:r>
              <a:rPr lang="ko-KR" altLang="en-US" dirty="0" smtClean="0"/>
              <a:t>로 변경되면서 애니메이션이 활성화되는 것을 확인했습니다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이 페이지는 </a:t>
            </a:r>
            <a:r>
              <a:rPr lang="en-US" altLang="ko-KR" dirty="0" err="1" smtClean="0"/>
              <a:t>Vivado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Static Timing Analysis</a:t>
            </a:r>
            <a:r>
              <a:rPr lang="ko-KR" altLang="en-US" dirty="0" smtClean="0"/>
              <a:t>를 통해 </a:t>
            </a:r>
            <a:r>
              <a:rPr lang="en-US" altLang="ko-KR" dirty="0" smtClean="0"/>
              <a:t>Setup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Hold </a:t>
            </a:r>
            <a:r>
              <a:rPr lang="ko-KR" altLang="en-US" dirty="0" smtClean="0"/>
              <a:t>타이밍을 분석한 결과입니다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Setup WNS</a:t>
            </a:r>
            <a:r>
              <a:rPr lang="ko-KR" altLang="en-US" dirty="0" smtClean="0"/>
              <a:t>는 </a:t>
            </a:r>
            <a:r>
              <a:rPr lang="en-US" altLang="ko-KR" b="1" dirty="0" smtClean="0"/>
              <a:t>5.146ns</a:t>
            </a:r>
            <a:r>
              <a:rPr lang="en-US" altLang="ko-KR" dirty="0" smtClean="0"/>
              <a:t>, Hold WHS</a:t>
            </a:r>
            <a:r>
              <a:rPr lang="ko-KR" altLang="en-US" dirty="0" smtClean="0"/>
              <a:t>는 </a:t>
            </a:r>
            <a:r>
              <a:rPr lang="en-US" altLang="ko-KR" b="1" dirty="0" smtClean="0"/>
              <a:t>0.191ns</a:t>
            </a:r>
            <a:r>
              <a:rPr lang="ko-KR" altLang="en-US" dirty="0" smtClean="0"/>
              <a:t>로 확인되었습니다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두 값 모두 양수이므로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분석된 타이밍 경로에서는 </a:t>
            </a:r>
            <a:r>
              <a:rPr lang="en-US" altLang="ko-KR" dirty="0" smtClean="0"/>
              <a:t>Setup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Hold </a:t>
            </a:r>
            <a:r>
              <a:rPr lang="ko-KR" altLang="en-US" dirty="0" smtClean="0"/>
              <a:t>조건을 만족하고 있음을 확인할 수 있습니다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"</a:t>
            </a:r>
            <a:r>
              <a:rPr lang="ko-KR" altLang="en-US" dirty="0" smtClean="0"/>
              <a:t>기존에는 클럭 횟수와 실제 시간을 혼동하여 카운터를 설계했습니다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이를 해결하기 위해 </a:t>
            </a:r>
            <a:r>
              <a:rPr lang="en-US" altLang="ko-KR" dirty="0" smtClean="0"/>
              <a:t>100MHz</a:t>
            </a:r>
            <a:r>
              <a:rPr lang="ko-KR" altLang="en-US" dirty="0" smtClean="0"/>
              <a:t>를 기준으로 </a:t>
            </a:r>
            <a:r>
              <a:rPr lang="en-US" altLang="ko-KR" dirty="0" smtClean="0"/>
              <a:t>1</a:t>
            </a:r>
            <a:r>
              <a:rPr lang="ko-KR" altLang="en-US" dirty="0" smtClean="0"/>
              <a:t>초 </a:t>
            </a:r>
            <a:r>
              <a:rPr lang="en-US" altLang="ko-KR" dirty="0" smtClean="0"/>
              <a:t>Tick</a:t>
            </a:r>
            <a:r>
              <a:rPr lang="ko-KR" altLang="en-US" dirty="0" smtClean="0"/>
              <a:t>을 생성하도록 수정했습니다</a:t>
            </a:r>
            <a:r>
              <a:rPr lang="en-US" altLang="ko-KR" dirty="0" smtClean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smtClean="0"/>
              <a:t>Setup Time</a:t>
            </a:r>
            <a:r>
              <a:rPr lang="ko-KR" altLang="en-US" dirty="0" smtClean="0"/>
              <a:t>은 클럭 상승 에지가 발생하기 전에 입력 데이터가 안정적으로 유지되어야 하는 시간입니다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반대로 </a:t>
            </a:r>
            <a:r>
              <a:rPr lang="en-US" altLang="ko-KR" b="1" dirty="0" smtClean="0"/>
              <a:t>Hold Time</a:t>
            </a:r>
            <a:r>
              <a:rPr lang="ko-KR" altLang="en-US" dirty="0" smtClean="0"/>
              <a:t>은 클럭 상승 에지가 발생한 이후에도 데이터가 일정 시간 유지되어야 하는 것을 의미합니다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왼쪽 그림처럼 </a:t>
            </a:r>
            <a:r>
              <a:rPr lang="en-US" altLang="ko-KR" dirty="0" smtClean="0"/>
              <a:t>Setup Time</a:t>
            </a:r>
            <a:r>
              <a:rPr lang="ko-KR" altLang="en-US" dirty="0" smtClean="0"/>
              <a:t>을 위반하면 데이터가 너무 늦게 도착하는 문제가 발생할 수 있고</a:t>
            </a:r>
            <a:r>
              <a:rPr lang="en-US" altLang="ko-KR" dirty="0" smtClean="0"/>
              <a:t>, Hold Time</a:t>
            </a:r>
            <a:r>
              <a:rPr lang="ko-KR" altLang="en-US" dirty="0" smtClean="0"/>
              <a:t>을 위반하면 데이터가 너무 빠르게 변경되는 문제가 발생할 수 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이러한 문제는 </a:t>
            </a:r>
            <a:r>
              <a:rPr lang="ko-KR" altLang="en-US" dirty="0" err="1" smtClean="0"/>
              <a:t>플립플롭의</a:t>
            </a:r>
            <a:r>
              <a:rPr lang="ko-KR" altLang="en-US" dirty="0" smtClean="0"/>
              <a:t> 정상적인 데이터 저장을 방해할 수 있기 때문에 타이밍 조건을 만족하도록 설계해야 합니다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메타안정성은 클럭 상승 에지 근처에서 데이터가 변경되면서 </a:t>
            </a:r>
            <a:r>
              <a:rPr lang="ko-KR" altLang="en-US" dirty="0" err="1" smtClean="0"/>
              <a:t>플립플롭의</a:t>
            </a:r>
            <a:r>
              <a:rPr lang="ko-KR" altLang="en-US" dirty="0" smtClean="0"/>
              <a:t> 출력이 일시적으로 불안정해지는 현상입니다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왼쪽 그림을 보면 공이 양쪽의 안정된 상태가 아닌 언덕 위에 놓여 있는 모습으로 메타안정성을 표현했습니다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이러한 현상은 주로 </a:t>
            </a:r>
            <a:r>
              <a:rPr lang="en-US" altLang="ko-KR" dirty="0" smtClean="0"/>
              <a:t>Setup/Hold </a:t>
            </a:r>
            <a:r>
              <a:rPr lang="ko-KR" altLang="en-US" dirty="0" smtClean="0"/>
              <a:t>시간 위반이나 비동기 입력으로 인해 발생하며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출력이 늦게 안정되거나 후단 회로의 </a:t>
            </a:r>
            <a:r>
              <a:rPr lang="ko-KR" altLang="en-US" dirty="0" err="1" smtClean="0"/>
              <a:t>오동작을</a:t>
            </a:r>
            <a:r>
              <a:rPr lang="ko-KR" altLang="en-US" dirty="0" smtClean="0"/>
              <a:t> 유발할 수 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이를 개선하기 위해 </a:t>
            </a:r>
            <a:r>
              <a:rPr lang="en-US" altLang="ko-KR" b="1" dirty="0" smtClean="0"/>
              <a:t>2</a:t>
            </a:r>
            <a:r>
              <a:rPr lang="ko-KR" altLang="en-US" b="1" dirty="0" smtClean="0"/>
              <a:t>단 </a:t>
            </a:r>
            <a:r>
              <a:rPr lang="ko-KR" altLang="en-US" b="1" dirty="0" err="1" smtClean="0"/>
              <a:t>플립플롭</a:t>
            </a:r>
            <a:r>
              <a:rPr lang="ko-KR" altLang="en-US" b="1" dirty="0" smtClean="0"/>
              <a:t> 동기화 회로</a:t>
            </a:r>
            <a:r>
              <a:rPr lang="ko-KR" altLang="en-US" dirty="0" smtClean="0"/>
              <a:t>를 사용하여 메타안정성이 다음 회로에 영향을 줄 확률을 낮출 수 있습니다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이번 페이지는 </a:t>
            </a:r>
            <a:r>
              <a:rPr lang="ko-KR" altLang="en-US" dirty="0" err="1" smtClean="0"/>
              <a:t>글리치</a:t>
            </a:r>
            <a:r>
              <a:rPr lang="ko-KR" altLang="en-US" dirty="0" smtClean="0"/>
              <a:t> 현상과 이를 방지하기 위한 </a:t>
            </a:r>
            <a:r>
              <a:rPr lang="ko-KR" altLang="en-US" dirty="0" err="1" smtClean="0"/>
              <a:t>클록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게이팅</a:t>
            </a:r>
            <a:r>
              <a:rPr lang="ko-KR" altLang="en-US" dirty="0" smtClean="0"/>
              <a:t> 방법에 대한 설명입니다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**</a:t>
            </a:r>
            <a:r>
              <a:rPr lang="ko-KR" altLang="en-US" dirty="0" err="1" smtClean="0"/>
              <a:t>글리치</a:t>
            </a:r>
            <a:r>
              <a:rPr lang="en-US" altLang="ko-KR" dirty="0" smtClean="0"/>
              <a:t>(Glitch)**</a:t>
            </a:r>
            <a:r>
              <a:rPr lang="ko-KR" altLang="en-US" dirty="0" smtClean="0"/>
              <a:t>는 신호가 변경되는 과정에서 발생하는 짧고 의도하지 않은 펄스입니다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왼쪽 그림처럼 클럭이 </a:t>
            </a:r>
            <a:r>
              <a:rPr lang="en-US" altLang="ko-KR" dirty="0" smtClean="0"/>
              <a:t>HIGH</a:t>
            </a:r>
            <a:r>
              <a:rPr lang="ko-KR" altLang="en-US" dirty="0" smtClean="0"/>
              <a:t>인 상태에서 </a:t>
            </a:r>
            <a:r>
              <a:rPr lang="en-US" altLang="ko-KR" dirty="0" smtClean="0"/>
              <a:t>Enable </a:t>
            </a:r>
            <a:r>
              <a:rPr lang="ko-KR" altLang="en-US" dirty="0" smtClean="0"/>
              <a:t>신호가 변경되면 </a:t>
            </a:r>
            <a:r>
              <a:rPr lang="en-US" altLang="ko-KR" dirty="0" smtClean="0"/>
              <a:t>AND </a:t>
            </a:r>
            <a:r>
              <a:rPr lang="ko-KR" altLang="en-US" dirty="0" smtClean="0"/>
              <a:t>게이트 출력에 </a:t>
            </a:r>
            <a:r>
              <a:rPr lang="ko-KR" altLang="en-US" dirty="0" err="1" smtClean="0"/>
              <a:t>글리치가</a:t>
            </a:r>
            <a:r>
              <a:rPr lang="ko-KR" altLang="en-US" dirty="0" smtClean="0"/>
              <a:t> 발생할 수 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이를 방지하기 위해 </a:t>
            </a:r>
            <a:r>
              <a:rPr lang="en-US" altLang="ko-KR" b="1" dirty="0" smtClean="0"/>
              <a:t>Latch </a:t>
            </a:r>
            <a:r>
              <a:rPr lang="ko-KR" altLang="en-US" b="1" dirty="0" smtClean="0"/>
              <a:t>기반 </a:t>
            </a:r>
            <a:r>
              <a:rPr lang="en-US" altLang="ko-KR" b="1" dirty="0" smtClean="0"/>
              <a:t>Clock Gating</a:t>
            </a:r>
            <a:r>
              <a:rPr lang="ko-KR" altLang="en-US" dirty="0" smtClean="0"/>
              <a:t> 방식을 사용합니다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클럭이 </a:t>
            </a:r>
            <a:r>
              <a:rPr lang="en-US" altLang="ko-KR" dirty="0" smtClean="0"/>
              <a:t>LOW</a:t>
            </a:r>
            <a:r>
              <a:rPr lang="ko-KR" altLang="en-US" dirty="0" smtClean="0"/>
              <a:t>인 구간에서 </a:t>
            </a:r>
            <a:r>
              <a:rPr lang="en-US" altLang="ko-KR" dirty="0" smtClean="0"/>
              <a:t>Enable </a:t>
            </a:r>
            <a:r>
              <a:rPr lang="ko-KR" altLang="en-US" dirty="0" smtClean="0"/>
              <a:t>값을 </a:t>
            </a:r>
            <a:r>
              <a:rPr lang="ko-KR" altLang="en-US" dirty="0" err="1" smtClean="0"/>
              <a:t>래치에</a:t>
            </a:r>
            <a:r>
              <a:rPr lang="ko-KR" altLang="en-US" dirty="0" smtClean="0"/>
              <a:t> 저장하고</a:t>
            </a:r>
            <a:r>
              <a:rPr lang="en-US" altLang="ko-KR" dirty="0" smtClean="0"/>
              <a:t>, HIGH</a:t>
            </a:r>
            <a:r>
              <a:rPr lang="ko-KR" altLang="en-US" dirty="0" smtClean="0"/>
              <a:t>인 구간에서는 해당 값을 유지하여 불필요한 펄스 발생을 방지합니다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이번 페이지는 하나의 신호가 여러 입력을 구동하는 </a:t>
            </a:r>
            <a:r>
              <a:rPr lang="en-US" altLang="ko-KR" dirty="0" smtClean="0"/>
              <a:t>Fan-out</a:t>
            </a:r>
            <a:r>
              <a:rPr lang="ko-KR" altLang="en-US" dirty="0" smtClean="0"/>
              <a:t>에 대한 설명입니다</a:t>
            </a:r>
            <a:r>
              <a:rPr lang="en-US" altLang="ko-KR" dirty="0" smtClean="0"/>
              <a:t>.</a:t>
            </a:r>
          </a:p>
          <a:p>
            <a:r>
              <a:rPr lang="en-US" altLang="ko-KR" b="1" dirty="0" smtClean="0"/>
              <a:t>Fan-out</a:t>
            </a:r>
            <a:r>
              <a:rPr lang="ko-KR" altLang="en-US" dirty="0" smtClean="0"/>
              <a:t>은 하나의 출력 신호가 연결되어 있는 입력의 개수를 의미합니다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왼쪽 그림처럼 하나의 신호가 </a:t>
            </a:r>
            <a:r>
              <a:rPr lang="en-US" altLang="ko-KR" dirty="0" smtClean="0"/>
              <a:t>4</a:t>
            </a:r>
            <a:r>
              <a:rPr lang="ko-KR" altLang="en-US" dirty="0" smtClean="0"/>
              <a:t>개의 입력에 연결되어 있다면 </a:t>
            </a:r>
            <a:r>
              <a:rPr lang="en-US" altLang="ko-KR" dirty="0" smtClean="0"/>
              <a:t>Fan-out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4</a:t>
            </a:r>
            <a:r>
              <a:rPr lang="ko-KR" altLang="en-US" dirty="0" smtClean="0"/>
              <a:t>가 됩니다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Fan-out</a:t>
            </a:r>
            <a:r>
              <a:rPr lang="ko-KR" altLang="en-US" dirty="0" smtClean="0"/>
              <a:t>이 증가하면 배선 부하와 전파 지연이 증가할 수 있으며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이로 인해 타이밍 여유가 감소할 수 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이를 개선하기 위해 </a:t>
            </a:r>
            <a:r>
              <a:rPr lang="ko-KR" altLang="en-US" dirty="0" err="1" smtClean="0"/>
              <a:t>버퍼링</a:t>
            </a:r>
            <a:r>
              <a:rPr lang="en-US" altLang="ko-KR" dirty="0" smtClean="0"/>
              <a:t>, </a:t>
            </a:r>
            <a:r>
              <a:rPr lang="ko-KR" altLang="en-US" dirty="0" smtClean="0"/>
              <a:t>레지스터 복제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배치 최적화 등의 방법을 사용할 수 있습니다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이번 프로젝트를 진행하면서 크게 두 가지를 배울 수 있었습니다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첫 번째는 </a:t>
            </a:r>
            <a:r>
              <a:rPr lang="ko-KR" altLang="en-US" b="1" dirty="0" smtClean="0"/>
              <a:t>모드와 실행 상태를 분리하여 관리하는 방법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기존에는 하나의 상태 변수로 여러 기능을 제어하려 했지만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모드와 실행 플래그를 분리하면서 버튼 동작을 더 명확하게 구현할 수 있었습니다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두 번째는 </a:t>
            </a:r>
            <a:r>
              <a:rPr lang="en-US" altLang="ko-KR" b="1" dirty="0" smtClean="0"/>
              <a:t>100MHz </a:t>
            </a:r>
            <a:r>
              <a:rPr lang="ko-KR" altLang="en-US" b="1" dirty="0" smtClean="0"/>
              <a:t>클럭을 이용한 시간 카운터 제어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1</a:t>
            </a:r>
            <a:r>
              <a:rPr lang="ko-KR" altLang="en-US" dirty="0" smtClean="0"/>
              <a:t>억 번의 클럭을 카운트하여 </a:t>
            </a:r>
            <a:r>
              <a:rPr lang="en-US" altLang="ko-KR" dirty="0" smtClean="0"/>
              <a:t>1</a:t>
            </a:r>
            <a:r>
              <a:rPr lang="ko-KR" altLang="en-US" dirty="0" smtClean="0"/>
              <a:t>초 </a:t>
            </a:r>
            <a:r>
              <a:rPr lang="en-US" altLang="ko-KR" dirty="0" smtClean="0"/>
              <a:t>Tick</a:t>
            </a:r>
            <a:r>
              <a:rPr lang="ko-KR" altLang="en-US" dirty="0" smtClean="0"/>
              <a:t>을 생성하고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이를 활용해 시간 증가와 일시정지 기능을 구현하면서 </a:t>
            </a:r>
            <a:r>
              <a:rPr lang="en-US" altLang="ko-KR" dirty="0" smtClean="0"/>
              <a:t>FPGA</a:t>
            </a:r>
            <a:r>
              <a:rPr lang="ko-KR" altLang="en-US" dirty="0" smtClean="0"/>
              <a:t>의 시간 제어 원리를 이해할 수 있었습니다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이번 프로젝트를 통해 </a:t>
            </a:r>
            <a:r>
              <a:rPr lang="en-US" altLang="ko-KR" dirty="0" smtClean="0"/>
              <a:t>Verilog</a:t>
            </a:r>
            <a:r>
              <a:rPr lang="ko-KR" altLang="en-US" dirty="0" smtClean="0"/>
              <a:t>로 작성한 코드를 실제 하드웨어에서 구현하고 검증하는 경험을 할 수 있었습니다</a:t>
            </a:r>
            <a:r>
              <a:rPr lang="en-US" altLang="ko-KR" dirty="0" smtClean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5F8865C-F957-44C4-8986-65F16A90A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B64EBC0-4C1F-44E4-AAA5-D098368A2D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375FB82-A0F1-4C14-B57E-64095FA86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ED390D2-9C87-4B2F-B16D-003BD72F4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FA6235A-CBCA-4B25-9D48-62CDF47A9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FDC5BDB-BA0A-4BAE-BF3E-A756E0084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B070891-445B-4F4A-91EB-A58731FAE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84D7118-86E8-465A-B560-56A833933A2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67E6C1F-5428-449B-B112-36E49C403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8A43D62-EE8E-45E1-B714-90485F5DF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0572BE4-7D95-4054-8850-BFAD6F6D8F2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8572500" cy="4572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2025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rPr>
              <a:t>BASYS3 / Verilog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6F85BCE-3A60-497B-9258-73AF3D6BB92E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10477500" cy="1809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55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55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55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55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55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55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55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55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55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55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55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55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분·초 시계와</a:t>
            </a:r>
          </a:p>
          <a:p>
            <a:pPr algn="l">
              <a:defRPr sz="55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55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스톱워치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410019-A56F-4D2C-9402-0784F556F4CA}"/>
              </a:ext>
            </a:extLst>
          </p:cNvPr>
          <p:cNvSpPr>
            <a:spLocks noGrp="1"/>
          </p:cNvSpPr>
          <p:nvPr/>
        </p:nvSpPr>
        <p:spPr>
          <a:xfrm>
            <a:off x="647700" y="3990975"/>
            <a:ext cx="10001250" cy="571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240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240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버튼 입력부터 시간 제어, 4자리 표시까지</a:t>
            </a: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A55521C0-CA68-47C6-8DDA-14EDD0F38AD1}"/>
              </a:ext>
            </a:extLst>
          </p:cNvPr>
          <p:cNvSpPr>
            <a:spLocks noGrp="1"/>
          </p:cNvSpPr>
          <p:nvPr/>
        </p:nvSpPr>
        <p:spPr>
          <a:xfrm>
            <a:off x="647700" y="5476875"/>
            <a:ext cx="10896600" cy="0"/>
          </a:xfrm>
          <a:prstGeom prst="line">
            <a:avLst/>
          </a:prstGeom>
          <a:noFill/>
          <a:ln w="19050">
            <a:solidFill>
              <a:srgbClr val="171B1B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4A65CEA-8263-47ED-920C-B3CA8F24BCD2}"/>
              </a:ext>
            </a:extLst>
          </p:cNvPr>
          <p:cNvSpPr>
            <a:spLocks noGrp="1"/>
          </p:cNvSpPr>
          <p:nvPr/>
        </p:nvSpPr>
        <p:spPr>
          <a:xfrm>
            <a:off x="647700" y="5734050"/>
            <a:ext cx="99060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설계 구조와 시뮬레이션 분석</a:t>
            </a:r>
          </a:p>
        </p:txBody>
      </p:sp>
    </p:spTree>
    <p:extLst>
      <p:ext uri="{BB962C8B-B14F-4D97-AF65-F5344CB8AC3E}">
        <p14:creationId xmlns:p14="http://schemas.microsoft.com/office/powerpoint/2010/main" val="1729259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C75559-E623-4917-A169-BB35751B0F2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04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구현 범위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ED7C9AB9-BD62-4A73-92D0-9DB8005EF3F4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0"/>
          </a:xfrm>
          <a:prstGeom prst="line">
            <a:avLst/>
          </a:prstGeom>
          <a:noFill/>
          <a:ln w="9525">
            <a:solidFill>
              <a:srgbClr val="171B1B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80D075B-A55F-4AB5-B768-95336A10345A}"/>
              </a:ext>
            </a:extLst>
          </p:cNvPr>
          <p:cNvSpPr>
            <a:spLocks noGrp="1"/>
          </p:cNvSpPr>
          <p:nvPr/>
        </p:nvSpPr>
        <p:spPr>
          <a:xfrm>
            <a:off x="11010900" y="6362700"/>
            <a:ext cx="571500" cy="2476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BF2C096-7E03-416D-AFBE-E6EECF6A7F5F}"/>
              </a:ext>
            </a:extLst>
          </p:cNvPr>
          <p:cNvSpPr>
            <a:spLocks noGrp="1"/>
          </p:cNvSpPr>
          <p:nvPr/>
        </p:nvSpPr>
        <p:spPr>
          <a:xfrm>
            <a:off x="685800" y="1781175"/>
            <a:ext cx="5238750" cy="1333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7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7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7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7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7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7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7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7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7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7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7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pPr>
            <a:r>
              <a:rPr sz="7950" b="1" dirty="0">
                <a:solidFill>
                  <a:srgbClr val="087E82"/>
                </a:solidFill>
                <a:latin typeface="Consolas"/>
                <a:ea typeface="Consolas"/>
                <a:cs typeface="Consolas"/>
              </a:rPr>
              <a:t>00.00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4FF8E5-CC5A-4569-B3B3-036C39DF9EE0}"/>
              </a:ext>
            </a:extLst>
          </p:cNvPr>
          <p:cNvSpPr>
            <a:spLocks noGrp="1"/>
          </p:cNvSpPr>
          <p:nvPr/>
        </p:nvSpPr>
        <p:spPr>
          <a:xfrm>
            <a:off x="723900" y="3286125"/>
            <a:ext cx="5143500" cy="4762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9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9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분 00–59     초 00–59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E015EB-6E13-4DF3-A23A-65522A9A3BF4}"/>
              </a:ext>
            </a:extLst>
          </p:cNvPr>
          <p:cNvSpPr>
            <a:spLocks noGrp="1"/>
          </p:cNvSpPr>
          <p:nvPr/>
        </p:nvSpPr>
        <p:spPr>
          <a:xfrm>
            <a:off x="6858000" y="1809750"/>
            <a:ext cx="2857500" cy="4000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rPr>
              <a:t>시계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988A91C-CBB7-4538-B632-AF02590CA2E0}"/>
              </a:ext>
            </a:extLst>
          </p:cNvPr>
          <p:cNvSpPr>
            <a:spLocks noGrp="1"/>
          </p:cNvSpPr>
          <p:nvPr/>
        </p:nvSpPr>
        <p:spPr>
          <a:xfrm>
            <a:off x="6858000" y="2286000"/>
            <a:ext cx="4572000" cy="95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모드와 관계없이 계속 카운트</a:t>
            </a:r>
          </a:p>
          <a:p>
            <a: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분·초 사이 점을 1초마다 반전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74D32BE-DFCA-44F9-8592-B1B802B4A87C}"/>
              </a:ext>
            </a:extLst>
          </p:cNvPr>
          <p:cNvSpPr>
            <a:spLocks noGrp="1"/>
          </p:cNvSpPr>
          <p:nvPr/>
        </p:nvSpPr>
        <p:spPr>
          <a:xfrm>
            <a:off x="6858000" y="3810000"/>
            <a:ext cx="2857500" cy="4000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rPr>
              <a:t>스톱워치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356427A-2D96-4F00-97C8-A6633FBE7C63}"/>
              </a:ext>
            </a:extLst>
          </p:cNvPr>
          <p:cNvSpPr>
            <a:spLocks noGrp="1"/>
          </p:cNvSpPr>
          <p:nvPr/>
        </p:nvSpPr>
        <p:spPr>
          <a:xfrm>
            <a:off x="6858000" y="4286250"/>
            <a:ext cx="4572000" cy="95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진입 시 실행, 버튼으로 일시 정지</a:t>
            </a:r>
          </a:p>
          <a:p>
            <a: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정지 후 유휴 애니메이션 표시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7A94603-4BBD-4A9B-8D14-78C687381CE2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10287000" cy="3333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구현 범위는 분·초 표시이며, 시각 설정과 랩 타임 기능은 포함하지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809974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E3438356-8A9C-489E-8917-11C3F185FFA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04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입력과 조작 방법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1B6C46BA-893D-4B40-961F-EEDF3501C7DE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0"/>
          </a:xfrm>
          <a:prstGeom prst="line">
            <a:avLst/>
          </a:prstGeom>
          <a:noFill/>
          <a:ln w="9525">
            <a:solidFill>
              <a:srgbClr val="171B1B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AA5B64D-C40A-4077-93FC-FB4EF2DE9625}"/>
              </a:ext>
            </a:extLst>
          </p:cNvPr>
          <p:cNvSpPr>
            <a:spLocks noGrp="1"/>
          </p:cNvSpPr>
          <p:nvPr/>
        </p:nvSpPr>
        <p:spPr>
          <a:xfrm>
            <a:off x="11010900" y="6362700"/>
            <a:ext cx="571500" cy="2476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12E89E9-0A21-42E6-BCD0-E5309188CB2E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2000250" cy="4572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rPr>
              <a:t>BTN L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DF3E498-B53D-48E0-B37A-1E8A319273C8}"/>
              </a:ext>
            </a:extLst>
          </p:cNvPr>
          <p:cNvSpPr>
            <a:spLocks noGrp="1"/>
          </p:cNvSpPr>
          <p:nvPr/>
        </p:nvSpPr>
        <p:spPr>
          <a:xfrm>
            <a:off x="2876550" y="1666875"/>
            <a:ext cx="3143250" cy="4572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시계 ↔ 스톱워치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CDB69AE-D34F-47F4-8F18-4B7CE0769297}"/>
              </a:ext>
            </a:extLst>
          </p:cNvPr>
          <p:cNvSpPr>
            <a:spLocks noGrp="1"/>
          </p:cNvSpPr>
          <p:nvPr/>
        </p:nvSpPr>
        <p:spPr>
          <a:xfrm>
            <a:off x="6286500" y="1666875"/>
            <a:ext cx="5191125" cy="619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실행 상태를 유지한 채 모드 변경</a:t>
            </a:r>
          </a:p>
        </p:txBody>
      </p:sp>
      <p:sp>
        <p:nvSpPr>
          <p:cNvPr id="7" name="직선 연결선 6">
            <a:extLst>
              <a:ext uri="{FF2B5EF4-FFF2-40B4-BE49-F238E27FC236}">
                <a16:creationId xmlns:a16="http://schemas.microsoft.com/office/drawing/2014/main" id="{EFC636C4-CC12-4377-9681-F7AB635F91E0}"/>
              </a:ext>
            </a:extLst>
          </p:cNvPr>
          <p:cNvSpPr>
            <a:spLocks noGrp="1"/>
          </p:cNvSpPr>
          <p:nvPr/>
        </p:nvSpPr>
        <p:spPr>
          <a:xfrm>
            <a:off x="685800" y="2447925"/>
            <a:ext cx="10744200" cy="0"/>
          </a:xfrm>
          <a:prstGeom prst="line">
            <a:avLst/>
          </a:prstGeom>
          <a:noFill/>
          <a:ln w="9525">
            <a:solidFill>
              <a:srgbClr val="BAC3BE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114622-86AC-41CA-B55C-AF89309BC405}"/>
              </a:ext>
            </a:extLst>
          </p:cNvPr>
          <p:cNvSpPr>
            <a:spLocks noGrp="1"/>
          </p:cNvSpPr>
          <p:nvPr/>
        </p:nvSpPr>
        <p:spPr>
          <a:xfrm>
            <a:off x="685800" y="2638425"/>
            <a:ext cx="2000250" cy="4572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rPr>
              <a:t>BTN R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77FF910-C59B-4B74-9BEB-A64B07F15F7F}"/>
              </a:ext>
            </a:extLst>
          </p:cNvPr>
          <p:cNvSpPr>
            <a:spLocks noGrp="1"/>
          </p:cNvSpPr>
          <p:nvPr/>
        </p:nvSpPr>
        <p:spPr>
          <a:xfrm>
            <a:off x="2876550" y="2638425"/>
            <a:ext cx="3143250" cy="4572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실행 ↔ 일시 정지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A259EF-F5AB-4395-935A-28FAC1A148CC}"/>
              </a:ext>
            </a:extLst>
          </p:cNvPr>
          <p:cNvSpPr>
            <a:spLocks noGrp="1"/>
          </p:cNvSpPr>
          <p:nvPr/>
        </p:nvSpPr>
        <p:spPr>
          <a:xfrm>
            <a:off x="6286500" y="2638425"/>
            <a:ext cx="5191125" cy="619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스톱워치 모드에서만 유효</a:t>
            </a:r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8A735DDC-CADB-48C1-B2F0-8A7BCB6DF98D}"/>
              </a:ext>
            </a:extLst>
          </p:cNvPr>
          <p:cNvSpPr>
            <a:spLocks noGrp="1"/>
          </p:cNvSpPr>
          <p:nvPr/>
        </p:nvSpPr>
        <p:spPr>
          <a:xfrm>
            <a:off x="685800" y="3419475"/>
            <a:ext cx="10744200" cy="0"/>
          </a:xfrm>
          <a:prstGeom prst="line">
            <a:avLst/>
          </a:prstGeom>
          <a:noFill/>
          <a:ln w="9525">
            <a:solidFill>
              <a:srgbClr val="BAC3BE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1B4F3A0-A838-46DF-AC48-C8194C1BDE9C}"/>
              </a:ext>
            </a:extLst>
          </p:cNvPr>
          <p:cNvSpPr>
            <a:spLocks noGrp="1"/>
          </p:cNvSpPr>
          <p:nvPr/>
        </p:nvSpPr>
        <p:spPr>
          <a:xfrm>
            <a:off x="685800" y="3609975"/>
            <a:ext cx="2000250" cy="4572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rPr>
              <a:t>BTN C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56D708E-27E3-472D-9CFC-1835C16D4926}"/>
              </a:ext>
            </a:extLst>
          </p:cNvPr>
          <p:cNvSpPr>
            <a:spLocks noGrp="1"/>
          </p:cNvSpPr>
          <p:nvPr/>
        </p:nvSpPr>
        <p:spPr>
          <a:xfrm>
            <a:off x="2876550" y="3609975"/>
            <a:ext cx="3143250" cy="4572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스톱워치 00:00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5211B9E-9534-4AB2-A083-FA0242DBF264}"/>
              </a:ext>
            </a:extLst>
          </p:cNvPr>
          <p:cNvSpPr>
            <a:spLocks noGrp="1"/>
          </p:cNvSpPr>
          <p:nvPr/>
        </p:nvSpPr>
        <p:spPr>
          <a:xfrm>
            <a:off x="6286500" y="3609975"/>
            <a:ext cx="5191125" cy="619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실행 상태와 tick 위상은 유지</a:t>
            </a: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AB4CE6F8-1CA8-470B-9DA0-0F53BF9DBF6B}"/>
              </a:ext>
            </a:extLst>
          </p:cNvPr>
          <p:cNvSpPr>
            <a:spLocks noGrp="1"/>
          </p:cNvSpPr>
          <p:nvPr/>
        </p:nvSpPr>
        <p:spPr>
          <a:xfrm>
            <a:off x="685800" y="4391025"/>
            <a:ext cx="10744200" cy="0"/>
          </a:xfrm>
          <a:prstGeom prst="line">
            <a:avLst/>
          </a:prstGeom>
          <a:noFill/>
          <a:ln w="9525">
            <a:solidFill>
              <a:srgbClr val="BAC3BE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3D173C2-73FC-497D-B9D5-480C0D52A745}"/>
              </a:ext>
            </a:extLst>
          </p:cNvPr>
          <p:cNvSpPr>
            <a:spLocks noGrp="1"/>
          </p:cNvSpPr>
          <p:nvPr/>
        </p:nvSpPr>
        <p:spPr>
          <a:xfrm>
            <a:off x="685800" y="4581525"/>
            <a:ext cx="2000250" cy="4572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rPr>
              <a:t>RESET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2089BCE-E081-473E-BB59-6ABC93E78BD6}"/>
              </a:ext>
            </a:extLst>
          </p:cNvPr>
          <p:cNvSpPr>
            <a:spLocks noGrp="1"/>
          </p:cNvSpPr>
          <p:nvPr/>
        </p:nvSpPr>
        <p:spPr>
          <a:xfrm>
            <a:off x="2876550" y="4581525"/>
            <a:ext cx="3143250" cy="4572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전체 초기화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0DF1E59-A9FF-4EC8-B61E-7CEB605DDEF7}"/>
              </a:ext>
            </a:extLst>
          </p:cNvPr>
          <p:cNvSpPr>
            <a:spLocks noGrp="1"/>
          </p:cNvSpPr>
          <p:nvPr/>
        </p:nvSpPr>
        <p:spPr>
          <a:xfrm>
            <a:off x="6286500" y="4581525"/>
            <a:ext cx="5191125" cy="619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시계 모드, running=1로 복귀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AD69C4FB-772F-4B56-BE58-A53BD3ACBCB4}"/>
              </a:ext>
            </a:extLst>
          </p:cNvPr>
          <p:cNvSpPr>
            <a:spLocks noGrp="1"/>
          </p:cNvSpPr>
          <p:nvPr/>
        </p:nvSpPr>
        <p:spPr>
          <a:xfrm>
            <a:off x="685800" y="5362575"/>
            <a:ext cx="10744200" cy="0"/>
          </a:xfrm>
          <a:prstGeom prst="line">
            <a:avLst/>
          </a:prstGeom>
          <a:noFill/>
          <a:ln w="9525">
            <a:solidFill>
              <a:srgbClr val="BAC3BE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EC161FC-2D08-492F-B211-CFB0472FE488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10287000" cy="3333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LED[0] = mode     LED[1] = mode &amp;&amp; running</a:t>
            </a:r>
          </a:p>
        </p:txBody>
      </p:sp>
    </p:spTree>
    <p:extLst>
      <p:ext uri="{BB962C8B-B14F-4D97-AF65-F5344CB8AC3E}">
        <p14:creationId xmlns:p14="http://schemas.microsoft.com/office/powerpoint/2010/main" val="1696295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D2A"/>
                </a:solidFill>
                <a:latin typeface="맑은 고딕"/>
              </a:rPr>
              <a:t>전체 구조 · Top-Level 회로 연결도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60704"/>
            <a:ext cx="10972800" cy="10972"/>
          </a:xfrm>
          <a:prstGeom prst="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_full_structure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306" y="1197864"/>
            <a:ext cx="9253082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97382"/>
                </a:solidFill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245352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05A64"/>
                </a:solidFill>
                <a:latin typeface="맑은 고딕"/>
              </a:rPr>
              <a:t>입력(btn, sw, clk, reset) → btn_debounce / main_controller / tick_generator → fnd_controller → LED·FND 출력</a:t>
            </a:r>
          </a:p>
        </p:txBody>
      </p:sp>
    </p:spTree>
    <p:extLst>
      <p:ext uri="{BB962C8B-B14F-4D97-AF65-F5344CB8AC3E}">
        <p14:creationId xmlns:p14="http://schemas.microsoft.com/office/powerpoint/2010/main" val="359012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55E0D2D7-33C8-4F89-BB8B-E2391DEC48F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04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r>
              <a:rPr sz="2700" b="1">
                <a:solidFill>
                  <a:srgbClr val="202C3C"/>
                </a:solidFill>
              </a:rPr>
              <a:t>FSM 상태 전이도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0391C8F-431B-4D49-8923-E44B6D50FA26}"/>
              </a:ext>
            </a:extLst>
          </p:cNvPr>
          <p:cNvSpPr>
            <a:spLocks noGrp="1"/>
          </p:cNvSpPr>
          <p:nvPr/>
        </p:nvSpPr>
        <p:spPr>
          <a:xfrm>
            <a:off x="11010900" y="6362700"/>
            <a:ext cx="571500" cy="2476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pic>
        <p:nvPicPr>
          <p:cNvPr id="32" name="Picture 31" descr="image(20261022-09355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207008"/>
            <a:ext cx="9372600" cy="461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510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1ED0A2B6-221A-4AB4-BD53-CA0169B6462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04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시간 계산과 경계 조건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9AB2A727-54B5-49D4-9259-608AF718AED9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0"/>
          </a:xfrm>
          <a:prstGeom prst="line">
            <a:avLst/>
          </a:prstGeom>
          <a:noFill/>
          <a:ln w="9525">
            <a:solidFill>
              <a:srgbClr val="171B1B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756AE83-BCE8-4AC4-A889-A3214A87090E}"/>
              </a:ext>
            </a:extLst>
          </p:cNvPr>
          <p:cNvSpPr>
            <a:spLocks noGrp="1"/>
          </p:cNvSpPr>
          <p:nvPr/>
        </p:nvSpPr>
        <p:spPr>
          <a:xfrm>
            <a:off x="11010900" y="6362700"/>
            <a:ext cx="571500" cy="2476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72BD48E-66C5-41F9-A81A-889EF36284BB}"/>
              </a:ext>
            </a:extLst>
          </p:cNvPr>
          <p:cNvSpPr>
            <a:spLocks noGrp="1"/>
          </p:cNvSpPr>
          <p:nvPr/>
        </p:nvSpPr>
        <p:spPr>
          <a:xfrm>
            <a:off x="685800" y="1628775"/>
            <a:ext cx="10763250" cy="571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285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85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85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85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85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85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85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85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85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85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285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rPr>
              <a:t>100 MHz ÷ 100,000,000 = 1 Hz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E5063E-F955-4B7B-90B0-807EEB374DB2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2381250" cy="1047750"/>
          </a:xfrm>
          <a:prstGeom prst="rect">
            <a:avLst/>
          </a:prstGeom>
          <a:solidFill>
            <a:srgbClr val="F6F5F0"/>
          </a:solidFill>
          <a:ln w="19050">
            <a:solidFill>
              <a:srgbClr val="171B1B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483D3D-2768-4C00-B1B8-45969F0E4896}"/>
              </a:ext>
            </a:extLst>
          </p:cNvPr>
          <p:cNvSpPr>
            <a:spLocks noGrp="1"/>
          </p:cNvSpPr>
          <p:nvPr/>
        </p:nvSpPr>
        <p:spPr>
          <a:xfrm>
            <a:off x="800100" y="2857500"/>
            <a:ext cx="2152650" cy="8953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00:59</a:t>
            </a:r>
          </a:p>
        </p:txBody>
      </p:sp>
      <p:sp>
        <p:nvSpPr>
          <p:cNvPr id="7" name="직선 연결선 6">
            <a:extLst>
              <a:ext uri="{FF2B5EF4-FFF2-40B4-BE49-F238E27FC236}">
                <a16:creationId xmlns:a16="http://schemas.microsoft.com/office/drawing/2014/main" id="{2F0E041A-3593-4CD4-8F48-5DBD58B4AD92}"/>
              </a:ext>
            </a:extLst>
          </p:cNvPr>
          <p:cNvSpPr>
            <a:spLocks noGrp="1"/>
          </p:cNvSpPr>
          <p:nvPr/>
        </p:nvSpPr>
        <p:spPr>
          <a:xfrm>
            <a:off x="3238500" y="3305175"/>
            <a:ext cx="1714500" cy="0"/>
          </a:xfrm>
          <a:prstGeom prst="line">
            <a:avLst/>
          </a:prstGeom>
          <a:noFill/>
          <a:ln w="19050">
            <a:solidFill>
              <a:srgbClr val="087E82"/>
            </a:solidFill>
            <a:prstDash val="solid"/>
          </a:ln>
        </p:spPr>
      </p:sp>
      <p:sp>
        <p:nvSpPr>
          <p:cNvPr id="8" name="오른쪽 화살표 7">
            <a:extLst>
              <a:ext uri="{FF2B5EF4-FFF2-40B4-BE49-F238E27FC236}">
                <a16:creationId xmlns:a16="http://schemas.microsoft.com/office/drawing/2014/main" id="{5F3AA13D-FFB2-4E9D-B043-3D7527ABD79C}"/>
              </a:ext>
            </a:extLst>
          </p:cNvPr>
          <p:cNvSpPr>
            <a:spLocks noGrp="1"/>
          </p:cNvSpPr>
          <p:nvPr/>
        </p:nvSpPr>
        <p:spPr>
          <a:xfrm>
            <a:off x="4886325" y="3238500"/>
            <a:ext cx="133350" cy="133350"/>
          </a:xfrm>
          <a:prstGeom prst="rightArrow">
            <a:avLst/>
          </a:prstGeom>
          <a:solidFill>
            <a:srgbClr val="087E82"/>
          </a:solidFill>
          <a:ln w="9525">
            <a:noFill/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8C821F-3618-411D-9AE7-DBA5A61C1A5C}"/>
              </a:ext>
            </a:extLst>
          </p:cNvPr>
          <p:cNvSpPr>
            <a:spLocks noGrp="1"/>
          </p:cNvSpPr>
          <p:nvPr/>
        </p:nvSpPr>
        <p:spPr>
          <a:xfrm>
            <a:off x="5143500" y="2781300"/>
            <a:ext cx="2381250" cy="1047750"/>
          </a:xfrm>
          <a:prstGeom prst="rect">
            <a:avLst/>
          </a:prstGeom>
          <a:solidFill>
            <a:srgbClr val="F6F5F0"/>
          </a:solidFill>
          <a:ln w="19050">
            <a:solidFill>
              <a:srgbClr val="171B1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4F277E0-9571-4DCD-B6D9-767E069BBB24}"/>
              </a:ext>
            </a:extLst>
          </p:cNvPr>
          <p:cNvSpPr>
            <a:spLocks noGrp="1"/>
          </p:cNvSpPr>
          <p:nvPr/>
        </p:nvSpPr>
        <p:spPr>
          <a:xfrm>
            <a:off x="5257800" y="2857500"/>
            <a:ext cx="2152650" cy="8953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01:00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1CE439D-E860-4E26-B5DE-FE1510FF97A9}"/>
              </a:ext>
            </a:extLst>
          </p:cNvPr>
          <p:cNvSpPr>
            <a:spLocks noGrp="1"/>
          </p:cNvSpPr>
          <p:nvPr/>
        </p:nvSpPr>
        <p:spPr>
          <a:xfrm>
            <a:off x="3352800" y="2771775"/>
            <a:ext cx="1476375" cy="4000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80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다음 tick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D435D6-EE90-47F7-95B8-50A519675094}"/>
              </a:ext>
            </a:extLst>
          </p:cNvPr>
          <p:cNvSpPr>
            <a:spLocks noGrp="1"/>
          </p:cNvSpPr>
          <p:nvPr/>
        </p:nvSpPr>
        <p:spPr>
          <a:xfrm>
            <a:off x="8115300" y="2790825"/>
            <a:ext cx="3429000" cy="10953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59:59 다음은 00:00</a:t>
            </a:r>
          </a:p>
          <a:p>
            <a: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표시 값 = 분 × 100 + 초</a:t>
            </a:r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4ED63462-1204-4B6C-BC65-3619B324927C}"/>
              </a:ext>
            </a:extLst>
          </p:cNvPr>
          <p:cNvSpPr>
            <a:spLocks noGrp="1"/>
          </p:cNvSpPr>
          <p:nvPr/>
        </p:nvSpPr>
        <p:spPr>
          <a:xfrm>
            <a:off x="685800" y="4419600"/>
            <a:ext cx="10820400" cy="0"/>
          </a:xfrm>
          <a:prstGeom prst="line">
            <a:avLst/>
          </a:prstGeom>
          <a:noFill/>
          <a:ln w="9525">
            <a:solidFill>
              <a:srgbClr val="BAC3BE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CBE3D54-B567-4CDC-8B97-A24E6AEAF735}"/>
              </a:ext>
            </a:extLst>
          </p:cNvPr>
          <p:cNvSpPr>
            <a:spLocks noGrp="1"/>
          </p:cNvSpPr>
          <p:nvPr/>
        </p:nvSpPr>
        <p:spPr>
          <a:xfrm>
            <a:off x="685800" y="4714875"/>
            <a:ext cx="2762250" cy="4762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2100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2100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rPr>
              <a:t>공유 tick의 영향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F611AD9-D785-4075-9BC0-C96F79359B32}"/>
              </a:ext>
            </a:extLst>
          </p:cNvPr>
          <p:cNvSpPr>
            <a:spLocks noGrp="1"/>
          </p:cNvSpPr>
          <p:nvPr/>
        </p:nvSpPr>
        <p:spPr>
          <a:xfrm>
            <a:off x="3810000" y="4676775"/>
            <a:ext cx="7620000" cy="95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모드 진입·재개 직후 첫 증가까지는 0–1초</a:t>
            </a:r>
          </a:p>
          <a:p>
            <a: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정지 애니메이션은 대략 4–5초 뒤 시작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3D019A7-DF32-4C8A-8E75-475D659369FF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10287000" cy="3333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rollover 조건은 소스에서 확인했다. 기존 TB의 경계값 검증은 추가가 필요하다.</a:t>
            </a:r>
          </a:p>
        </p:txBody>
      </p:sp>
    </p:spTree>
    <p:extLst>
      <p:ext uri="{BB962C8B-B14F-4D97-AF65-F5344CB8AC3E}">
        <p14:creationId xmlns:p14="http://schemas.microsoft.com/office/powerpoint/2010/main" val="1841335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id="{1079923B-0D3C-4B2A-8F83-172A1226425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04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4자리 FND의 스캔 타이밍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4C056D65-AFA0-411D-84DD-265A8CAEF709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0"/>
          </a:xfrm>
          <a:prstGeom prst="line">
            <a:avLst/>
          </a:prstGeom>
          <a:noFill/>
          <a:ln w="9525">
            <a:solidFill>
              <a:srgbClr val="171B1B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002D8A-7F18-41B1-9562-572DCC5EAA04}"/>
              </a:ext>
            </a:extLst>
          </p:cNvPr>
          <p:cNvSpPr>
            <a:spLocks noGrp="1"/>
          </p:cNvSpPr>
          <p:nvPr/>
        </p:nvSpPr>
        <p:spPr>
          <a:xfrm>
            <a:off x="11010900" y="6362700"/>
            <a:ext cx="571500" cy="2476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2EE7A87-347E-4BFB-9A46-E6CDD351ADE5}"/>
              </a:ext>
            </a:extLst>
          </p:cNvPr>
          <p:cNvSpPr>
            <a:spLocks noGrp="1"/>
          </p:cNvSpPr>
          <p:nvPr/>
        </p:nvSpPr>
        <p:spPr>
          <a:xfrm>
            <a:off x="3048000" y="1676400"/>
            <a:ext cx="1952625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0–1 ms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AF664E0-B1FB-4C9F-BE2A-8E74345FF773}"/>
              </a:ext>
            </a:extLst>
          </p:cNvPr>
          <p:cNvSpPr>
            <a:spLocks noGrp="1"/>
          </p:cNvSpPr>
          <p:nvPr/>
        </p:nvSpPr>
        <p:spPr>
          <a:xfrm>
            <a:off x="5000625" y="1676400"/>
            <a:ext cx="1952625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1–2 ms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ED8E5B8-FFE5-47D3-B77A-95EE62839AEF}"/>
              </a:ext>
            </a:extLst>
          </p:cNvPr>
          <p:cNvSpPr>
            <a:spLocks noGrp="1"/>
          </p:cNvSpPr>
          <p:nvPr/>
        </p:nvSpPr>
        <p:spPr>
          <a:xfrm>
            <a:off x="6953250" y="1676400"/>
            <a:ext cx="1952625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2–3 ms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BF5379D-6978-442B-A90E-017258D665C1}"/>
              </a:ext>
            </a:extLst>
          </p:cNvPr>
          <p:cNvSpPr>
            <a:spLocks noGrp="1"/>
          </p:cNvSpPr>
          <p:nvPr/>
        </p:nvSpPr>
        <p:spPr>
          <a:xfrm>
            <a:off x="8905875" y="1676400"/>
            <a:ext cx="1952625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3–4 ms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33C70E-F6BB-4049-B10B-EF1127F3EE8E}"/>
              </a:ext>
            </a:extLst>
          </p:cNvPr>
          <p:cNvSpPr>
            <a:spLocks noGrp="1"/>
          </p:cNvSpPr>
          <p:nvPr/>
        </p:nvSpPr>
        <p:spPr>
          <a:xfrm>
            <a:off x="685800" y="2390775"/>
            <a:ext cx="2095500" cy="4000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초 1자리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FCDAC24-2129-48EA-ADFF-692A746A6484}"/>
              </a:ext>
            </a:extLst>
          </p:cNvPr>
          <p:cNvSpPr>
            <a:spLocks noGrp="1"/>
          </p:cNvSpPr>
          <p:nvPr/>
        </p:nvSpPr>
        <p:spPr>
          <a:xfrm>
            <a:off x="3048000" y="2371725"/>
            <a:ext cx="1876425" cy="419100"/>
          </a:xfrm>
          <a:prstGeom prst="rect">
            <a:avLst/>
          </a:prstGeom>
          <a:solidFill>
            <a:srgbClr val="087E82"/>
          </a:solidFill>
          <a:ln w="9525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5516DF7-CB9B-4F9D-9838-30A4BD7EFB3F}"/>
              </a:ext>
            </a:extLst>
          </p:cNvPr>
          <p:cNvSpPr>
            <a:spLocks noGrp="1"/>
          </p:cNvSpPr>
          <p:nvPr/>
        </p:nvSpPr>
        <p:spPr>
          <a:xfrm>
            <a:off x="5000625" y="2371725"/>
            <a:ext cx="1876425" cy="419100"/>
          </a:xfrm>
          <a:prstGeom prst="rect">
            <a:avLst/>
          </a:prstGeom>
          <a:solidFill>
            <a:srgbClr val="E4E7E1"/>
          </a:solidFill>
          <a:ln w="9525">
            <a:noFill/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8EEB217-A0E8-4D40-AF95-77FC1F6F23EA}"/>
              </a:ext>
            </a:extLst>
          </p:cNvPr>
          <p:cNvSpPr>
            <a:spLocks noGrp="1"/>
          </p:cNvSpPr>
          <p:nvPr/>
        </p:nvSpPr>
        <p:spPr>
          <a:xfrm>
            <a:off x="6953250" y="2371725"/>
            <a:ext cx="1876425" cy="419100"/>
          </a:xfrm>
          <a:prstGeom prst="rect">
            <a:avLst/>
          </a:prstGeom>
          <a:solidFill>
            <a:srgbClr val="E4E7E1"/>
          </a:solidFill>
          <a:ln w="9525">
            <a:noFill/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30D1C14-BAF3-47A1-B38E-C56997457FFF}"/>
              </a:ext>
            </a:extLst>
          </p:cNvPr>
          <p:cNvSpPr>
            <a:spLocks noGrp="1"/>
          </p:cNvSpPr>
          <p:nvPr/>
        </p:nvSpPr>
        <p:spPr>
          <a:xfrm>
            <a:off x="8905875" y="2371725"/>
            <a:ext cx="1876425" cy="419100"/>
          </a:xfrm>
          <a:prstGeom prst="rect">
            <a:avLst/>
          </a:prstGeom>
          <a:solidFill>
            <a:srgbClr val="E4E7E1"/>
          </a:solidFill>
          <a:ln w="9525">
            <a:noFill/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024366D-AFB0-4552-83DB-A5EFEC03751C}"/>
              </a:ext>
            </a:extLst>
          </p:cNvPr>
          <p:cNvSpPr>
            <a:spLocks noGrp="1"/>
          </p:cNvSpPr>
          <p:nvPr/>
        </p:nvSpPr>
        <p:spPr>
          <a:xfrm>
            <a:off x="685800" y="3019425"/>
            <a:ext cx="2095500" cy="4000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초 10자리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C4CBA3E-E039-4CC8-8873-4E881063918E}"/>
              </a:ext>
            </a:extLst>
          </p:cNvPr>
          <p:cNvSpPr>
            <a:spLocks noGrp="1"/>
          </p:cNvSpPr>
          <p:nvPr/>
        </p:nvSpPr>
        <p:spPr>
          <a:xfrm>
            <a:off x="3048000" y="3000375"/>
            <a:ext cx="1876425" cy="419100"/>
          </a:xfrm>
          <a:prstGeom prst="rect">
            <a:avLst/>
          </a:prstGeom>
          <a:solidFill>
            <a:srgbClr val="E4E7E1"/>
          </a:solidFill>
          <a:ln w="9525">
            <a:noFill/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277438-0807-419F-926D-5E3402BE2725}"/>
              </a:ext>
            </a:extLst>
          </p:cNvPr>
          <p:cNvSpPr>
            <a:spLocks noGrp="1"/>
          </p:cNvSpPr>
          <p:nvPr/>
        </p:nvSpPr>
        <p:spPr>
          <a:xfrm>
            <a:off x="5000625" y="3000375"/>
            <a:ext cx="1876425" cy="419100"/>
          </a:xfrm>
          <a:prstGeom prst="rect">
            <a:avLst/>
          </a:prstGeom>
          <a:solidFill>
            <a:srgbClr val="087E82"/>
          </a:solidFill>
          <a:ln w="9525">
            <a:noFill/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18F248E-47E5-42A6-8ACA-15BEADE902BB}"/>
              </a:ext>
            </a:extLst>
          </p:cNvPr>
          <p:cNvSpPr>
            <a:spLocks noGrp="1"/>
          </p:cNvSpPr>
          <p:nvPr/>
        </p:nvSpPr>
        <p:spPr>
          <a:xfrm>
            <a:off x="6953250" y="3000375"/>
            <a:ext cx="1876425" cy="419100"/>
          </a:xfrm>
          <a:prstGeom prst="rect">
            <a:avLst/>
          </a:prstGeom>
          <a:solidFill>
            <a:srgbClr val="E4E7E1"/>
          </a:solidFill>
          <a:ln w="9525">
            <a:noFill/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7613BD0-7665-4D7C-B577-1231EF4D93DC}"/>
              </a:ext>
            </a:extLst>
          </p:cNvPr>
          <p:cNvSpPr>
            <a:spLocks noGrp="1"/>
          </p:cNvSpPr>
          <p:nvPr/>
        </p:nvSpPr>
        <p:spPr>
          <a:xfrm>
            <a:off x="8905875" y="3000375"/>
            <a:ext cx="1876425" cy="419100"/>
          </a:xfrm>
          <a:prstGeom prst="rect">
            <a:avLst/>
          </a:prstGeom>
          <a:solidFill>
            <a:srgbClr val="E4E7E1"/>
          </a:solidFill>
          <a:ln w="9525">
            <a:noFill/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527FA80-0A23-4C9C-90A7-57C328702261}"/>
              </a:ext>
            </a:extLst>
          </p:cNvPr>
          <p:cNvSpPr>
            <a:spLocks noGrp="1"/>
          </p:cNvSpPr>
          <p:nvPr/>
        </p:nvSpPr>
        <p:spPr>
          <a:xfrm>
            <a:off x="685800" y="3648075"/>
            <a:ext cx="2095500" cy="4000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분 1자리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7FB7D2C-E501-485F-AE66-F31972B86DEB}"/>
              </a:ext>
            </a:extLst>
          </p:cNvPr>
          <p:cNvSpPr>
            <a:spLocks noGrp="1"/>
          </p:cNvSpPr>
          <p:nvPr/>
        </p:nvSpPr>
        <p:spPr>
          <a:xfrm>
            <a:off x="3048000" y="3629025"/>
            <a:ext cx="1876425" cy="419100"/>
          </a:xfrm>
          <a:prstGeom prst="rect">
            <a:avLst/>
          </a:prstGeom>
          <a:solidFill>
            <a:srgbClr val="E4E7E1"/>
          </a:solidFill>
          <a:ln w="9525">
            <a:noFill/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AB06068-3216-49A6-AE85-D5F1947A2C8A}"/>
              </a:ext>
            </a:extLst>
          </p:cNvPr>
          <p:cNvSpPr>
            <a:spLocks noGrp="1"/>
          </p:cNvSpPr>
          <p:nvPr/>
        </p:nvSpPr>
        <p:spPr>
          <a:xfrm>
            <a:off x="5000625" y="3629025"/>
            <a:ext cx="1876425" cy="419100"/>
          </a:xfrm>
          <a:prstGeom prst="rect">
            <a:avLst/>
          </a:prstGeom>
          <a:solidFill>
            <a:srgbClr val="E4E7E1"/>
          </a:solidFill>
          <a:ln w="9525">
            <a:noFill/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7825477-5969-4B7D-A114-1E8CA25654CA}"/>
              </a:ext>
            </a:extLst>
          </p:cNvPr>
          <p:cNvSpPr>
            <a:spLocks noGrp="1"/>
          </p:cNvSpPr>
          <p:nvPr/>
        </p:nvSpPr>
        <p:spPr>
          <a:xfrm>
            <a:off x="6953250" y="3629025"/>
            <a:ext cx="1876425" cy="419100"/>
          </a:xfrm>
          <a:prstGeom prst="rect">
            <a:avLst/>
          </a:prstGeom>
          <a:solidFill>
            <a:srgbClr val="087E82"/>
          </a:solidFill>
          <a:ln w="9525">
            <a:noFill/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813036E-E650-4A8C-81D9-1B62940C8C7D}"/>
              </a:ext>
            </a:extLst>
          </p:cNvPr>
          <p:cNvSpPr>
            <a:spLocks noGrp="1"/>
          </p:cNvSpPr>
          <p:nvPr/>
        </p:nvSpPr>
        <p:spPr>
          <a:xfrm>
            <a:off x="8905875" y="3629025"/>
            <a:ext cx="1876425" cy="419100"/>
          </a:xfrm>
          <a:prstGeom prst="rect">
            <a:avLst/>
          </a:prstGeom>
          <a:solidFill>
            <a:srgbClr val="E4E7E1"/>
          </a:solidFill>
          <a:ln w="9525">
            <a:noFill/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5A7EA04-E8FF-4909-AF6E-3245F76EB0C1}"/>
              </a:ext>
            </a:extLst>
          </p:cNvPr>
          <p:cNvSpPr>
            <a:spLocks noGrp="1"/>
          </p:cNvSpPr>
          <p:nvPr/>
        </p:nvSpPr>
        <p:spPr>
          <a:xfrm>
            <a:off x="685800" y="4276725"/>
            <a:ext cx="2095500" cy="4000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분 10자리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EC1BD8A-F5ED-4C4A-BC11-1254AFD10785}"/>
              </a:ext>
            </a:extLst>
          </p:cNvPr>
          <p:cNvSpPr>
            <a:spLocks noGrp="1"/>
          </p:cNvSpPr>
          <p:nvPr/>
        </p:nvSpPr>
        <p:spPr>
          <a:xfrm>
            <a:off x="3048000" y="4257675"/>
            <a:ext cx="1876425" cy="419100"/>
          </a:xfrm>
          <a:prstGeom prst="rect">
            <a:avLst/>
          </a:prstGeom>
          <a:solidFill>
            <a:srgbClr val="E4E7E1"/>
          </a:solidFill>
          <a:ln w="9525">
            <a:noFill/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20BC702-BE02-4195-83B2-C561196A8D69}"/>
              </a:ext>
            </a:extLst>
          </p:cNvPr>
          <p:cNvSpPr>
            <a:spLocks noGrp="1"/>
          </p:cNvSpPr>
          <p:nvPr/>
        </p:nvSpPr>
        <p:spPr>
          <a:xfrm>
            <a:off x="5000625" y="4257675"/>
            <a:ext cx="1876425" cy="419100"/>
          </a:xfrm>
          <a:prstGeom prst="rect">
            <a:avLst/>
          </a:prstGeom>
          <a:solidFill>
            <a:srgbClr val="E4E7E1"/>
          </a:solidFill>
          <a:ln w="9525">
            <a:noFill/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AA817E1-602B-487B-8BA0-8F975AD3D68B}"/>
              </a:ext>
            </a:extLst>
          </p:cNvPr>
          <p:cNvSpPr>
            <a:spLocks noGrp="1"/>
          </p:cNvSpPr>
          <p:nvPr/>
        </p:nvSpPr>
        <p:spPr>
          <a:xfrm>
            <a:off x="6953250" y="4257675"/>
            <a:ext cx="1876425" cy="419100"/>
          </a:xfrm>
          <a:prstGeom prst="rect">
            <a:avLst/>
          </a:prstGeom>
          <a:solidFill>
            <a:srgbClr val="E4E7E1"/>
          </a:solidFill>
          <a:ln w="9525">
            <a:noFill/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5D0B63F-A393-462A-88F7-2A9CE2ACACF7}"/>
              </a:ext>
            </a:extLst>
          </p:cNvPr>
          <p:cNvSpPr>
            <a:spLocks noGrp="1"/>
          </p:cNvSpPr>
          <p:nvPr/>
        </p:nvSpPr>
        <p:spPr>
          <a:xfrm>
            <a:off x="8905875" y="4257675"/>
            <a:ext cx="1876425" cy="419100"/>
          </a:xfrm>
          <a:prstGeom prst="rect">
            <a:avLst/>
          </a:prstGeom>
          <a:solidFill>
            <a:srgbClr val="087E82"/>
          </a:solidFill>
          <a:ln w="9525">
            <a:noFill/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F9C5B74-A2E5-450F-B346-35F331E3E723}"/>
              </a:ext>
            </a:extLst>
          </p:cNvPr>
          <p:cNvSpPr>
            <a:spLocks noGrp="1"/>
          </p:cNvSpPr>
          <p:nvPr/>
        </p:nvSpPr>
        <p:spPr>
          <a:xfrm>
            <a:off x="3048000" y="5057775"/>
            <a:ext cx="1952625" cy="4000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1110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99FF392-5BCB-452C-81C4-AEA6C5A2100E}"/>
              </a:ext>
            </a:extLst>
          </p:cNvPr>
          <p:cNvSpPr>
            <a:spLocks noGrp="1"/>
          </p:cNvSpPr>
          <p:nvPr/>
        </p:nvSpPr>
        <p:spPr>
          <a:xfrm>
            <a:off x="5000625" y="5057775"/>
            <a:ext cx="1952625" cy="4000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1101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4F443E6-65FC-4848-BD68-3E9EE93A9003}"/>
              </a:ext>
            </a:extLst>
          </p:cNvPr>
          <p:cNvSpPr>
            <a:spLocks noGrp="1"/>
          </p:cNvSpPr>
          <p:nvPr/>
        </p:nvSpPr>
        <p:spPr>
          <a:xfrm>
            <a:off x="6953250" y="5057775"/>
            <a:ext cx="1952625" cy="4000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1011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B521DB2-BC02-419B-8CF3-B1B06E9A49CC}"/>
              </a:ext>
            </a:extLst>
          </p:cNvPr>
          <p:cNvSpPr>
            <a:spLocks noGrp="1"/>
          </p:cNvSpPr>
          <p:nvPr/>
        </p:nvSpPr>
        <p:spPr>
          <a:xfrm>
            <a:off x="8905875" y="5057775"/>
            <a:ext cx="1952625" cy="4000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ctr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0111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09486A1-B334-4349-801E-F00D8FA34603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2095500" cy="4000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95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95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rPr>
              <a:t>an[3:0]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7B9CA15-0571-4AA4-B178-4420EB6C5D6A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10287000" cy="3333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자리 전환 1 kHz / 전체 프레임 250 Hz / an과 seg는 active low</a:t>
            </a:r>
          </a:p>
        </p:txBody>
      </p:sp>
    </p:spTree>
    <p:extLst>
      <p:ext uri="{BB962C8B-B14F-4D97-AF65-F5344CB8AC3E}">
        <p14:creationId xmlns:p14="http://schemas.microsoft.com/office/powerpoint/2010/main" val="906567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97A9918A-8775-4645-AABB-839CD0BCFC6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04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핵심 코드 ① 1초 tick과 시간 증가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73C6621B-A4A5-4F36-A84A-17A8B2733AA5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0"/>
          </a:xfrm>
          <a:prstGeom prst="line">
            <a:avLst/>
          </a:prstGeom>
          <a:noFill/>
          <a:ln w="9525">
            <a:solidFill>
              <a:srgbClr val="171B1B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CF33731-7E5C-4ED6-BB0D-F5874B7D75AE}"/>
              </a:ext>
            </a:extLst>
          </p:cNvPr>
          <p:cNvSpPr>
            <a:spLocks noGrp="1"/>
          </p:cNvSpPr>
          <p:nvPr/>
        </p:nvSpPr>
        <p:spPr>
          <a:xfrm>
            <a:off x="11010900" y="6362700"/>
            <a:ext cx="571500" cy="2476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017AC24-B0A7-4A1C-8DF6-0F6F7D2574CD}"/>
              </a:ext>
            </a:extLst>
          </p:cNvPr>
          <p:cNvSpPr>
            <a:spLocks noGrp="1"/>
          </p:cNvSpPr>
          <p:nvPr/>
        </p:nvSpPr>
        <p:spPr>
          <a:xfrm>
            <a:off x="609600" y="1643062"/>
            <a:ext cx="7924800" cy="3705225"/>
          </a:xfrm>
          <a:prstGeom prst="rect">
            <a:avLst/>
          </a:prstGeom>
          <a:solidFill>
            <a:srgbClr val="ECEDE7"/>
          </a:solidFill>
          <a:ln w="9525">
            <a:noFill/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F001C7-C660-44C7-A026-A83A93BE527F}"/>
              </a:ext>
            </a:extLst>
          </p:cNvPr>
          <p:cNvSpPr>
            <a:spLocks noGrp="1"/>
          </p:cNvSpPr>
          <p:nvPr/>
        </p:nvSpPr>
        <p:spPr>
          <a:xfrm>
            <a:off x="800100" y="1733550"/>
            <a:ext cx="7620000" cy="3476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wire </a:t>
            </a:r>
            <a:r>
              <a:rPr sz="1875" b="0" dirty="0" err="1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w_second_tick</a:t>
            </a:r>
            <a:r>
              <a:rPr sz="187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 =</a:t>
            </a:r>
          </a:p>
          <a:p>
            <a:pPr algn="l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  (</a:t>
            </a:r>
            <a:r>
              <a:rPr sz="1875" b="0" dirty="0" err="1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r_tick_counter</a:t>
            </a:r>
            <a:r>
              <a:rPr sz="187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 == CLK_FREQ - 1);</a:t>
            </a:r>
          </a:p>
          <a:p>
            <a:endParaRPr sz="1875" b="0" dirty="0">
              <a:solidFill>
                <a:srgbClr val="171B1B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if (</a:t>
            </a:r>
            <a:r>
              <a:rPr sz="1875" b="0" dirty="0" err="1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r_clock_sec</a:t>
            </a:r>
            <a:r>
              <a:rPr sz="187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 == 59) begin</a:t>
            </a:r>
          </a:p>
          <a:p>
            <a:pPr algn="l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75" b="0" dirty="0" err="1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r_clock_sec</a:t>
            </a:r>
            <a:r>
              <a:rPr sz="187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 &lt;= 0;</a:t>
            </a:r>
          </a:p>
          <a:p>
            <a:pPr algn="l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75" b="0" dirty="0" err="1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r_clock_min</a:t>
            </a:r>
            <a:r>
              <a:rPr sz="187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 &lt;= (</a:t>
            </a:r>
            <a:r>
              <a:rPr sz="1875" b="0" dirty="0" err="1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r_clock_min</a:t>
            </a:r>
            <a:r>
              <a:rPr sz="187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 == 59)</a:t>
            </a:r>
          </a:p>
          <a:p>
            <a:pPr algn="l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                 ? 0 : </a:t>
            </a:r>
            <a:r>
              <a:rPr sz="1875" b="0" dirty="0" err="1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r_clock_min</a:t>
            </a:r>
            <a:r>
              <a:rPr sz="187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 + 1;</a:t>
            </a:r>
          </a:p>
          <a:p>
            <a:pPr algn="l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end else begin</a:t>
            </a:r>
          </a:p>
          <a:p>
            <a:pPr algn="l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75" b="0" dirty="0" err="1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r_clock_sec</a:t>
            </a:r>
            <a:r>
              <a:rPr sz="187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 &lt;= </a:t>
            </a:r>
            <a:r>
              <a:rPr sz="1875" b="0" dirty="0" err="1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r_clock_sec</a:t>
            </a:r>
            <a:r>
              <a:rPr sz="187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 + 1;</a:t>
            </a:r>
          </a:p>
          <a:p>
            <a:pPr algn="l">
              <a:defRPr sz="187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end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6AA2EE-8949-4AFE-9EFC-4A14028F12B3}"/>
              </a:ext>
            </a:extLst>
          </p:cNvPr>
          <p:cNvSpPr>
            <a:spLocks noGrp="1"/>
          </p:cNvSpPr>
          <p:nvPr/>
        </p:nvSpPr>
        <p:spPr>
          <a:xfrm>
            <a:off x="9048750" y="1762125"/>
            <a:ext cx="2381250" cy="4000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rPr>
              <a:t>비교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0553772-6C00-4536-B1BB-5A615F8825AF}"/>
              </a:ext>
            </a:extLst>
          </p:cNvPr>
          <p:cNvSpPr>
            <a:spLocks noGrp="1"/>
          </p:cNvSpPr>
          <p:nvPr/>
        </p:nvSpPr>
        <p:spPr>
          <a:xfrm>
            <a:off x="9048750" y="2209800"/>
            <a:ext cx="2476500" cy="8191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마지막 카운트에서</a:t>
            </a:r>
          </a:p>
          <a:p>
            <a: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1사이클 tick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4CBB702-B5A3-4E89-A478-4A07FEAFC3FB}"/>
              </a:ext>
            </a:extLst>
          </p:cNvPr>
          <p:cNvSpPr>
            <a:spLocks noGrp="1"/>
          </p:cNvSpPr>
          <p:nvPr/>
        </p:nvSpPr>
        <p:spPr>
          <a:xfrm>
            <a:off x="9048750" y="3495675"/>
            <a:ext cx="2381250" cy="4000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rPr>
              <a:t>자리 올림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D694E72-8379-41B6-98A8-2539659CD3DD}"/>
              </a:ext>
            </a:extLst>
          </p:cNvPr>
          <p:cNvSpPr>
            <a:spLocks noGrp="1"/>
          </p:cNvSpPr>
          <p:nvPr/>
        </p:nvSpPr>
        <p:spPr>
          <a:xfrm>
            <a:off x="9048750" y="3943350"/>
            <a:ext cx="2476500" cy="8572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59초 후 00초</a:t>
            </a:r>
          </a:p>
          <a:p>
            <a: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59분 후 00분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E766276-FC43-445D-A969-EB898D7FBD30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10287000" cy="3333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발췌: tick 조건은 1초마다 평가하고, 시계 카운터는 모드와 관계없이 갱신한다.</a:t>
            </a:r>
          </a:p>
        </p:txBody>
      </p:sp>
    </p:spTree>
    <p:extLst>
      <p:ext uri="{BB962C8B-B14F-4D97-AF65-F5344CB8AC3E}">
        <p14:creationId xmlns:p14="http://schemas.microsoft.com/office/powerpoint/2010/main" val="260590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70E0A6F5-1A6F-490C-80F7-6FB11E71B7C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04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핵심 코드 ② 버튼 에지와 모드 제어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85DC2D32-D51F-4203-8CC0-6D8676F10864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0"/>
          </a:xfrm>
          <a:prstGeom prst="line">
            <a:avLst/>
          </a:prstGeom>
          <a:noFill/>
          <a:ln w="9525">
            <a:solidFill>
              <a:srgbClr val="171B1B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8B0449-0DC2-4097-AE53-C50BEC24CD32}"/>
              </a:ext>
            </a:extLst>
          </p:cNvPr>
          <p:cNvSpPr>
            <a:spLocks noGrp="1"/>
          </p:cNvSpPr>
          <p:nvPr/>
        </p:nvSpPr>
        <p:spPr>
          <a:xfrm>
            <a:off x="11010900" y="6362700"/>
            <a:ext cx="571500" cy="2476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2D6A244-6A59-4330-8363-75ACC817FD80}"/>
              </a:ext>
            </a:extLst>
          </p:cNvPr>
          <p:cNvSpPr>
            <a:spLocks noGrp="1"/>
          </p:cNvSpPr>
          <p:nvPr/>
        </p:nvSpPr>
        <p:spPr>
          <a:xfrm>
            <a:off x="647700" y="1619250"/>
            <a:ext cx="10782300" cy="3067050"/>
          </a:xfrm>
          <a:prstGeom prst="rect">
            <a:avLst/>
          </a:prstGeom>
          <a:solidFill>
            <a:srgbClr val="ECEDE7"/>
          </a:solidFill>
          <a:ln w="9525">
            <a:noFill/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BD87721-E4E2-48A9-8E7A-7FBF27E1A17E}"/>
              </a:ext>
            </a:extLst>
          </p:cNvPr>
          <p:cNvSpPr>
            <a:spLocks noGrp="1"/>
          </p:cNvSpPr>
          <p:nvPr/>
        </p:nvSpPr>
        <p:spPr>
          <a:xfrm>
            <a:off x="800100" y="1733550"/>
            <a:ext cx="10477500" cy="2838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wire </a:t>
            </a:r>
            <a:r>
              <a:rPr sz="2025" b="0" dirty="0" err="1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w_btnL_press</a:t>
            </a:r>
            <a:r>
              <a:rPr sz="202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 =</a:t>
            </a:r>
          </a:p>
          <a:p>
            <a: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2025" b="0" dirty="0" err="1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btn</a:t>
            </a:r>
            <a:r>
              <a:rPr sz="202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[0] &amp;&amp; !</a:t>
            </a:r>
            <a:r>
              <a:rPr sz="2025" b="0" dirty="0" err="1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r_prev_btn</a:t>
            </a:r>
            <a:r>
              <a:rPr sz="202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[0];</a:t>
            </a:r>
          </a:p>
          <a:p>
            <a:endParaRPr sz="2025" b="0" dirty="0">
              <a:solidFill>
                <a:srgbClr val="171B1B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if (</a:t>
            </a:r>
            <a:r>
              <a:rPr sz="2025" b="0" dirty="0" err="1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w_btnL_press</a:t>
            </a:r>
            <a:r>
              <a:rPr sz="202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2025" b="0" dirty="0" err="1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r_stopwatch_mode</a:t>
            </a:r>
            <a:r>
              <a:rPr sz="202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 &lt;= !</a:t>
            </a:r>
            <a:r>
              <a:rPr sz="2025" b="0" dirty="0" err="1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r_stopwatch_mode</a:t>
            </a:r>
            <a:r>
              <a:rPr sz="202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endParaRPr sz="2025" b="0" dirty="0">
              <a:solidFill>
                <a:srgbClr val="171B1B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if (</a:t>
            </a:r>
            <a:r>
              <a:rPr sz="2025" b="0" dirty="0" err="1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w_btnR_press</a:t>
            </a:r>
            <a:r>
              <a:rPr sz="202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 &amp;&amp; </a:t>
            </a:r>
            <a:r>
              <a:rPr sz="2025" b="0" dirty="0" err="1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r_stopwatch_mode</a:t>
            </a:r>
            <a:r>
              <a:rPr sz="202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2025" b="0" dirty="0" err="1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r_stopwatch_running</a:t>
            </a:r>
            <a:r>
              <a:rPr sz="202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 &lt;= !</a:t>
            </a:r>
            <a:r>
              <a:rPr sz="2025" b="0" dirty="0" err="1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r_stopwatch_running</a:t>
            </a:r>
            <a:r>
              <a:rPr sz="202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F21E76AC-911F-414F-94B1-C0AABABFF91B}"/>
              </a:ext>
            </a:extLst>
          </p:cNvPr>
          <p:cNvSpPr>
            <a:spLocks noGrp="1"/>
          </p:cNvSpPr>
          <p:nvPr/>
        </p:nvSpPr>
        <p:spPr>
          <a:xfrm>
            <a:off x="685800" y="5000625"/>
            <a:ext cx="10820400" cy="0"/>
          </a:xfrm>
          <a:prstGeom prst="line">
            <a:avLst/>
          </a:prstGeom>
          <a:noFill/>
          <a:ln w="9525">
            <a:solidFill>
              <a:srgbClr val="BAC3BE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4602FE9-C85F-42B4-B016-AA97210CD61E}"/>
              </a:ext>
            </a:extLst>
          </p:cNvPr>
          <p:cNvSpPr>
            <a:spLocks noGrp="1"/>
          </p:cNvSpPr>
          <p:nvPr/>
        </p:nvSpPr>
        <p:spPr>
          <a:xfrm>
            <a:off x="685800" y="5248275"/>
            <a:ext cx="3238500" cy="571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2100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2100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rPr>
              <a:t>상승 에지 검출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EF7A71-901B-4BA1-A9A1-2CB1B97D6BE6}"/>
              </a:ext>
            </a:extLst>
          </p:cNvPr>
          <p:cNvSpPr>
            <a:spLocks noGrp="1"/>
          </p:cNvSpPr>
          <p:nvPr/>
        </p:nvSpPr>
        <p:spPr>
          <a:xfrm>
            <a:off x="4333875" y="5248275"/>
            <a:ext cx="7143750" cy="571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직전 0, 현재 1일 때만 한 번 처리</a:t>
            </a:r>
          </a:p>
        </p:txBody>
      </p:sp>
    </p:spTree>
    <p:extLst>
      <p:ext uri="{BB962C8B-B14F-4D97-AF65-F5344CB8AC3E}">
        <p14:creationId xmlns:p14="http://schemas.microsoft.com/office/powerpoint/2010/main" val="1524672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3CB59F5E-526F-48B9-8E57-957A1B9A3119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04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Testbench: 입력 뒤에 기대값 검사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EB2DC90E-D2F7-407E-85EC-3D2F16D3E894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0"/>
          </a:xfrm>
          <a:prstGeom prst="line">
            <a:avLst/>
          </a:prstGeom>
          <a:noFill/>
          <a:ln w="9525">
            <a:solidFill>
              <a:srgbClr val="171B1B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374EBC4-783D-4EF5-954C-4EAD8BFEBCB0}"/>
              </a:ext>
            </a:extLst>
          </p:cNvPr>
          <p:cNvSpPr>
            <a:spLocks noGrp="1"/>
          </p:cNvSpPr>
          <p:nvPr/>
        </p:nvSpPr>
        <p:spPr>
          <a:xfrm>
            <a:off x="11010900" y="6362700"/>
            <a:ext cx="571500" cy="2476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2FD1FE6-7A1C-4195-88AC-9465EE36E5F6}"/>
              </a:ext>
            </a:extLst>
          </p:cNvPr>
          <p:cNvSpPr>
            <a:spLocks noGrp="1"/>
          </p:cNvSpPr>
          <p:nvPr/>
        </p:nvSpPr>
        <p:spPr>
          <a:xfrm>
            <a:off x="647700" y="1666875"/>
            <a:ext cx="10782300" cy="2505075"/>
          </a:xfrm>
          <a:prstGeom prst="rect">
            <a:avLst/>
          </a:prstGeom>
          <a:solidFill>
            <a:srgbClr val="ECEDE7"/>
          </a:solidFill>
          <a:ln w="9525">
            <a:noFill/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36588C-6EFE-4F18-9AEA-F1C4804FE7F1}"/>
              </a:ext>
            </a:extLst>
          </p:cNvPr>
          <p:cNvSpPr>
            <a:spLocks noGrp="1"/>
          </p:cNvSpPr>
          <p:nvPr/>
        </p:nvSpPr>
        <p:spPr>
          <a:xfrm>
            <a:off x="800100" y="1781175"/>
            <a:ext cx="10477500" cy="22764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 err="1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main_controller</a:t>
            </a:r>
            <a:r>
              <a:rPr sz="202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 #(.CLK_FREQ(10)) </a:t>
            </a:r>
            <a:r>
              <a:rPr sz="2025" b="0" dirty="0" err="1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dut</a:t>
            </a:r>
            <a:r>
              <a:rPr sz="202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 (...);</a:t>
            </a:r>
          </a:p>
          <a:p>
            <a:endParaRPr sz="2025" b="0" dirty="0">
              <a:solidFill>
                <a:srgbClr val="171B1B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always #5 </a:t>
            </a:r>
            <a:r>
              <a:rPr sz="2025" b="0" dirty="0" err="1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clk</a:t>
            </a:r>
            <a:r>
              <a:rPr sz="202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 = ~</a:t>
            </a:r>
            <a:r>
              <a:rPr sz="2025" b="0" dirty="0" err="1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clk</a:t>
            </a:r>
            <a:r>
              <a:rPr sz="202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endParaRPr sz="2025" b="0" dirty="0">
              <a:solidFill>
                <a:srgbClr val="171B1B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repeat (10) @(</a:t>
            </a:r>
            <a:r>
              <a:rPr sz="2025" b="0" dirty="0" err="1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posedge</a:t>
            </a:r>
            <a:r>
              <a:rPr sz="202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2025" b="0" dirty="0" err="1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clk</a:t>
            </a:r>
            <a:r>
              <a:rPr sz="202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#1 if (</a:t>
            </a:r>
            <a:r>
              <a:rPr sz="2025" b="0" dirty="0" err="1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seg_data</a:t>
            </a:r>
            <a:r>
              <a:rPr sz="202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 !== 14'd1)</a:t>
            </a:r>
          </a:p>
          <a:p>
            <a:pPr algn="l">
              <a:defRPr sz="2025" b="0">
                <a:solidFill>
                  <a:srgbClr val="171B1B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171B1B"/>
                </a:solidFill>
                <a:latin typeface="Consolas"/>
                <a:ea typeface="Consolas"/>
                <a:cs typeface="Consolas"/>
              </a:rPr>
              <a:t>  $fatal(1, "clock count failed");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1AD67F-DCFC-4981-B319-C9F2A20E7E91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2857500" cy="4000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rPr>
              <a:t>검사 범위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1F1F3E0-4807-48CC-861A-E514E6D70901}"/>
              </a:ext>
            </a:extLst>
          </p:cNvPr>
          <p:cNvSpPr>
            <a:spLocks noGrp="1"/>
          </p:cNvSpPr>
          <p:nvPr/>
        </p:nvSpPr>
        <p:spPr>
          <a:xfrm>
            <a:off x="685800" y="4991100"/>
            <a:ext cx="1074420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모드 전환, 정지·재개, 초기화, 애니메이션, 일부 FND 패턴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6F69ED-6C21-42B0-9E7E-E2A6F9EAB24C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10287000" cy="3333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설명용 축약 코드. 전체 top의 디바운스·스캔 타이밍과 59:59 경계는 미검증.</a:t>
            </a:r>
          </a:p>
        </p:txBody>
      </p:sp>
    </p:spTree>
    <p:extLst>
      <p:ext uri="{BB962C8B-B14F-4D97-AF65-F5344CB8AC3E}">
        <p14:creationId xmlns:p14="http://schemas.microsoft.com/office/powerpoint/2010/main" val="1320025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5FE9919-1987-4785-9014-43C3707E9E2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04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Timing chart: 실제 시뮬레이션 파형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D1225149-C122-42AB-92C1-8729AFCAEBAE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0"/>
          </a:xfrm>
          <a:prstGeom prst="line">
            <a:avLst/>
          </a:prstGeom>
          <a:noFill/>
          <a:ln w="9525">
            <a:solidFill>
              <a:srgbClr val="171B1B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76918AB-6057-485D-8360-4007DA0542AF}"/>
              </a:ext>
            </a:extLst>
          </p:cNvPr>
          <p:cNvSpPr>
            <a:spLocks noGrp="1"/>
          </p:cNvSpPr>
          <p:nvPr/>
        </p:nvSpPr>
        <p:spPr>
          <a:xfrm>
            <a:off x="11010900" y="6362700"/>
            <a:ext cx="571500" cy="2476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0AF9C7B-0F87-4AED-8C67-6DA12C5BEF99}"/>
              </a:ext>
            </a:extLst>
          </p:cNvPr>
          <p:cNvSpPr>
            <a:spLocks noGrp="1"/>
          </p:cNvSpPr>
          <p:nvPr/>
        </p:nvSpPr>
        <p:spPr>
          <a:xfrm>
            <a:off x="685800" y="5419725"/>
            <a:ext cx="10668000" cy="4762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2025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2025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087E82"/>
                </a:solidFill>
                <a:latin typeface="Malgun Gothic"/>
                <a:ea typeface="Malgun Gothic"/>
                <a:cs typeface="Malgun Gothic"/>
              </a:rPr>
              <a:t>정지 구간에서 값 유지     재개 입력 뒤 animation 해제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D44FB6-8371-4FFE-8153-6EF987CCE1D6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10287000" cy="3333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CLK_FREQ=10 / 1 논리초 = 100 ns / 기존 TB PASS 종료 851 ns</a:t>
            </a:r>
          </a:p>
        </p:txBody>
      </p:sp>
      <p:pic>
        <p:nvPicPr>
          <p:cNvPr id="8" name="Picture 7" descr="image(20261022-07202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572768"/>
            <a:ext cx="10835640" cy="327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799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6AF4C8E9-316C-4154-89B5-C3AFECFFC28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04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보관된 구현 리포트의 타이밍 여유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83D48582-3D09-4D42-9DF7-32666913C000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0"/>
          </a:xfrm>
          <a:prstGeom prst="line">
            <a:avLst/>
          </a:prstGeom>
          <a:noFill/>
          <a:ln w="9525">
            <a:solidFill>
              <a:srgbClr val="171B1B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260564-1268-4B2C-B111-14D5AC0B1447}"/>
              </a:ext>
            </a:extLst>
          </p:cNvPr>
          <p:cNvSpPr>
            <a:spLocks noGrp="1"/>
          </p:cNvSpPr>
          <p:nvPr/>
        </p:nvSpPr>
        <p:spPr>
          <a:xfrm>
            <a:off x="11010900" y="6362700"/>
            <a:ext cx="571500" cy="2476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A2A994-7E0B-4C7E-AA5C-F40305DC35F2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476250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22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22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Setup WNS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F3E72D2-4B87-4176-8099-6B8C8D04620E}"/>
              </a:ext>
            </a:extLst>
          </p:cNvPr>
          <p:cNvSpPr>
            <a:spLocks noGrp="1"/>
          </p:cNvSpPr>
          <p:nvPr/>
        </p:nvSpPr>
        <p:spPr>
          <a:xfrm>
            <a:off x="647700" y="2400300"/>
            <a:ext cx="5143500" cy="1000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4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4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4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4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4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4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4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4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4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4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4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pPr>
            <a:r>
              <a:rPr sz="4950" b="1">
                <a:solidFill>
                  <a:srgbClr val="087E82"/>
                </a:solidFill>
                <a:latin typeface="Consolas"/>
                <a:ea typeface="Consolas"/>
                <a:cs typeface="Consolas"/>
              </a:rPr>
              <a:t>5.146 ns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F791DF-E620-42BA-B36F-B610E6D2A851}"/>
              </a:ext>
            </a:extLst>
          </p:cNvPr>
          <p:cNvSpPr>
            <a:spLocks noGrp="1"/>
          </p:cNvSpPr>
          <p:nvPr/>
        </p:nvSpPr>
        <p:spPr>
          <a:xfrm>
            <a:off x="6934200" y="1790700"/>
            <a:ext cx="457200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22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22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Hold WHS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C24C1FE-D819-4E1D-861D-372EDF963B17}"/>
              </a:ext>
            </a:extLst>
          </p:cNvPr>
          <p:cNvSpPr>
            <a:spLocks noGrp="1"/>
          </p:cNvSpPr>
          <p:nvPr/>
        </p:nvSpPr>
        <p:spPr>
          <a:xfrm>
            <a:off x="6896100" y="2400300"/>
            <a:ext cx="4572000" cy="1000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4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4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4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4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4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4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4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4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4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4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4950" b="1">
                <a:solidFill>
                  <a:srgbClr val="087E82"/>
                </a:solidFill>
                <a:latin typeface="Consolas"/>
                <a:ea typeface="Consolas"/>
                <a:cs typeface="Consolas"/>
              </a:defRPr>
            </a:pPr>
            <a:r>
              <a:rPr sz="4950" b="1">
                <a:solidFill>
                  <a:srgbClr val="087E82"/>
                </a:solidFill>
                <a:latin typeface="Consolas"/>
                <a:ea typeface="Consolas"/>
                <a:cs typeface="Consolas"/>
              </a:rPr>
              <a:t>0.191 ns</a:t>
            </a:r>
          </a:p>
        </p:txBody>
      </p:sp>
      <p:pic>
        <p:nvPicPr>
          <p:cNvPr id="13" name="Picture 12" descr="image(20261022-07270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46120"/>
            <a:ext cx="5074920" cy="584510"/>
          </a:xfrm>
          <a:prstGeom prst="rect">
            <a:avLst/>
          </a:prstGeom>
        </p:spPr>
      </p:pic>
      <p:pic>
        <p:nvPicPr>
          <p:cNvPr id="14" name="Picture 13" descr="image(20261022-072716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64408"/>
            <a:ext cx="4965192" cy="40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692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2F45"/>
                </a:solidFill>
                <a:latin typeface="맑은 고딕"/>
              </a:rPr>
              <a:t>Troubleshooting: FSM 및 시간 카운터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365760" cy="2651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656A"/>
                </a:solidFill>
                <a:latin typeface="맑은 고딕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941832"/>
            <a:ext cx="5422392" cy="448056"/>
          </a:xfrm>
          <a:prstGeom prst="roundRect">
            <a:avLst>
              <a:gd name="adj" fmla="val 11000"/>
            </a:avLst>
          </a:prstGeom>
          <a:solidFill>
            <a:srgbClr val="18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024128"/>
            <a:ext cx="5093207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01   FSM Multi-Driver 오류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72768"/>
            <a:ext cx="5422392" cy="1399032"/>
          </a:xfrm>
          <a:prstGeom prst="roundRect">
            <a:avLst>
              <a:gd name="adj" fmla="val 1100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82496"/>
            <a:ext cx="5056631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D4133"/>
                </a:solidFill>
                <a:latin typeface="맑은 고딕"/>
              </a:rPr>
              <a:t>수정 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75104"/>
            <a:ext cx="5001768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52B"/>
                </a:solidFill>
                <a:latin typeface="Consolas"/>
              </a:rPr>
              <a:t>if (btn[0] &amp;&amp; !r_prev_btnL)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52B"/>
                </a:solidFill>
                <a:latin typeface="Consolas"/>
              </a:rPr>
              <a:t>    r_mode = (r_mode == PAUSE) 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52B"/>
                </a:solidFill>
                <a:latin typeface="Consolas"/>
              </a:rPr>
              <a:t>             STOPWATCH : r_mode + 1;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52B"/>
                </a:solidFill>
                <a:latin typeface="Consolas"/>
              </a:rPr>
              <a:t>// 다른 always: r_mode &lt;= MIN_SEC;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82112"/>
            <a:ext cx="5422392" cy="1591056"/>
          </a:xfrm>
          <a:prstGeom prst="roundRect">
            <a:avLst>
              <a:gd name="adj" fmla="val 1100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5056631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7158"/>
                </a:solidFill>
                <a:latin typeface="맑은 고딕"/>
              </a:rPr>
              <a:t>수정 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584448"/>
            <a:ext cx="5001768" cy="11338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dirty="0">
                <a:solidFill>
                  <a:srgbClr val="1E252B"/>
                </a:solidFill>
                <a:latin typeface="Consolas"/>
              </a:rPr>
              <a:t>if (</a:t>
            </a:r>
            <a:r>
              <a:rPr sz="1340" b="0" dirty="0" err="1">
                <a:solidFill>
                  <a:srgbClr val="1E252B"/>
                </a:solidFill>
                <a:latin typeface="Consolas"/>
              </a:rPr>
              <a:t>w_btnL_press</a:t>
            </a:r>
            <a:r>
              <a:rPr sz="1340" b="0" dirty="0">
                <a:solidFill>
                  <a:srgbClr val="1E252B"/>
                </a:solidFill>
                <a:latin typeface="Consolas"/>
              </a:rPr>
              <a:t>)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dirty="0">
                <a:solidFill>
                  <a:srgbClr val="1E252B"/>
                </a:solidFill>
                <a:latin typeface="Consolas"/>
              </a:rPr>
              <a:t>    </a:t>
            </a:r>
            <a:r>
              <a:rPr sz="1340" b="0" dirty="0" err="1">
                <a:solidFill>
                  <a:srgbClr val="1E252B"/>
                </a:solidFill>
                <a:latin typeface="Consolas"/>
              </a:rPr>
              <a:t>r_stopwatch_mode</a:t>
            </a:r>
            <a:r>
              <a:rPr sz="1340" b="0" dirty="0">
                <a:solidFill>
                  <a:srgbClr val="1E252B"/>
                </a:solidFill>
                <a:latin typeface="Consolas"/>
              </a:rPr>
              <a:t> &lt;= !</a:t>
            </a:r>
            <a:r>
              <a:rPr sz="1340" b="0" dirty="0" err="1">
                <a:solidFill>
                  <a:srgbClr val="1E252B"/>
                </a:solidFill>
                <a:latin typeface="Consolas"/>
              </a:rPr>
              <a:t>r_stopwatch_mode</a:t>
            </a:r>
            <a:r>
              <a:rPr sz="1340" b="0" dirty="0">
                <a:solidFill>
                  <a:srgbClr val="1E252B"/>
                </a:solidFill>
                <a:latin typeface="Consolas"/>
              </a:rPr>
              <a:t>;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dirty="0">
                <a:solidFill>
                  <a:srgbClr val="1E252B"/>
                </a:solidFill>
                <a:latin typeface="Consolas"/>
              </a:rPr>
              <a:t>if (</a:t>
            </a:r>
            <a:r>
              <a:rPr sz="1340" b="0" dirty="0" err="1">
                <a:solidFill>
                  <a:srgbClr val="1E252B"/>
                </a:solidFill>
                <a:latin typeface="Consolas"/>
              </a:rPr>
              <a:t>w_btnR_press</a:t>
            </a:r>
            <a:r>
              <a:rPr sz="1340" b="0" dirty="0">
                <a:solidFill>
                  <a:srgbClr val="1E252B"/>
                </a:solidFill>
                <a:latin typeface="Consolas"/>
              </a:rPr>
              <a:t> &amp;&amp; </a:t>
            </a:r>
            <a:r>
              <a:rPr sz="1340" b="0" dirty="0" err="1">
                <a:solidFill>
                  <a:srgbClr val="1E252B"/>
                </a:solidFill>
                <a:latin typeface="Consolas"/>
              </a:rPr>
              <a:t>r_stopwatch_mode</a:t>
            </a:r>
            <a:r>
              <a:rPr sz="1340" b="0" dirty="0">
                <a:solidFill>
                  <a:srgbClr val="1E252B"/>
                </a:solidFill>
                <a:latin typeface="Consolas"/>
              </a:rPr>
              <a:t>)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dirty="0">
                <a:solidFill>
                  <a:srgbClr val="1E252B"/>
                </a:solidFill>
                <a:latin typeface="Consolas"/>
              </a:rPr>
              <a:t>    </a:t>
            </a:r>
            <a:r>
              <a:rPr sz="1340" b="0" dirty="0" err="1">
                <a:solidFill>
                  <a:srgbClr val="1E252B"/>
                </a:solidFill>
                <a:latin typeface="Consolas"/>
              </a:rPr>
              <a:t>r_stopwatch_running</a:t>
            </a:r>
            <a:r>
              <a:rPr sz="1340" b="0" dirty="0">
                <a:solidFill>
                  <a:srgbClr val="1E252B"/>
                </a:solidFill>
                <a:latin typeface="Consolas"/>
              </a:rPr>
              <a:t> &lt;= !</a:t>
            </a:r>
            <a:r>
              <a:rPr sz="1340" b="0" dirty="0" err="1">
                <a:solidFill>
                  <a:srgbClr val="1E252B"/>
                </a:solidFill>
                <a:latin typeface="Consolas"/>
              </a:rPr>
              <a:t>r_stopwatch_running</a:t>
            </a:r>
            <a:r>
              <a:rPr sz="1340" b="0" dirty="0">
                <a:solidFill>
                  <a:srgbClr val="1E252B"/>
                </a:solidFill>
                <a:latin typeface="Consolas"/>
              </a:rPr>
              <a:t>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65192"/>
            <a:ext cx="5422392" cy="969264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0160">
            <a:solidFill>
              <a:srgbClr val="D3D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5074920"/>
            <a:ext cx="3767057" cy="432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 err="1">
                <a:solidFill>
                  <a:srgbClr val="1E252B"/>
                </a:solidFill>
                <a:latin typeface="맑은 고딕"/>
              </a:rPr>
              <a:t>원인</a:t>
            </a:r>
            <a:r>
              <a:rPr sz="1250" b="0" dirty="0">
                <a:solidFill>
                  <a:srgbClr val="1E252B"/>
                </a:solidFill>
                <a:latin typeface="맑은 고딕"/>
              </a:rPr>
              <a:t>  │  </a:t>
            </a:r>
            <a:r>
              <a:rPr sz="1250" b="0" dirty="0" err="1">
                <a:solidFill>
                  <a:srgbClr val="1E252B"/>
                </a:solidFill>
                <a:latin typeface="맑은 고딕"/>
              </a:rPr>
              <a:t>r_mode를</a:t>
            </a:r>
            <a:r>
              <a:rPr sz="1250" b="0" dirty="0">
                <a:solidFill>
                  <a:srgbClr val="1E252B"/>
                </a:solidFill>
                <a:latin typeface="맑은 고딕"/>
              </a:rPr>
              <a:t> 둘 </a:t>
            </a:r>
            <a:r>
              <a:rPr sz="1250" b="0" dirty="0" err="1">
                <a:solidFill>
                  <a:srgbClr val="1E252B"/>
                </a:solidFill>
                <a:latin typeface="맑은 고딕"/>
              </a:rPr>
              <a:t>이상의</a:t>
            </a:r>
            <a:r>
              <a:rPr sz="1250" b="0" dirty="0">
                <a:solidFill>
                  <a:srgbClr val="1E252B"/>
                </a:solidFill>
                <a:latin typeface="맑은 고딕"/>
              </a:rPr>
              <a:t> always </a:t>
            </a:r>
            <a:r>
              <a:rPr sz="1250" b="0" dirty="0" err="1">
                <a:solidFill>
                  <a:srgbClr val="1E252B"/>
                </a:solidFill>
                <a:latin typeface="맑은 고딕"/>
              </a:rPr>
              <a:t>블록에서</a:t>
            </a:r>
            <a:r>
              <a:rPr sz="1250" b="0" dirty="0">
                <a:solidFill>
                  <a:srgbClr val="1E252B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1E252B"/>
                </a:solidFill>
                <a:latin typeface="맑은 고딕"/>
              </a:rPr>
              <a:t>할당</a:t>
            </a:r>
            <a:endParaRPr sz="1250" b="0" dirty="0">
              <a:solidFill>
                <a:srgbClr val="1E252B"/>
              </a:solidFill>
              <a:latin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 err="1">
                <a:solidFill>
                  <a:srgbClr val="1E252B"/>
                </a:solidFill>
                <a:latin typeface="맑은 고딕"/>
              </a:rPr>
              <a:t>해결</a:t>
            </a:r>
            <a:r>
              <a:rPr sz="1250" b="0" dirty="0">
                <a:solidFill>
                  <a:srgbClr val="1E252B"/>
                </a:solidFill>
                <a:latin typeface="맑은 고딕"/>
              </a:rPr>
              <a:t>  │  mode/</a:t>
            </a:r>
            <a:r>
              <a:rPr sz="1250" b="0" dirty="0" err="1">
                <a:solidFill>
                  <a:srgbClr val="1E252B"/>
                </a:solidFill>
                <a:latin typeface="맑은 고딕"/>
              </a:rPr>
              <a:t>running을</a:t>
            </a:r>
            <a:r>
              <a:rPr sz="1250" b="0" dirty="0">
                <a:solidFill>
                  <a:srgbClr val="1E252B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1E252B"/>
                </a:solidFill>
                <a:latin typeface="맑은 고딕"/>
              </a:rPr>
              <a:t>단일</a:t>
            </a:r>
            <a:r>
              <a:rPr sz="1250" b="0" dirty="0">
                <a:solidFill>
                  <a:srgbClr val="1E252B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1E252B"/>
                </a:solidFill>
                <a:latin typeface="맑은 고딕"/>
              </a:rPr>
              <a:t>순차</a:t>
            </a:r>
            <a:r>
              <a:rPr sz="1250" b="0" dirty="0">
                <a:solidFill>
                  <a:srgbClr val="1E252B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1E252B"/>
                </a:solidFill>
                <a:latin typeface="맑은 고딕"/>
              </a:rPr>
              <a:t>블록에서</a:t>
            </a:r>
            <a:r>
              <a:rPr sz="1250" b="0" dirty="0">
                <a:solidFill>
                  <a:srgbClr val="1E252B"/>
                </a:solidFill>
                <a:latin typeface="맑은 고딕"/>
              </a:rPr>
              <a:t> </a:t>
            </a:r>
            <a:r>
              <a:rPr sz="1250" b="0" dirty="0" err="1" smtClean="0">
                <a:solidFill>
                  <a:srgbClr val="1E252B"/>
                </a:solidFill>
                <a:latin typeface="맑은 고딕"/>
              </a:rPr>
              <a:t>제어</a:t>
            </a:r>
            <a:endParaRPr sz="1250" b="0" dirty="0">
              <a:solidFill>
                <a:srgbClr val="1E252B"/>
              </a:solidFill>
              <a:latin typeface="맑은 고딕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17920" y="941832"/>
            <a:ext cx="5422392" cy="448056"/>
          </a:xfrm>
          <a:prstGeom prst="roundRect">
            <a:avLst>
              <a:gd name="adj" fmla="val 11000"/>
            </a:avLst>
          </a:prstGeom>
          <a:solidFill>
            <a:srgbClr val="18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024128"/>
            <a:ext cx="5093207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02   시간 카운터 설계 오류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572768"/>
            <a:ext cx="5422392" cy="1399032"/>
          </a:xfrm>
          <a:prstGeom prst="roundRect">
            <a:avLst>
              <a:gd name="adj" fmla="val 1100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682496"/>
            <a:ext cx="5056631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D4133"/>
                </a:solidFill>
                <a:latin typeface="맑은 고딕"/>
              </a:rPr>
              <a:t>수정 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1975104"/>
            <a:ext cx="5001768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52B"/>
                </a:solidFill>
                <a:latin typeface="Consolas"/>
              </a:rPr>
              <a:t>if (r_1s_counter == 6'd60-1) begin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52B"/>
                </a:solidFill>
                <a:latin typeface="Consolas"/>
              </a:rPr>
              <a:t>    r_1s_counter &lt;= 0;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52B"/>
                </a:solidFill>
                <a:latin typeface="Consolas"/>
              </a:rPr>
              <a:t>    r_1M_counter &lt;= r_1M_counter+1'b1;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52B"/>
                </a:solidFill>
                <a:latin typeface="Consolas"/>
              </a:rPr>
              <a:t>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182112"/>
            <a:ext cx="5422392" cy="1591056"/>
          </a:xfrm>
          <a:prstGeom prst="roundRect">
            <a:avLst>
              <a:gd name="adj" fmla="val 1100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3291840"/>
            <a:ext cx="5056631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7158"/>
                </a:solidFill>
                <a:latin typeface="맑은 고딕"/>
              </a:rPr>
              <a:t>수정 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584448"/>
            <a:ext cx="5001768" cy="11338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1E252B"/>
                </a:solidFill>
                <a:latin typeface="Consolas"/>
              </a:rPr>
              <a:t>wire w_second_tick =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1E252B"/>
                </a:solidFill>
                <a:latin typeface="Consolas"/>
              </a:rPr>
              <a:t>    (r_tick_counter == CLK_FREQ - 1);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1E252B"/>
                </a:solidFill>
                <a:latin typeface="Consolas"/>
              </a:rPr>
              <a:t>if (w_second_tick) r_tick_counter &lt;= 0;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1E252B"/>
                </a:solidFill>
                <a:latin typeface="Consolas"/>
              </a:rPr>
              <a:t>else r_tick_counter &lt;= r_tick_counter + 1;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965192"/>
            <a:ext cx="5422392" cy="969264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0160">
            <a:solidFill>
              <a:srgbClr val="D3D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5074920"/>
            <a:ext cx="3359894" cy="432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 err="1">
                <a:solidFill>
                  <a:srgbClr val="1E252B"/>
                </a:solidFill>
                <a:latin typeface="맑은 고딕"/>
              </a:rPr>
              <a:t>원인</a:t>
            </a:r>
            <a:r>
              <a:rPr sz="1250" b="0" dirty="0">
                <a:solidFill>
                  <a:srgbClr val="1E252B"/>
                </a:solidFill>
                <a:latin typeface="맑은 고딕"/>
              </a:rPr>
              <a:t>  │  100MHz에서 60클럭은 600ns에 </a:t>
            </a:r>
            <a:r>
              <a:rPr sz="1250" b="0" dirty="0" err="1">
                <a:solidFill>
                  <a:srgbClr val="1E252B"/>
                </a:solidFill>
                <a:latin typeface="맑은 고딕"/>
              </a:rPr>
              <a:t>불과</a:t>
            </a:r>
            <a:endParaRPr sz="1250" b="0" dirty="0">
              <a:solidFill>
                <a:srgbClr val="1E252B"/>
              </a:solidFill>
              <a:latin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 err="1">
                <a:solidFill>
                  <a:srgbClr val="1E252B"/>
                </a:solidFill>
                <a:latin typeface="맑은 고딕"/>
              </a:rPr>
              <a:t>해결</a:t>
            </a:r>
            <a:r>
              <a:rPr sz="1250" b="0" dirty="0">
                <a:solidFill>
                  <a:srgbClr val="1E252B"/>
                </a:solidFill>
                <a:latin typeface="맑은 고딕"/>
              </a:rPr>
              <a:t>  │  CLK_FREQ </a:t>
            </a:r>
            <a:r>
              <a:rPr sz="1250" b="0" dirty="0" err="1">
                <a:solidFill>
                  <a:srgbClr val="1E252B"/>
                </a:solidFill>
                <a:latin typeface="맑은 고딕"/>
              </a:rPr>
              <a:t>기준</a:t>
            </a:r>
            <a:r>
              <a:rPr sz="1250" b="0" dirty="0">
                <a:solidFill>
                  <a:srgbClr val="1E252B"/>
                </a:solidFill>
                <a:latin typeface="맑은 고딕"/>
              </a:rPr>
              <a:t> 1초 Tick </a:t>
            </a:r>
            <a:r>
              <a:rPr sz="1250" b="0" dirty="0" err="1" smtClean="0">
                <a:solidFill>
                  <a:srgbClr val="1E252B"/>
                </a:solidFill>
                <a:latin typeface="맑은 고딕"/>
              </a:rPr>
              <a:t>생성</a:t>
            </a:r>
            <a:endParaRPr sz="1250" b="0" dirty="0">
              <a:solidFill>
                <a:srgbClr val="1E252B"/>
              </a:solidFill>
              <a:latin typeface="맑은 고딕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66928" y="6217920"/>
            <a:ext cx="11036808" cy="338328"/>
          </a:xfrm>
          <a:prstGeom prst="roundRect">
            <a:avLst>
              <a:gd name="adj" fmla="val 11000"/>
            </a:avLst>
          </a:prstGeom>
          <a:solidFill>
            <a:srgbClr val="E5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8" y="6286500"/>
            <a:ext cx="10515600" cy="2103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82F45"/>
                </a:solidFill>
                <a:latin typeface="맑은 고딕"/>
              </a:rPr>
              <a:t>핵심: 한 신호는 한 순차 블록에서 구동하고, 시간 계산은 1초 Tick으로 제어</a:t>
            </a:r>
          </a:p>
        </p:txBody>
      </p:sp>
    </p:spTree>
    <p:extLst>
      <p:ext uri="{BB962C8B-B14F-4D97-AF65-F5344CB8AC3E}">
        <p14:creationId xmlns:p14="http://schemas.microsoft.com/office/powerpoint/2010/main" val="1859937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FDCC1630-3BB9-43AF-9BE9-00B933D0DA79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04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dirty="0" err="1" smtClean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시연</a:t>
            </a:r>
            <a:r>
              <a:rPr lang="en-US" sz="3150" b="1" dirty="0" smtClean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dirty="0" smtClean="0"/>
              <a:t>영상</a:t>
            </a:r>
            <a:r>
              <a:rPr sz="3150" b="1" dirty="0" smtClean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sz="3150" b="1" dirty="0">
              <a:solidFill>
                <a:srgbClr val="171B1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0C059D24-0FFC-4DF1-BB1B-BCF2E47B5443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0"/>
          </a:xfrm>
          <a:prstGeom prst="line">
            <a:avLst/>
          </a:prstGeom>
          <a:noFill/>
          <a:ln w="9525">
            <a:solidFill>
              <a:srgbClr val="171B1B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1D5C288-3D25-48D6-BD93-4A52E3E7D58F}"/>
              </a:ext>
            </a:extLst>
          </p:cNvPr>
          <p:cNvSpPr>
            <a:spLocks noGrp="1"/>
          </p:cNvSpPr>
          <p:nvPr/>
        </p:nvSpPr>
        <p:spPr>
          <a:xfrm>
            <a:off x="11010900" y="6362700"/>
            <a:ext cx="571500" cy="2476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5F14BC-8362-4365-AA1E-DF1DAD6B99B9}"/>
              </a:ext>
            </a:extLst>
          </p:cNvPr>
          <p:cNvSpPr>
            <a:spLocks noGrp="1"/>
          </p:cNvSpPr>
          <p:nvPr/>
        </p:nvSpPr>
        <p:spPr>
          <a:xfrm>
            <a:off x="609600" y="6153150"/>
            <a:ext cx="10287000" cy="3333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dirty="0" err="1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권장</a:t>
            </a:r>
            <a:r>
              <a:rPr sz="1575" b="0" dirty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길이</a:t>
            </a:r>
            <a:r>
              <a:rPr sz="1575" b="0" dirty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 30–40초 / </a:t>
            </a:r>
            <a:r>
              <a:rPr sz="1575" b="0" dirty="0" err="1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손과</a:t>
            </a:r>
            <a:r>
              <a:rPr sz="1575" b="0" dirty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FND를</a:t>
            </a:r>
            <a:r>
              <a:rPr sz="1575" b="0" dirty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 한 </a:t>
            </a:r>
            <a:r>
              <a:rPr sz="1575" b="0" dirty="0" err="1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화면에</a:t>
            </a:r>
            <a:r>
              <a:rPr sz="1575" b="0" dirty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 / </a:t>
            </a:r>
            <a:r>
              <a:rPr sz="1575" b="0" dirty="0" err="1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실제</a:t>
            </a:r>
            <a:r>
              <a:rPr sz="1575" b="0" dirty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촬영본</a:t>
            </a:r>
            <a:r>
              <a:rPr sz="1575" b="0" dirty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추가</a:t>
            </a:r>
            <a:r>
              <a:rPr sz="1575" b="0" dirty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 후 </a:t>
            </a:r>
            <a:r>
              <a:rPr sz="1575" b="0" dirty="0" err="1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발표</a:t>
            </a:r>
            <a:endParaRPr sz="1575" b="0" dirty="0">
              <a:solidFill>
                <a:srgbClr val="626B69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6" name="FPGA_실습 영상 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38275" y="1259086"/>
            <a:ext cx="8629650" cy="485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387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E6938B3A-0DFF-4AD7-BBF3-1680C14F924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04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Setup / Hold: 에지 앞뒤의 안정 시간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8A3F6481-7F38-4C47-8C49-D1FADFBADB17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0"/>
          </a:xfrm>
          <a:prstGeom prst="line">
            <a:avLst/>
          </a:prstGeom>
          <a:noFill/>
          <a:ln w="9525">
            <a:solidFill>
              <a:srgbClr val="171B1B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5256439-7659-4AC2-882E-8F8665AC04C4}"/>
              </a:ext>
            </a:extLst>
          </p:cNvPr>
          <p:cNvSpPr>
            <a:spLocks noGrp="1"/>
          </p:cNvSpPr>
          <p:nvPr/>
        </p:nvSpPr>
        <p:spPr>
          <a:xfrm>
            <a:off x="11010900" y="6362700"/>
            <a:ext cx="571500" cy="2476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9685900-5ADB-4AC1-85B3-CCA755D605AD}"/>
              </a:ext>
            </a:extLst>
          </p:cNvPr>
          <p:cNvSpPr>
            <a:spLocks noGrp="1"/>
          </p:cNvSpPr>
          <p:nvPr/>
        </p:nvSpPr>
        <p:spPr>
          <a:xfrm>
            <a:off x="6629400" y="1874519"/>
            <a:ext cx="4800600" cy="1000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Setup 위반: 데이터가 늦음</a:t>
            </a:r>
          </a:p>
          <a:p>
            <a: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논리 단축, 파이프라인, 주기 증가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94676F0-5586-4845-B0F8-1C449612082A}"/>
              </a:ext>
            </a:extLst>
          </p:cNvPr>
          <p:cNvSpPr>
            <a:spLocks noGrp="1"/>
          </p:cNvSpPr>
          <p:nvPr/>
        </p:nvSpPr>
        <p:spPr>
          <a:xfrm>
            <a:off x="6629400" y="3401568"/>
            <a:ext cx="4800600" cy="1000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Hold 위반: 데이터가 너무 빠름</a:t>
            </a:r>
          </a:p>
          <a:p>
            <a:pPr algn="l">
              <a:def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최소 지연·skew 보정, 배치배선 수정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7F638CD-129D-4365-ABC4-BA7ED6E8997A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10287000" cy="3333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안정 시간 위반 시 캡처 값이나 출력 안정화 시간을 보장하기 어렵다.</a:t>
            </a:r>
          </a:p>
        </p:txBody>
      </p:sp>
      <p:pic>
        <p:nvPicPr>
          <p:cNvPr id="20" name="Picture 19" descr="image(20261022-073424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444752"/>
            <a:ext cx="5440680" cy="449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101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607040" cy="521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500" b="1">
                <a:solidFill>
                  <a:srgbClr val="1E1E1E"/>
                </a:solidFill>
                <a:latin typeface="맑은 고딕"/>
              </a:rPr>
              <a:t>Metastability: 플립플롭의 메타안정성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92608"/>
            <a:ext cx="594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5A5A5A"/>
                </a:solidFill>
                <a:latin typeface="맑은 고딕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505050"/>
                </a:solidFill>
                <a:latin typeface="맑은 고딕"/>
              </a:rPr>
              <a:t>클럭 에지 주변에서 입력이 변하면 출력이 일시적으로 0 또는 1로 결정되지 못할 수 있다.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92807"/>
            <a:ext cx="5989320" cy="2971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047488"/>
            <a:ext cx="56692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05050"/>
                </a:solidFill>
                <a:latin typeface="맑은 고딕"/>
              </a:rPr>
              <a:t>안정 상태(0, 1) 사이에 잠시 머무는 공으로 비유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1700784"/>
            <a:ext cx="44805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1E1E1E"/>
                </a:solidFill>
                <a:latin typeface="맑은 고딕"/>
              </a:rPr>
              <a:t>발생 원인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2130552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E1E1E"/>
                </a:solidFill>
                <a:latin typeface="맑은 고딕"/>
              </a:rPr>
              <a:t>Setup/Hold 시간 위반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E1E1E"/>
                </a:solidFill>
                <a:latin typeface="맑은 고딕"/>
              </a:rPr>
              <a:t>비동기 버튼·CDC 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3200400"/>
            <a:ext cx="44805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1E1E1E"/>
                </a:solidFill>
                <a:latin typeface="맑은 고딕"/>
              </a:rPr>
              <a:t>문제점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3611880"/>
            <a:ext cx="448056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E1E1E"/>
                </a:solidFill>
                <a:latin typeface="맑은 고딕"/>
              </a:rPr>
              <a:t>출력 Q가 늦게 안정됨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E1E1E"/>
                </a:solidFill>
                <a:latin typeface="맑은 고딕"/>
              </a:rPr>
              <a:t>후단 회로의 오동작 가능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4681728"/>
            <a:ext cx="44805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1E1E1E"/>
                </a:solidFill>
                <a:latin typeface="맑은 고딕"/>
              </a:rPr>
              <a:t>개선 방법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5093208"/>
            <a:ext cx="44805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맑은 고딕"/>
              </a:rPr>
              <a:t>2단 FF 동기화로 전파 위험 감소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맑은 고딕"/>
              </a:rPr>
              <a:t>버튼 채터링은 Debounce로 별도 제거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45352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맑은 고딕"/>
              </a:rPr>
              <a:t>※ 동기화는 메타안정성 발생 가능성을 없애는 것이 아니라, 다음 회로에 영향을 줄 확률을 낮춘다.</a:t>
            </a:r>
          </a:p>
        </p:txBody>
      </p:sp>
    </p:spTree>
    <p:extLst>
      <p:ext uri="{BB962C8B-B14F-4D97-AF65-F5344CB8AC3E}">
        <p14:creationId xmlns:p14="http://schemas.microsoft.com/office/powerpoint/2010/main" val="706308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id="{A1DF61D9-EFEA-400A-BB29-156E559A49C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04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r>
              <a:t>Glitch: 래치를 이용한 클록 게이팅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3349FE5B-DF4E-4526-B6AA-EB43BC08814B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0"/>
          </a:xfrm>
          <a:prstGeom prst="line">
            <a:avLst/>
          </a:prstGeom>
          <a:noFill/>
          <a:ln w="9525">
            <a:solidFill>
              <a:srgbClr val="171B1B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C3E5E2E-A09B-432C-9ADB-F5032C280FBA}"/>
              </a:ext>
            </a:extLst>
          </p:cNvPr>
          <p:cNvSpPr>
            <a:spLocks noGrp="1"/>
          </p:cNvSpPr>
          <p:nvPr/>
        </p:nvSpPr>
        <p:spPr>
          <a:xfrm>
            <a:off x="11010900" y="6362700"/>
            <a:ext cx="571500" cy="2476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pic>
        <p:nvPicPr>
          <p:cNvPr id="33" name="Picture 32" descr="image(20261022-080015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353312"/>
            <a:ext cx="4061384" cy="50749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126480" y="1463040"/>
            <a:ext cx="5349240" cy="5486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1B2226"/>
                </a:solidFill>
                <a:latin typeface="맑은 고딕"/>
              </a:rPr>
              <a:t>문제: Enable 신호의 글리치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2103120"/>
            <a:ext cx="5257800" cy="10058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1B2226"/>
                </a:solidFill>
                <a:latin typeface="맑은 고딕"/>
              </a:rPr>
              <a:t>Enable이 클럭의 HIGH 구간에서 바뀌면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226"/>
                </a:solidFill>
                <a:latin typeface="맑은 고딕"/>
              </a:rPr>
              <a:t>AND 게이트 출력에 짧은 펄스가 발생할 수 있음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3429000"/>
            <a:ext cx="5349240" cy="5486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1B2226"/>
                </a:solidFill>
                <a:latin typeface="맑은 고딕"/>
              </a:rPr>
              <a:t>해결: Latch 기반 Clock Gating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4069080"/>
            <a:ext cx="5303520" cy="13258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1B2226"/>
                </a:solidFill>
                <a:latin typeface="맑은 고딕"/>
              </a:rPr>
              <a:t>클럭 LOW 구간에 Enable 값을 래치하고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226"/>
                </a:solidFill>
                <a:latin typeface="맑은 고딕"/>
              </a:rPr>
              <a:t>HIGH 구간에는 값을 유지하여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226"/>
                </a:solidFill>
                <a:latin typeface="맑은 고딕"/>
              </a:rPr>
              <a:t>게이트 클럭의 짧은 펄스를 방지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5596128"/>
            <a:ext cx="5257800" cy="62179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53595E"/>
                </a:solidFill>
                <a:latin typeface="맑은 고딕"/>
              </a:rPr>
              <a:t>※ FPGA 내부에서는 임의 게이트 클럭보다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53595E"/>
                </a:solidFill>
                <a:latin typeface="맑은 고딕"/>
              </a:rPr>
              <a:t>전용 clock enable/clock buffer 사용 권장</a:t>
            </a:r>
          </a:p>
        </p:txBody>
      </p:sp>
    </p:spTree>
    <p:extLst>
      <p:ext uri="{BB962C8B-B14F-4D97-AF65-F5344CB8AC3E}">
        <p14:creationId xmlns:p14="http://schemas.microsoft.com/office/powerpoint/2010/main" val="174256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118954E6-AE65-4EA1-A51C-37911C6E12B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04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Fan-out: 한 신호가 구동하는 입력 수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5FD31521-BF77-429C-8241-C0CF0C8811FB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0"/>
          </a:xfrm>
          <a:prstGeom prst="line">
            <a:avLst/>
          </a:prstGeom>
          <a:noFill/>
          <a:ln w="9525">
            <a:solidFill>
              <a:srgbClr val="171B1B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19BB7A4-0D80-4FE1-9A76-448485D73B78}"/>
              </a:ext>
            </a:extLst>
          </p:cNvPr>
          <p:cNvSpPr>
            <a:spLocks noGrp="1"/>
          </p:cNvSpPr>
          <p:nvPr/>
        </p:nvSpPr>
        <p:spPr>
          <a:xfrm>
            <a:off x="11010900" y="6362700"/>
            <a:ext cx="571500" cy="2476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11F360A-01BC-4951-BCDE-521960525E94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2190750" cy="857250"/>
          </a:xfrm>
          <a:prstGeom prst="rect">
            <a:avLst/>
          </a:prstGeom>
          <a:solidFill>
            <a:srgbClr val="F6F5F0"/>
          </a:solidFill>
          <a:ln w="19050">
            <a:solidFill>
              <a:srgbClr val="171B1B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6EEE81-8F6B-4D71-964A-252953EFF009}"/>
              </a:ext>
            </a:extLst>
          </p:cNvPr>
          <p:cNvSpPr>
            <a:spLocks noGrp="1"/>
          </p:cNvSpPr>
          <p:nvPr/>
        </p:nvSpPr>
        <p:spPr>
          <a:xfrm>
            <a:off x="800100" y="3028950"/>
            <a:ext cx="1962150" cy="704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구동 신호</a:t>
            </a: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5E5C1C7A-EF21-4631-996F-B6A0D858EFFD}"/>
              </a:ext>
            </a:extLst>
          </p:cNvPr>
          <p:cNvSpPr>
            <a:spLocks noGrp="1"/>
          </p:cNvSpPr>
          <p:nvPr/>
        </p:nvSpPr>
        <p:spPr>
          <a:xfrm>
            <a:off x="2876550" y="3381375"/>
            <a:ext cx="1428750" cy="0"/>
          </a:xfrm>
          <a:prstGeom prst="line">
            <a:avLst/>
          </a:prstGeom>
          <a:noFill/>
          <a:ln w="19050">
            <a:solidFill>
              <a:srgbClr val="087E82"/>
            </a:solidFill>
            <a:prstDash val="solid"/>
          </a:ln>
        </p:spPr>
      </p:sp>
      <p:sp>
        <p:nvSpPr>
          <p:cNvPr id="7" name="직선 연결선 6">
            <a:extLst>
              <a:ext uri="{FF2B5EF4-FFF2-40B4-BE49-F238E27FC236}">
                <a16:creationId xmlns:a16="http://schemas.microsoft.com/office/drawing/2014/main" id="{42D4B4BB-1711-4FB2-8148-80226953EDEB}"/>
              </a:ext>
            </a:extLst>
          </p:cNvPr>
          <p:cNvSpPr>
            <a:spLocks noGrp="1"/>
          </p:cNvSpPr>
          <p:nvPr/>
        </p:nvSpPr>
        <p:spPr>
          <a:xfrm>
            <a:off x="4305300" y="1952625"/>
            <a:ext cx="0" cy="2857500"/>
          </a:xfrm>
          <a:prstGeom prst="line">
            <a:avLst/>
          </a:prstGeom>
          <a:noFill/>
          <a:ln w="19050">
            <a:solidFill>
              <a:srgbClr val="087E82"/>
            </a:solidFill>
            <a:prstDash val="solid"/>
          </a:ln>
        </p:spPr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EE0A6538-A00A-44CF-AC8A-AB4105478824}"/>
              </a:ext>
            </a:extLst>
          </p:cNvPr>
          <p:cNvSpPr>
            <a:spLocks noGrp="1"/>
          </p:cNvSpPr>
          <p:nvPr/>
        </p:nvSpPr>
        <p:spPr>
          <a:xfrm>
            <a:off x="4305300" y="1952625"/>
            <a:ext cx="790575" cy="0"/>
          </a:xfrm>
          <a:prstGeom prst="line">
            <a:avLst/>
          </a:prstGeom>
          <a:noFill/>
          <a:ln w="19050">
            <a:solidFill>
              <a:srgbClr val="087E82"/>
            </a:solidFill>
            <a:prstDash val="solid"/>
          </a:ln>
        </p:spPr>
      </p:sp>
      <p:sp>
        <p:nvSpPr>
          <p:cNvPr id="9" name="오른쪽 화살표 8">
            <a:extLst>
              <a:ext uri="{FF2B5EF4-FFF2-40B4-BE49-F238E27FC236}">
                <a16:creationId xmlns:a16="http://schemas.microsoft.com/office/drawing/2014/main" id="{2D6B4A3B-EE3F-4680-BB46-C86367C86EA8}"/>
              </a:ext>
            </a:extLst>
          </p:cNvPr>
          <p:cNvSpPr>
            <a:spLocks noGrp="1"/>
          </p:cNvSpPr>
          <p:nvPr/>
        </p:nvSpPr>
        <p:spPr>
          <a:xfrm>
            <a:off x="5029200" y="1885950"/>
            <a:ext cx="133350" cy="133350"/>
          </a:xfrm>
          <a:prstGeom prst="rightArrow">
            <a:avLst/>
          </a:prstGeom>
          <a:solidFill>
            <a:srgbClr val="087E82"/>
          </a:solidFill>
          <a:ln w="9525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982EE36-40D2-4241-B4E1-A1AFA0172EB5}"/>
              </a:ext>
            </a:extLst>
          </p:cNvPr>
          <p:cNvSpPr>
            <a:spLocks noGrp="1"/>
          </p:cNvSpPr>
          <p:nvPr/>
        </p:nvSpPr>
        <p:spPr>
          <a:xfrm>
            <a:off x="5238750" y="1666875"/>
            <a:ext cx="1714500" cy="571500"/>
          </a:xfrm>
          <a:prstGeom prst="rect">
            <a:avLst/>
          </a:prstGeom>
          <a:solidFill>
            <a:srgbClr val="F6F5F0"/>
          </a:solidFill>
          <a:ln w="19050">
            <a:solidFill>
              <a:srgbClr val="171B1B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3D454A9-2BDE-47EF-8C9E-F63458D491D2}"/>
              </a:ext>
            </a:extLst>
          </p:cNvPr>
          <p:cNvSpPr>
            <a:spLocks noGrp="1"/>
          </p:cNvSpPr>
          <p:nvPr/>
        </p:nvSpPr>
        <p:spPr>
          <a:xfrm>
            <a:off x="5353050" y="1743075"/>
            <a:ext cx="1485900" cy="4191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입력 1</a:t>
            </a: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1A251422-CD7F-4B59-83C7-D524230E7ABB}"/>
              </a:ext>
            </a:extLst>
          </p:cNvPr>
          <p:cNvSpPr>
            <a:spLocks noGrp="1"/>
          </p:cNvSpPr>
          <p:nvPr/>
        </p:nvSpPr>
        <p:spPr>
          <a:xfrm>
            <a:off x="4305300" y="2905125"/>
            <a:ext cx="790575" cy="0"/>
          </a:xfrm>
          <a:prstGeom prst="line">
            <a:avLst/>
          </a:prstGeom>
          <a:noFill/>
          <a:ln w="19050">
            <a:solidFill>
              <a:srgbClr val="087E82"/>
            </a:solidFill>
            <a:prstDash val="solid"/>
          </a:ln>
        </p:spPr>
      </p:sp>
      <p:sp>
        <p:nvSpPr>
          <p:cNvPr id="13" name="오른쪽 화살표 12">
            <a:extLst>
              <a:ext uri="{FF2B5EF4-FFF2-40B4-BE49-F238E27FC236}">
                <a16:creationId xmlns:a16="http://schemas.microsoft.com/office/drawing/2014/main" id="{8C7D2D0F-CEE3-44FC-8EEE-BF3C7AD30F1C}"/>
              </a:ext>
            </a:extLst>
          </p:cNvPr>
          <p:cNvSpPr>
            <a:spLocks noGrp="1"/>
          </p:cNvSpPr>
          <p:nvPr/>
        </p:nvSpPr>
        <p:spPr>
          <a:xfrm>
            <a:off x="5029200" y="2838450"/>
            <a:ext cx="133350" cy="133350"/>
          </a:xfrm>
          <a:prstGeom prst="rightArrow">
            <a:avLst/>
          </a:prstGeom>
          <a:solidFill>
            <a:srgbClr val="087E82"/>
          </a:solidFill>
          <a:ln w="9525">
            <a:noFill/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B4E3BDE-E142-47FD-9DEB-F7DE491A3D60}"/>
              </a:ext>
            </a:extLst>
          </p:cNvPr>
          <p:cNvSpPr>
            <a:spLocks noGrp="1"/>
          </p:cNvSpPr>
          <p:nvPr/>
        </p:nvSpPr>
        <p:spPr>
          <a:xfrm>
            <a:off x="5238750" y="2619375"/>
            <a:ext cx="1714500" cy="571500"/>
          </a:xfrm>
          <a:prstGeom prst="rect">
            <a:avLst/>
          </a:prstGeom>
          <a:solidFill>
            <a:srgbClr val="F6F5F0"/>
          </a:solidFill>
          <a:ln w="19050">
            <a:solidFill>
              <a:srgbClr val="171B1B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8E2CB42-6DD4-4122-A3B5-D6A418F18024}"/>
              </a:ext>
            </a:extLst>
          </p:cNvPr>
          <p:cNvSpPr>
            <a:spLocks noGrp="1"/>
          </p:cNvSpPr>
          <p:nvPr/>
        </p:nvSpPr>
        <p:spPr>
          <a:xfrm>
            <a:off x="5353050" y="2695575"/>
            <a:ext cx="1485900" cy="4191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입력 2</a:t>
            </a:r>
          </a:p>
        </p:txBody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B067435C-944C-4056-AA4D-EDC22F02A9DA}"/>
              </a:ext>
            </a:extLst>
          </p:cNvPr>
          <p:cNvSpPr>
            <a:spLocks noGrp="1"/>
          </p:cNvSpPr>
          <p:nvPr/>
        </p:nvSpPr>
        <p:spPr>
          <a:xfrm>
            <a:off x="4305300" y="3857625"/>
            <a:ext cx="790575" cy="0"/>
          </a:xfrm>
          <a:prstGeom prst="line">
            <a:avLst/>
          </a:prstGeom>
          <a:noFill/>
          <a:ln w="19050">
            <a:solidFill>
              <a:srgbClr val="087E82"/>
            </a:solidFill>
            <a:prstDash val="solid"/>
          </a:ln>
        </p:spPr>
      </p:sp>
      <p:sp>
        <p:nvSpPr>
          <p:cNvPr id="17" name="오른쪽 화살표 16">
            <a:extLst>
              <a:ext uri="{FF2B5EF4-FFF2-40B4-BE49-F238E27FC236}">
                <a16:creationId xmlns:a16="http://schemas.microsoft.com/office/drawing/2014/main" id="{CC752157-76EC-4E25-BFB6-EA5891C0BBBA}"/>
              </a:ext>
            </a:extLst>
          </p:cNvPr>
          <p:cNvSpPr>
            <a:spLocks noGrp="1"/>
          </p:cNvSpPr>
          <p:nvPr/>
        </p:nvSpPr>
        <p:spPr>
          <a:xfrm>
            <a:off x="5029200" y="3790950"/>
            <a:ext cx="133350" cy="133350"/>
          </a:xfrm>
          <a:prstGeom prst="rightArrow">
            <a:avLst/>
          </a:prstGeom>
          <a:solidFill>
            <a:srgbClr val="087E82"/>
          </a:solidFill>
          <a:ln w="9525">
            <a:noFill/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763AE91-CF5D-4C06-AC33-A6E3D0581560}"/>
              </a:ext>
            </a:extLst>
          </p:cNvPr>
          <p:cNvSpPr>
            <a:spLocks noGrp="1"/>
          </p:cNvSpPr>
          <p:nvPr/>
        </p:nvSpPr>
        <p:spPr>
          <a:xfrm>
            <a:off x="5238750" y="3571875"/>
            <a:ext cx="1714500" cy="571500"/>
          </a:xfrm>
          <a:prstGeom prst="rect">
            <a:avLst/>
          </a:prstGeom>
          <a:solidFill>
            <a:srgbClr val="F6F5F0"/>
          </a:solidFill>
          <a:ln w="19050">
            <a:solidFill>
              <a:srgbClr val="171B1B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CFFC733-F268-4CE7-9DA3-F4C80DBAC788}"/>
              </a:ext>
            </a:extLst>
          </p:cNvPr>
          <p:cNvSpPr>
            <a:spLocks noGrp="1"/>
          </p:cNvSpPr>
          <p:nvPr/>
        </p:nvSpPr>
        <p:spPr>
          <a:xfrm>
            <a:off x="5353050" y="3648075"/>
            <a:ext cx="1485900" cy="4191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입력 3</a:t>
            </a:r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C1ED90A3-DFC3-45C1-B4EE-98017671E095}"/>
              </a:ext>
            </a:extLst>
          </p:cNvPr>
          <p:cNvSpPr>
            <a:spLocks noGrp="1"/>
          </p:cNvSpPr>
          <p:nvPr/>
        </p:nvSpPr>
        <p:spPr>
          <a:xfrm>
            <a:off x="4305300" y="4810125"/>
            <a:ext cx="790575" cy="0"/>
          </a:xfrm>
          <a:prstGeom prst="line">
            <a:avLst/>
          </a:prstGeom>
          <a:noFill/>
          <a:ln w="19050">
            <a:solidFill>
              <a:srgbClr val="087E82"/>
            </a:solidFill>
            <a:prstDash val="solid"/>
          </a:ln>
        </p:spPr>
      </p:sp>
      <p:sp>
        <p:nvSpPr>
          <p:cNvPr id="21" name="오른쪽 화살표 20">
            <a:extLst>
              <a:ext uri="{FF2B5EF4-FFF2-40B4-BE49-F238E27FC236}">
                <a16:creationId xmlns:a16="http://schemas.microsoft.com/office/drawing/2014/main" id="{446DB9C0-D834-4920-9B02-DEA894776FB1}"/>
              </a:ext>
            </a:extLst>
          </p:cNvPr>
          <p:cNvSpPr>
            <a:spLocks noGrp="1"/>
          </p:cNvSpPr>
          <p:nvPr/>
        </p:nvSpPr>
        <p:spPr>
          <a:xfrm>
            <a:off x="5029200" y="4743450"/>
            <a:ext cx="133350" cy="133350"/>
          </a:xfrm>
          <a:prstGeom prst="rightArrow">
            <a:avLst/>
          </a:prstGeom>
          <a:solidFill>
            <a:srgbClr val="087E82"/>
          </a:solidFill>
          <a:ln w="9525">
            <a:noFill/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4AA6DFC-F5ED-4EB4-8BC6-056E28A52693}"/>
              </a:ext>
            </a:extLst>
          </p:cNvPr>
          <p:cNvSpPr>
            <a:spLocks noGrp="1"/>
          </p:cNvSpPr>
          <p:nvPr/>
        </p:nvSpPr>
        <p:spPr>
          <a:xfrm>
            <a:off x="5238750" y="4524375"/>
            <a:ext cx="1714500" cy="571500"/>
          </a:xfrm>
          <a:prstGeom prst="rect">
            <a:avLst/>
          </a:prstGeom>
          <a:solidFill>
            <a:srgbClr val="F6F5F0"/>
          </a:solidFill>
          <a:ln w="19050">
            <a:solidFill>
              <a:srgbClr val="171B1B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7064A7A-3735-4ADF-A1DC-614C557500A3}"/>
              </a:ext>
            </a:extLst>
          </p:cNvPr>
          <p:cNvSpPr>
            <a:spLocks noGrp="1"/>
          </p:cNvSpPr>
          <p:nvPr/>
        </p:nvSpPr>
        <p:spPr>
          <a:xfrm>
            <a:off x="5353050" y="4600575"/>
            <a:ext cx="1485900" cy="4191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입력 4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497612C-3CDE-49E8-84A0-2CCC94189939}"/>
              </a:ext>
            </a:extLst>
          </p:cNvPr>
          <p:cNvSpPr>
            <a:spLocks noGrp="1"/>
          </p:cNvSpPr>
          <p:nvPr/>
        </p:nvSpPr>
        <p:spPr>
          <a:xfrm>
            <a:off x="7905750" y="1952625"/>
            <a:ext cx="3524250" cy="4000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rPr>
              <a:t>부하와 배선 증가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4617293-D85E-4B5D-AAA2-98876CAEB42E}"/>
              </a:ext>
            </a:extLst>
          </p:cNvPr>
          <p:cNvSpPr>
            <a:spLocks noGrp="1"/>
          </p:cNvSpPr>
          <p:nvPr/>
        </p:nvSpPr>
        <p:spPr>
          <a:xfrm>
            <a:off x="7905750" y="2466975"/>
            <a:ext cx="3619500" cy="95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전파 지연 증가 가능</a:t>
            </a:r>
          </a:p>
          <a:p>
            <a: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타이밍 여유 감소 가능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78C7625-6BDF-45EA-BA81-803806CDF323}"/>
              </a:ext>
            </a:extLst>
          </p:cNvPr>
          <p:cNvSpPr>
            <a:spLocks noGrp="1"/>
          </p:cNvSpPr>
          <p:nvPr/>
        </p:nvSpPr>
        <p:spPr>
          <a:xfrm>
            <a:off x="7905750" y="3857625"/>
            <a:ext cx="3524250" cy="4000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E82"/>
                </a:solidFill>
                <a:latin typeface="Malgun Gothic"/>
                <a:ea typeface="Malgun Gothic"/>
                <a:cs typeface="Malgun Gothic"/>
              </a:rPr>
              <a:t>구현 결과로 판단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C77FB38-BF2A-46FD-B159-9EE762F02E72}"/>
              </a:ext>
            </a:extLst>
          </p:cNvPr>
          <p:cNvSpPr>
            <a:spLocks noGrp="1"/>
          </p:cNvSpPr>
          <p:nvPr/>
        </p:nvSpPr>
        <p:spPr>
          <a:xfrm>
            <a:off x="7905750" y="4371975"/>
            <a:ext cx="3619500" cy="1000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클록은 전용망 사용</a:t>
            </a:r>
          </a:p>
          <a:p>
            <a:pPr algn="l">
              <a:def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1B1B"/>
                </a:solidFill>
                <a:latin typeface="Malgun Gothic"/>
                <a:ea typeface="Malgun Gothic"/>
                <a:cs typeface="Malgun Gothic"/>
              </a:rPr>
              <a:t>필요 시 복제·배치 최적화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867E19F-A08E-40E7-91EA-CC400CE82E20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10287000" cy="3333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l">
              <a:def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현재 프로젝트에서 fan-out 병목이 발생했다는 측정 근거는 없다.</a:t>
            </a:r>
          </a:p>
        </p:txBody>
      </p:sp>
    </p:spTree>
    <p:extLst>
      <p:ext uri="{BB962C8B-B14F-4D97-AF65-F5344CB8AC3E}">
        <p14:creationId xmlns:p14="http://schemas.microsoft.com/office/powerpoint/2010/main" val="1701633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648" y="457200"/>
            <a:ext cx="10515600" cy="621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E252B"/>
                </a:solidFill>
                <a:latin typeface="맑은 고딕"/>
              </a:rPr>
              <a:t>구현 후기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16152"/>
            <a:ext cx="10972800" cy="12801"/>
          </a:xfrm>
          <a:prstGeom prst="rect">
            <a:avLst/>
          </a:prstGeom>
          <a:solidFill>
            <a:srgbClr val="8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856231"/>
            <a:ext cx="1042416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7F85"/>
                </a:solidFill>
                <a:latin typeface="맑은 고딕"/>
              </a:rPr>
              <a:t>코드에서 배운 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" y="2514600"/>
            <a:ext cx="10735056" cy="932688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0160">
            <a:solidFill>
              <a:srgbClr val="D3D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2688336"/>
            <a:ext cx="9966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252B"/>
                </a:solidFill>
                <a:latin typeface="맑은 고딕"/>
              </a:rPr>
              <a:t>01  모드와 실행 플래그를 분리하여 버튼 동작을 명확히 관리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" y="3685032"/>
            <a:ext cx="10735056" cy="932688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0160">
            <a:solidFill>
              <a:srgbClr val="D3D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3858768"/>
            <a:ext cx="9966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252B"/>
                </a:solidFill>
                <a:latin typeface="맑은 고딕"/>
              </a:rPr>
              <a:t>02  100MHz 클럭을 1초 Tick으로 변환하여 시간 카운터 제어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15391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56A"/>
                </a:solidFill>
                <a:latin typeface="맑은 고딕"/>
              </a:rPr>
              <a:t>Basys3 · 분·초 시계와 스톱워치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355080"/>
            <a:ext cx="39319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56A"/>
                </a:solidFill>
                <a:latin typeface="맑은 고딕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66880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D354841E-CF7D-4C50-ACD1-85A1CCADEC3F}"/>
              </a:ext>
            </a:extLst>
          </p:cNvPr>
          <p:cNvSpPr>
            <a:spLocks noGrp="1"/>
          </p:cNvSpPr>
          <p:nvPr/>
        </p:nvSpPr>
        <p:spPr>
          <a:xfrm>
            <a:off x="11010900" y="6362700"/>
            <a:ext cx="571500" cy="2476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r">
              <a:def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B69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423160"/>
            <a:ext cx="8357616" cy="1280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0" b="1">
                <a:solidFill>
                  <a:srgbClr val="171B1B"/>
                </a:solidFill>
                <a:latin typeface="Malgun Gothic"/>
              </a:rPr>
              <a:t>Q</a:t>
            </a:r>
            <a:r>
              <a:rPr sz="7600" b="1">
                <a:solidFill>
                  <a:srgbClr val="087E82"/>
                </a:solidFill>
                <a:latin typeface="Malgun Gothic"/>
              </a:rPr>
              <a:t>&amp;</a:t>
            </a:r>
            <a:r>
              <a:rPr sz="7600" b="1">
                <a:solidFill>
                  <a:srgbClr val="171B1B"/>
                </a:solidFill>
                <a:latin typeface="Malgun Gothic"/>
              </a:rPr>
              <a:t>A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3877056"/>
            <a:ext cx="2505456" cy="32004"/>
          </a:xfrm>
          <a:prstGeom prst="rect">
            <a:avLst/>
          </a:prstGeom>
          <a:solidFill>
            <a:srgbClr val="087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8978171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1955</Words>
  <Application>Microsoft Office PowerPoint</Application>
  <DocSecurity>0</DocSecurity>
  <PresentationFormat>와이드스크린</PresentationFormat>
  <Paragraphs>260</Paragraphs>
  <Slides>20</Slides>
  <Notes>20</Notes>
  <HiddenSlides>0</HiddenSlides>
  <MMClips>1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Aptos</vt:lpstr>
      <vt:lpstr>Malgun Gothic</vt:lpstr>
      <vt:lpstr>Malgun Gothic</vt:lpstr>
      <vt:lpstr>Consolas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kccistc</cp:lastModifiedBy>
  <cp:revision>13</cp:revision>
  <dcterms:created xsi:type="dcterms:W3CDTF">2026-10-22T07:16:29Z</dcterms:created>
  <dcterms:modified xsi:type="dcterms:W3CDTF">2026-10-23T01:10:48Z</dcterms:modified>
</cp:coreProperties>
</file>